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AD"/>
    <a:srgbClr val="50D22C"/>
    <a:srgbClr val="FF00FF"/>
    <a:srgbClr val="A3A3E0"/>
    <a:srgbClr val="FFC000"/>
    <a:srgbClr val="19194D"/>
    <a:srgbClr val="800000"/>
    <a:srgbClr val="4CA7AE"/>
    <a:srgbClr val="0033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2094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E7CEE-392E-42C5-8DE8-20B2C67F4DF7}" type="doc">
      <dgm:prSet loTypeId="urn:microsoft.com/office/officeart/2005/8/layout/cycle1" loCatId="cycle" qsTypeId="urn:microsoft.com/office/officeart/2005/8/quickstyle/3d6" qsCatId="3D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9691FD6-FEDA-44D1-8E60-5DDB809E4EB0}">
      <dgm:prSet phldrT="[Texto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smtClean="0"/>
            <a:t>Encoded Chemical Libraries</a:t>
          </a:r>
          <a:endParaRPr lang="en-GB" dirty="0"/>
        </a:p>
      </dgm:t>
    </dgm:pt>
    <dgm:pt modelId="{E1AADBE5-F40F-41A0-A975-34F093B2402E}" type="parTrans" cxnId="{FC225627-6154-4788-9B05-A078CBBF9FC8}">
      <dgm:prSet/>
      <dgm:spPr/>
      <dgm:t>
        <a:bodyPr/>
        <a:lstStyle/>
        <a:p>
          <a:endParaRPr lang="en-GB"/>
        </a:p>
      </dgm:t>
    </dgm:pt>
    <dgm:pt modelId="{F92A7C22-CDFD-4341-8E0A-FD81646A240F}" type="sibTrans" cxnId="{FC225627-6154-4788-9B05-A078CBBF9FC8}">
      <dgm:prSet/>
      <dgm:spPr/>
      <dgm:t>
        <a:bodyPr/>
        <a:lstStyle/>
        <a:p>
          <a:endParaRPr lang="en-GB"/>
        </a:p>
      </dgm:t>
    </dgm:pt>
    <dgm:pt modelId="{A50D2B7D-DF47-471C-A7D2-E3B9A56791C8}">
      <dgm:prSet phldrT="[Texto]"/>
      <dgm:spPr/>
      <dgm:t>
        <a:bodyPr/>
        <a:lstStyle/>
        <a:p>
          <a:r>
            <a:rPr lang="en-GB" dirty="0" smtClean="0"/>
            <a:t>Hits Identified</a:t>
          </a:r>
          <a:endParaRPr lang="en-GB" dirty="0"/>
        </a:p>
      </dgm:t>
    </dgm:pt>
    <dgm:pt modelId="{C676523D-76D5-43B3-B74A-660151C47B31}" type="parTrans" cxnId="{D06A4A74-2AE4-4882-AB48-98B73013A668}">
      <dgm:prSet/>
      <dgm:spPr/>
      <dgm:t>
        <a:bodyPr/>
        <a:lstStyle/>
        <a:p>
          <a:endParaRPr lang="en-GB"/>
        </a:p>
      </dgm:t>
    </dgm:pt>
    <dgm:pt modelId="{BDBB16C6-3A4A-421F-B914-A79BFCF1DEA6}" type="sibTrans" cxnId="{D06A4A74-2AE4-4882-AB48-98B73013A668}">
      <dgm:prSet/>
      <dgm:spPr>
        <a:solidFill>
          <a:srgbClr val="660066"/>
        </a:solidFill>
      </dgm:spPr>
      <dgm:t>
        <a:bodyPr/>
        <a:lstStyle/>
        <a:p>
          <a:endParaRPr lang="en-GB"/>
        </a:p>
      </dgm:t>
    </dgm:pt>
    <dgm:pt modelId="{6F033F62-47F2-42C3-99AC-336F498EC3A9}">
      <dgm:prSet phldrT="[Texto]"/>
      <dgm:spPr/>
      <dgm:t>
        <a:bodyPr/>
        <a:lstStyle/>
        <a:p>
          <a:r>
            <a:rPr lang="en-GB" dirty="0" smtClean="0"/>
            <a:t>Lead Compounds</a:t>
          </a:r>
          <a:endParaRPr lang="en-GB" dirty="0"/>
        </a:p>
      </dgm:t>
    </dgm:pt>
    <dgm:pt modelId="{42A870AC-5297-4890-ACC5-BD7835F4F2BA}" type="sibTrans" cxnId="{1BA67174-7ECA-44C8-8444-B2FA71A5BFF6}">
      <dgm:prSet/>
      <dgm:spPr/>
      <dgm:t>
        <a:bodyPr/>
        <a:lstStyle/>
        <a:p>
          <a:endParaRPr lang="en-GB"/>
        </a:p>
      </dgm:t>
    </dgm:pt>
    <dgm:pt modelId="{CCE50EAE-982F-48D8-BAC7-B39E4A8AF812}" type="parTrans" cxnId="{1BA67174-7ECA-44C8-8444-B2FA71A5BFF6}">
      <dgm:prSet/>
      <dgm:spPr/>
      <dgm:t>
        <a:bodyPr/>
        <a:lstStyle/>
        <a:p>
          <a:endParaRPr lang="en-GB"/>
        </a:p>
      </dgm:t>
    </dgm:pt>
    <dgm:pt modelId="{FB4DFE17-0621-4578-96CA-95DF7107A4B0}">
      <dgm:prSet phldrT="[Texto]"/>
      <dgm:spPr/>
      <dgm:t>
        <a:bodyPr/>
        <a:lstStyle/>
        <a:p>
          <a:r>
            <a:rPr lang="en-GB" dirty="0" smtClean="0"/>
            <a:t>Candidates for in-vivo assays</a:t>
          </a:r>
          <a:endParaRPr lang="en-GB" dirty="0"/>
        </a:p>
      </dgm:t>
    </dgm:pt>
    <dgm:pt modelId="{806C790F-BB07-4EEC-97F2-F20B48604BB7}" type="sibTrans" cxnId="{5893F74B-704C-44E2-9474-43AAC4D008AB}">
      <dgm:prSet/>
      <dgm:spPr>
        <a:solidFill>
          <a:srgbClr val="C00000"/>
        </a:solidFill>
      </dgm:spPr>
      <dgm:t>
        <a:bodyPr/>
        <a:lstStyle/>
        <a:p>
          <a:endParaRPr lang="en-GB"/>
        </a:p>
      </dgm:t>
    </dgm:pt>
    <dgm:pt modelId="{3F29016D-5FA1-4DC8-9BA1-91665F04927A}" type="parTrans" cxnId="{5893F74B-704C-44E2-9474-43AAC4D008AB}">
      <dgm:prSet/>
      <dgm:spPr/>
      <dgm:t>
        <a:bodyPr/>
        <a:lstStyle/>
        <a:p>
          <a:endParaRPr lang="en-GB"/>
        </a:p>
      </dgm:t>
    </dgm:pt>
    <dgm:pt modelId="{862D5266-FCED-423B-A0AD-B11056460661}" type="pres">
      <dgm:prSet presAssocID="{A82E7CEE-392E-42C5-8DE8-20B2C67F4DF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3BC3FD86-DAE3-4EE6-95A7-E70CAE8CEFFC}" type="pres">
      <dgm:prSet presAssocID="{39691FD6-FEDA-44D1-8E60-5DDB809E4EB0}" presName="dummy" presStyleCnt="0"/>
      <dgm:spPr/>
    </dgm:pt>
    <dgm:pt modelId="{2924AA58-1045-4A26-AF7A-3C2EC2A5023D}" type="pres">
      <dgm:prSet presAssocID="{39691FD6-FEDA-44D1-8E60-5DDB809E4EB0}" presName="node" presStyleLbl="revTx" presStyleIdx="0" presStyleCnt="4" custRadScaleRad="138557" custRadScaleInc="3912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F05F2B2-0F0C-40F2-8067-19B90779BDD2}" type="pres">
      <dgm:prSet presAssocID="{F92A7C22-CDFD-4341-8E0A-FD81646A240F}" presName="sibTrans" presStyleLbl="node1" presStyleIdx="0" presStyleCnt="4" custLinFactNeighborX="-3327" custLinFactNeighborY="7121" custRadScaleRad="200017" custRadScaleInc="-2147483648"/>
      <dgm:spPr/>
      <dgm:t>
        <a:bodyPr/>
        <a:lstStyle/>
        <a:p>
          <a:endParaRPr lang="en-GB"/>
        </a:p>
      </dgm:t>
    </dgm:pt>
    <dgm:pt modelId="{B1265E89-82A0-43E5-9D70-76EAAF2205E2}" type="pres">
      <dgm:prSet presAssocID="{A50D2B7D-DF47-471C-A7D2-E3B9A56791C8}" presName="dummy" presStyleCnt="0"/>
      <dgm:spPr/>
    </dgm:pt>
    <dgm:pt modelId="{BD068706-A41E-47A5-AED7-A12B46C8F33A}" type="pres">
      <dgm:prSet presAssocID="{A50D2B7D-DF47-471C-A7D2-E3B9A56791C8}" presName="node" presStyleLbl="revTx" presStyleIdx="1" presStyleCnt="4" custRadScaleRad="106166" custRadScaleInc="-420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BA9D083-8F7A-4123-9DB2-680B97F92665}" type="pres">
      <dgm:prSet presAssocID="{BDBB16C6-3A4A-421F-B914-A79BFCF1DEA6}" presName="sibTrans" presStyleLbl="node1" presStyleIdx="1" presStyleCnt="4"/>
      <dgm:spPr/>
      <dgm:t>
        <a:bodyPr/>
        <a:lstStyle/>
        <a:p>
          <a:endParaRPr lang="en-GB"/>
        </a:p>
      </dgm:t>
    </dgm:pt>
    <dgm:pt modelId="{1309FB69-B5AA-4288-B389-95519DB4D6B9}" type="pres">
      <dgm:prSet presAssocID="{6F033F62-47F2-42C3-99AC-336F498EC3A9}" presName="dummy" presStyleCnt="0"/>
      <dgm:spPr/>
    </dgm:pt>
    <dgm:pt modelId="{EED3A88E-7615-4822-96D5-ED999114643F}" type="pres">
      <dgm:prSet presAssocID="{6F033F62-47F2-42C3-99AC-336F498EC3A9}" presName="node" presStyleLbl="revTx" presStyleIdx="2" presStyleCnt="4" custRadScaleRad="99606" custRadScaleInc="-822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2AE1414-7B63-4E06-9FAD-076FB3A51FAA}" type="pres">
      <dgm:prSet presAssocID="{42A870AC-5297-4890-ACC5-BD7835F4F2BA}" presName="sibTrans" presStyleLbl="node1" presStyleIdx="2" presStyleCnt="4" custScaleX="110000" custScaleY="110000" custLinFactNeighborX="-3963" custLinFactNeighborY="-3807"/>
      <dgm:spPr/>
      <dgm:t>
        <a:bodyPr/>
        <a:lstStyle/>
        <a:p>
          <a:endParaRPr lang="en-GB"/>
        </a:p>
      </dgm:t>
    </dgm:pt>
    <dgm:pt modelId="{673E85AD-5518-43E6-8455-593060D40BC7}" type="pres">
      <dgm:prSet presAssocID="{FB4DFE17-0621-4578-96CA-95DF7107A4B0}" presName="dummy" presStyleCnt="0"/>
      <dgm:spPr/>
    </dgm:pt>
    <dgm:pt modelId="{6EB9C63E-D4A7-46B6-B36E-BA6B4AB998D5}" type="pres">
      <dgm:prSet presAssocID="{FB4DFE17-0621-4578-96CA-95DF7107A4B0}" presName="node" presStyleLbl="revTx" presStyleIdx="3" presStyleCnt="4" custRadScaleRad="87650" custRadScaleInc="-2134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9C28739-6342-48DD-9A73-10DCE3D80EA8}" type="pres">
      <dgm:prSet presAssocID="{806C790F-BB07-4EEC-97F2-F20B48604BB7}" presName="sibTrans" presStyleLbl="node1" presStyleIdx="3" presStyleCnt="4" custAng="15711473" custScaleX="19785" custScaleY="10914" custLinFactNeighborX="-50415" custLinFactNeighborY="-46670"/>
      <dgm:spPr>
        <a:prstGeom prst="rightArrow">
          <a:avLst/>
        </a:prstGeom>
      </dgm:spPr>
      <dgm:t>
        <a:bodyPr/>
        <a:lstStyle/>
        <a:p>
          <a:endParaRPr lang="en-GB"/>
        </a:p>
      </dgm:t>
    </dgm:pt>
  </dgm:ptLst>
  <dgm:cxnLst>
    <dgm:cxn modelId="{7ADCC338-54F0-429F-B6AC-7E5BAED1A73A}" type="presOf" srcId="{A82E7CEE-392E-42C5-8DE8-20B2C67F4DF7}" destId="{862D5266-FCED-423B-A0AD-B11056460661}" srcOrd="0" destOrd="0" presId="urn:microsoft.com/office/officeart/2005/8/layout/cycle1"/>
    <dgm:cxn modelId="{5BB1444E-4B2F-44EB-985E-85625C254343}" type="presOf" srcId="{FB4DFE17-0621-4578-96CA-95DF7107A4B0}" destId="{6EB9C63E-D4A7-46B6-B36E-BA6B4AB998D5}" srcOrd="0" destOrd="0" presId="urn:microsoft.com/office/officeart/2005/8/layout/cycle1"/>
    <dgm:cxn modelId="{FC225627-6154-4788-9B05-A078CBBF9FC8}" srcId="{A82E7CEE-392E-42C5-8DE8-20B2C67F4DF7}" destId="{39691FD6-FEDA-44D1-8E60-5DDB809E4EB0}" srcOrd="0" destOrd="0" parTransId="{E1AADBE5-F40F-41A0-A975-34F093B2402E}" sibTransId="{F92A7C22-CDFD-4341-8E0A-FD81646A240F}"/>
    <dgm:cxn modelId="{1BDA845D-1842-4065-9A33-B69BAD6C2F3A}" type="presOf" srcId="{BDBB16C6-3A4A-421F-B914-A79BFCF1DEA6}" destId="{4BA9D083-8F7A-4123-9DB2-680B97F92665}" srcOrd="0" destOrd="0" presId="urn:microsoft.com/office/officeart/2005/8/layout/cycle1"/>
    <dgm:cxn modelId="{32DFF309-C446-4C8A-8676-54D09664295A}" type="presOf" srcId="{A50D2B7D-DF47-471C-A7D2-E3B9A56791C8}" destId="{BD068706-A41E-47A5-AED7-A12B46C8F33A}" srcOrd="0" destOrd="0" presId="urn:microsoft.com/office/officeart/2005/8/layout/cycle1"/>
    <dgm:cxn modelId="{E7C8312B-5E23-4695-B946-39BD16A24688}" type="presOf" srcId="{F92A7C22-CDFD-4341-8E0A-FD81646A240F}" destId="{9F05F2B2-0F0C-40F2-8067-19B90779BDD2}" srcOrd="0" destOrd="0" presId="urn:microsoft.com/office/officeart/2005/8/layout/cycle1"/>
    <dgm:cxn modelId="{85538976-1BA8-4E75-A854-C8B046522F85}" type="presOf" srcId="{806C790F-BB07-4EEC-97F2-F20B48604BB7}" destId="{99C28739-6342-48DD-9A73-10DCE3D80EA8}" srcOrd="0" destOrd="0" presId="urn:microsoft.com/office/officeart/2005/8/layout/cycle1"/>
    <dgm:cxn modelId="{D06A4A74-2AE4-4882-AB48-98B73013A668}" srcId="{A82E7CEE-392E-42C5-8DE8-20B2C67F4DF7}" destId="{A50D2B7D-DF47-471C-A7D2-E3B9A56791C8}" srcOrd="1" destOrd="0" parTransId="{C676523D-76D5-43B3-B74A-660151C47B31}" sibTransId="{BDBB16C6-3A4A-421F-B914-A79BFCF1DEA6}"/>
    <dgm:cxn modelId="{A372C5BD-B713-422B-A755-50756E8C1D91}" type="presOf" srcId="{6F033F62-47F2-42C3-99AC-336F498EC3A9}" destId="{EED3A88E-7615-4822-96D5-ED999114643F}" srcOrd="0" destOrd="0" presId="urn:microsoft.com/office/officeart/2005/8/layout/cycle1"/>
    <dgm:cxn modelId="{5893F74B-704C-44E2-9474-43AAC4D008AB}" srcId="{A82E7CEE-392E-42C5-8DE8-20B2C67F4DF7}" destId="{FB4DFE17-0621-4578-96CA-95DF7107A4B0}" srcOrd="3" destOrd="0" parTransId="{3F29016D-5FA1-4DC8-9BA1-91665F04927A}" sibTransId="{806C790F-BB07-4EEC-97F2-F20B48604BB7}"/>
    <dgm:cxn modelId="{BCEFA602-03A8-460A-A36C-E5E9E07B156F}" type="presOf" srcId="{42A870AC-5297-4890-ACC5-BD7835F4F2BA}" destId="{82AE1414-7B63-4E06-9FAD-076FB3A51FAA}" srcOrd="0" destOrd="0" presId="urn:microsoft.com/office/officeart/2005/8/layout/cycle1"/>
    <dgm:cxn modelId="{1BA67174-7ECA-44C8-8444-B2FA71A5BFF6}" srcId="{A82E7CEE-392E-42C5-8DE8-20B2C67F4DF7}" destId="{6F033F62-47F2-42C3-99AC-336F498EC3A9}" srcOrd="2" destOrd="0" parTransId="{CCE50EAE-982F-48D8-BAC7-B39E4A8AF812}" sibTransId="{42A870AC-5297-4890-ACC5-BD7835F4F2BA}"/>
    <dgm:cxn modelId="{801AEDBA-02DC-4492-BD46-451045853CF2}" type="presOf" srcId="{39691FD6-FEDA-44D1-8E60-5DDB809E4EB0}" destId="{2924AA58-1045-4A26-AF7A-3C2EC2A5023D}" srcOrd="0" destOrd="0" presId="urn:microsoft.com/office/officeart/2005/8/layout/cycle1"/>
    <dgm:cxn modelId="{69301240-4B44-4A6E-B98F-5E2320A08EDC}" type="presParOf" srcId="{862D5266-FCED-423B-A0AD-B11056460661}" destId="{3BC3FD86-DAE3-4EE6-95A7-E70CAE8CEFFC}" srcOrd="0" destOrd="0" presId="urn:microsoft.com/office/officeart/2005/8/layout/cycle1"/>
    <dgm:cxn modelId="{178A3AA1-51C9-407C-A71C-D188BF9A131F}" type="presParOf" srcId="{862D5266-FCED-423B-A0AD-B11056460661}" destId="{2924AA58-1045-4A26-AF7A-3C2EC2A5023D}" srcOrd="1" destOrd="0" presId="urn:microsoft.com/office/officeart/2005/8/layout/cycle1"/>
    <dgm:cxn modelId="{1A9F8AB3-CF36-416C-BC3F-9405626E742B}" type="presParOf" srcId="{862D5266-FCED-423B-A0AD-B11056460661}" destId="{9F05F2B2-0F0C-40F2-8067-19B90779BDD2}" srcOrd="2" destOrd="0" presId="urn:microsoft.com/office/officeart/2005/8/layout/cycle1"/>
    <dgm:cxn modelId="{C1A6DB29-739C-47DF-807C-8D1241906843}" type="presParOf" srcId="{862D5266-FCED-423B-A0AD-B11056460661}" destId="{B1265E89-82A0-43E5-9D70-76EAAF2205E2}" srcOrd="3" destOrd="0" presId="urn:microsoft.com/office/officeart/2005/8/layout/cycle1"/>
    <dgm:cxn modelId="{6705E097-A221-4F24-9F1A-F1A3714F32DD}" type="presParOf" srcId="{862D5266-FCED-423B-A0AD-B11056460661}" destId="{BD068706-A41E-47A5-AED7-A12B46C8F33A}" srcOrd="4" destOrd="0" presId="urn:microsoft.com/office/officeart/2005/8/layout/cycle1"/>
    <dgm:cxn modelId="{BA8058CB-5949-4032-91F3-5998C151985B}" type="presParOf" srcId="{862D5266-FCED-423B-A0AD-B11056460661}" destId="{4BA9D083-8F7A-4123-9DB2-680B97F92665}" srcOrd="5" destOrd="0" presId="urn:microsoft.com/office/officeart/2005/8/layout/cycle1"/>
    <dgm:cxn modelId="{F4940306-8A2E-44BE-996E-81887BCD44F0}" type="presParOf" srcId="{862D5266-FCED-423B-A0AD-B11056460661}" destId="{1309FB69-B5AA-4288-B389-95519DB4D6B9}" srcOrd="6" destOrd="0" presId="urn:microsoft.com/office/officeart/2005/8/layout/cycle1"/>
    <dgm:cxn modelId="{30F7A1C4-C335-478C-94AE-34AC59C4E640}" type="presParOf" srcId="{862D5266-FCED-423B-A0AD-B11056460661}" destId="{EED3A88E-7615-4822-96D5-ED999114643F}" srcOrd="7" destOrd="0" presId="urn:microsoft.com/office/officeart/2005/8/layout/cycle1"/>
    <dgm:cxn modelId="{7321B030-F67E-4646-BC18-C70362877C8F}" type="presParOf" srcId="{862D5266-FCED-423B-A0AD-B11056460661}" destId="{82AE1414-7B63-4E06-9FAD-076FB3A51FAA}" srcOrd="8" destOrd="0" presId="urn:microsoft.com/office/officeart/2005/8/layout/cycle1"/>
    <dgm:cxn modelId="{70AB36CC-0C80-489A-A74A-EC37AEA9A7FF}" type="presParOf" srcId="{862D5266-FCED-423B-A0AD-B11056460661}" destId="{673E85AD-5518-43E6-8455-593060D40BC7}" srcOrd="9" destOrd="0" presId="urn:microsoft.com/office/officeart/2005/8/layout/cycle1"/>
    <dgm:cxn modelId="{5CEB865F-5B98-4C61-B88C-356B2D5767F6}" type="presParOf" srcId="{862D5266-FCED-423B-A0AD-B11056460661}" destId="{6EB9C63E-D4A7-46B6-B36E-BA6B4AB998D5}" srcOrd="10" destOrd="0" presId="urn:microsoft.com/office/officeart/2005/8/layout/cycle1"/>
    <dgm:cxn modelId="{F7C01005-7FC2-4EB6-92A7-E647DD450EF1}" type="presParOf" srcId="{862D5266-FCED-423B-A0AD-B11056460661}" destId="{99C28739-6342-48DD-9A73-10DCE3D80EA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4AA58-1045-4A26-AF7A-3C2EC2A5023D}">
      <dsp:nvSpPr>
        <dsp:cNvPr id="0" name=""/>
        <dsp:cNvSpPr/>
      </dsp:nvSpPr>
      <dsp:spPr>
        <a:xfrm>
          <a:off x="4408289" y="4"/>
          <a:ext cx="1687710" cy="1687710"/>
        </a:xfrm>
        <a:prstGeom prst="rect">
          <a:avLst/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Encoded Chemical Libraries</a:t>
          </a:r>
          <a:endParaRPr lang="en-GB" sz="2300" kern="1200" dirty="0"/>
        </a:p>
      </dsp:txBody>
      <dsp:txXfrm>
        <a:off x="4408289" y="4"/>
        <a:ext cx="1687710" cy="1687710"/>
      </dsp:txXfrm>
    </dsp:sp>
    <dsp:sp modelId="{9F05F2B2-0F0C-40F2-8067-19B90779BDD2}">
      <dsp:nvSpPr>
        <dsp:cNvPr id="0" name=""/>
        <dsp:cNvSpPr/>
      </dsp:nvSpPr>
      <dsp:spPr>
        <a:xfrm>
          <a:off x="1077012" y="-398211"/>
          <a:ext cx="4766621" cy="4766621"/>
        </a:xfrm>
        <a:prstGeom prst="circularArrow">
          <a:avLst>
            <a:gd name="adj1" fmla="val 6904"/>
            <a:gd name="adj2" fmla="val 465533"/>
            <a:gd name="adj3" fmla="val 2114514"/>
            <a:gd name="adj4" fmla="val 71324"/>
            <a:gd name="adj5" fmla="val 805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068706-A41E-47A5-AED7-A12B46C8F33A}">
      <dsp:nvSpPr>
        <dsp:cNvPr id="0" name=""/>
        <dsp:cNvSpPr/>
      </dsp:nvSpPr>
      <dsp:spPr>
        <a:xfrm>
          <a:off x="3758791" y="3027949"/>
          <a:ext cx="1687710" cy="1687710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Hits Identified</a:t>
          </a:r>
          <a:endParaRPr lang="en-GB" sz="2300" kern="1200" dirty="0"/>
        </a:p>
      </dsp:txBody>
      <dsp:txXfrm>
        <a:off x="3758791" y="3027949"/>
        <a:ext cx="1687710" cy="1687710"/>
      </dsp:txXfrm>
    </dsp:sp>
    <dsp:sp modelId="{4BA9D083-8F7A-4123-9DB2-680B97F92665}">
      <dsp:nvSpPr>
        <dsp:cNvPr id="0" name=""/>
        <dsp:cNvSpPr/>
      </dsp:nvSpPr>
      <dsp:spPr>
        <a:xfrm>
          <a:off x="885591" y="65120"/>
          <a:ext cx="4766621" cy="4766621"/>
        </a:xfrm>
        <a:prstGeom prst="circularArrow">
          <a:avLst>
            <a:gd name="adj1" fmla="val 6904"/>
            <a:gd name="adj2" fmla="val 465533"/>
            <a:gd name="adj3" fmla="val 6222556"/>
            <a:gd name="adj4" fmla="val 4560756"/>
            <a:gd name="adj5" fmla="val 8055"/>
          </a:avLst>
        </a:prstGeom>
        <a:solidFill>
          <a:srgbClr val="66006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D3A88E-7615-4822-96D5-ED999114643F}">
      <dsp:nvSpPr>
        <dsp:cNvPr id="0" name=""/>
        <dsp:cNvSpPr/>
      </dsp:nvSpPr>
      <dsp:spPr>
        <a:xfrm>
          <a:off x="839421" y="3027935"/>
          <a:ext cx="1687710" cy="1687710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Lead Compounds</a:t>
          </a:r>
          <a:endParaRPr lang="en-GB" sz="2300" kern="1200" dirty="0"/>
        </a:p>
      </dsp:txBody>
      <dsp:txXfrm>
        <a:off x="839421" y="3027935"/>
        <a:ext cx="1687710" cy="1687710"/>
      </dsp:txXfrm>
    </dsp:sp>
    <dsp:sp modelId="{82AE1414-7B63-4E06-9FAD-076FB3A51FAA}">
      <dsp:nvSpPr>
        <dsp:cNvPr id="0" name=""/>
        <dsp:cNvSpPr/>
      </dsp:nvSpPr>
      <dsp:spPr>
        <a:xfrm>
          <a:off x="347377" y="106342"/>
          <a:ext cx="5243283" cy="5243283"/>
        </a:xfrm>
        <a:prstGeom prst="circularArrow">
          <a:avLst>
            <a:gd name="adj1" fmla="val 6904"/>
            <a:gd name="adj2" fmla="val 465533"/>
            <a:gd name="adj3" fmla="val 11710352"/>
            <a:gd name="adj4" fmla="val 10598915"/>
            <a:gd name="adj5" fmla="val 8055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EB9C63E-D4A7-46B6-B36E-BA6B4AB998D5}">
      <dsp:nvSpPr>
        <dsp:cNvPr id="0" name=""/>
        <dsp:cNvSpPr/>
      </dsp:nvSpPr>
      <dsp:spPr>
        <a:xfrm>
          <a:off x="815749" y="432046"/>
          <a:ext cx="1687710" cy="1687710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kern="1200" dirty="0" smtClean="0"/>
            <a:t>Candidates for in-vivo assays</a:t>
          </a:r>
          <a:endParaRPr lang="en-GB" sz="2300" kern="1200" dirty="0"/>
        </a:p>
      </dsp:txBody>
      <dsp:txXfrm>
        <a:off x="815749" y="432046"/>
        <a:ext cx="1687710" cy="1687710"/>
      </dsp:txXfrm>
    </dsp:sp>
    <dsp:sp modelId="{99C28739-6342-48DD-9A73-10DCE3D80EA8}">
      <dsp:nvSpPr>
        <dsp:cNvPr id="0" name=""/>
        <dsp:cNvSpPr/>
      </dsp:nvSpPr>
      <dsp:spPr>
        <a:xfrm rot="15711473">
          <a:off x="1133186" y="-260114"/>
          <a:ext cx="943075" cy="520229"/>
        </a:xfrm>
        <a:prstGeom prst="rightArrow">
          <a:avLst/>
        </a:prstGeom>
        <a:solidFill>
          <a:srgbClr val="C0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8.wmf"/><Relationship Id="rId7" Type="http://schemas.openxmlformats.org/officeDocument/2006/relationships/image" Target="../media/image11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9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GB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E03F16-DC7A-4427-BCD2-6E9BA583D117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79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B07CAD-787C-4965-9C02-F55443F304C1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06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980EE-26E7-445C-9E77-ED01699065CC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05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95C23-876C-4A18-9659-0F93D32FC5E4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92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A31C3-3BB2-4A96-97A9-4A631D3C30AE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47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95DC0F-AE78-40FA-BE36-767270CAA9EC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87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85BAF-28BF-48D4-816E-C443C3EF8F2A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26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B165F-12B5-4221-B546-43ADC310919E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66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5AFFD6-E544-4E1D-AFF4-30014412B7C3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76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B0A54-F0BB-481A-8F57-71BAF98002F8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34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4DBD4-1B6C-4EEC-ABEF-E44E9BD8DFC2}" type="slidenum">
              <a:rPr lang="en-GB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1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490170-EB3C-4245-9A98-E79057389179}" type="slidenum">
              <a:rPr lang="en-GB"/>
              <a:pPr/>
              <a:t>‹Nº›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2.bin"/><Relationship Id="rId18" Type="http://schemas.openxmlformats.org/officeDocument/2006/relationships/oleObject" Target="../embeddings/oleObject17.bin"/><Relationship Id="rId3" Type="http://schemas.openxmlformats.org/officeDocument/2006/relationships/oleObject" Target="../embeddings/oleObject4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1.bin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4.bin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5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6.bin"/><Relationship Id="rId3" Type="http://schemas.openxmlformats.org/officeDocument/2006/relationships/oleObject" Target="../embeddings/oleObject18.bin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0.wmf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9.wmf"/><Relationship Id="rId19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4.wmf"/><Relationship Id="rId22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8" name="Group 300"/>
          <p:cNvGrpSpPr>
            <a:grpSpLocks/>
          </p:cNvGrpSpPr>
          <p:nvPr/>
        </p:nvGrpSpPr>
        <p:grpSpPr bwMode="auto">
          <a:xfrm>
            <a:off x="1588" y="3211513"/>
            <a:ext cx="4319587" cy="1223962"/>
            <a:chOff x="2880" y="2432"/>
            <a:chExt cx="1724" cy="499"/>
          </a:xfrm>
        </p:grpSpPr>
        <p:sp>
          <p:nvSpPr>
            <p:cNvPr id="2349" name="Line 301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0" name="Line 302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1" name="Line 303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2" name="Line 304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55" name="Oval 307"/>
          <p:cNvSpPr>
            <a:spLocks noChangeArrowheads="1"/>
          </p:cNvSpPr>
          <p:nvPr/>
        </p:nvSpPr>
        <p:spPr bwMode="auto">
          <a:xfrm>
            <a:off x="1008063" y="3265488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57" name="Oval 309"/>
          <p:cNvSpPr>
            <a:spLocks noChangeArrowheads="1"/>
          </p:cNvSpPr>
          <p:nvPr/>
        </p:nvSpPr>
        <p:spPr bwMode="auto">
          <a:xfrm>
            <a:off x="1762125" y="32829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58" name="Oval 310"/>
          <p:cNvSpPr>
            <a:spLocks noChangeArrowheads="1"/>
          </p:cNvSpPr>
          <p:nvPr/>
        </p:nvSpPr>
        <p:spPr bwMode="auto">
          <a:xfrm>
            <a:off x="2516188" y="32829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59" name="Oval 311"/>
          <p:cNvSpPr>
            <a:spLocks noChangeArrowheads="1"/>
          </p:cNvSpPr>
          <p:nvPr/>
        </p:nvSpPr>
        <p:spPr bwMode="auto">
          <a:xfrm>
            <a:off x="3270250" y="32829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64" name="Oval 316"/>
          <p:cNvSpPr>
            <a:spLocks noChangeArrowheads="1"/>
          </p:cNvSpPr>
          <p:nvPr/>
        </p:nvSpPr>
        <p:spPr bwMode="auto">
          <a:xfrm>
            <a:off x="720725" y="3824288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65" name="Oval 317"/>
          <p:cNvSpPr>
            <a:spLocks noChangeArrowheads="1"/>
          </p:cNvSpPr>
          <p:nvPr/>
        </p:nvSpPr>
        <p:spPr bwMode="auto">
          <a:xfrm>
            <a:off x="1474788" y="38417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66" name="Oval 318"/>
          <p:cNvSpPr>
            <a:spLocks noChangeArrowheads="1"/>
          </p:cNvSpPr>
          <p:nvPr/>
        </p:nvSpPr>
        <p:spPr bwMode="auto">
          <a:xfrm>
            <a:off x="2228850" y="38417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67" name="Oval 319"/>
          <p:cNvSpPr>
            <a:spLocks noChangeArrowheads="1"/>
          </p:cNvSpPr>
          <p:nvPr/>
        </p:nvSpPr>
        <p:spPr bwMode="auto">
          <a:xfrm>
            <a:off x="2982913" y="3841750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68" name="Text Box 320"/>
          <p:cNvSpPr txBox="1">
            <a:spLocks noChangeArrowheads="1"/>
          </p:cNvSpPr>
          <p:nvPr/>
        </p:nvSpPr>
        <p:spPr bwMode="auto">
          <a:xfrm>
            <a:off x="122238" y="4592638"/>
            <a:ext cx="33702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200"/>
              <a:t>Polymer array (up to 10.000 different polymers)</a:t>
            </a:r>
            <a:endParaRPr lang="en-US" sz="1200"/>
          </a:p>
        </p:txBody>
      </p:sp>
      <p:graphicFrame>
        <p:nvGraphicFramePr>
          <p:cNvPr id="2370" name="Object 322"/>
          <p:cNvGraphicFramePr>
            <a:graphicFrameLocks noChangeAspect="1"/>
          </p:cNvGraphicFramePr>
          <p:nvPr/>
        </p:nvGraphicFramePr>
        <p:xfrm>
          <a:off x="4065588" y="1192213"/>
          <a:ext cx="12446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" name="CS ChemDraw Drawing" r:id="rId3" imgW="1617840" imgH="2064960" progId="ChemDraw.Document.5.0">
                  <p:embed/>
                </p:oleObj>
              </mc:Choice>
              <mc:Fallback>
                <p:oleObj name="CS ChemDraw Drawing" r:id="rId3" imgW="1617840" imgH="2064960" progId="ChemDraw.Document.5.0">
                  <p:embed/>
                  <p:pic>
                    <p:nvPicPr>
                      <p:cNvPr id="0" name="Object 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1192213"/>
                        <a:ext cx="12446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1" name="Text Box 323"/>
          <p:cNvSpPr txBox="1">
            <a:spLocks noChangeArrowheads="1"/>
          </p:cNvSpPr>
          <p:nvPr/>
        </p:nvSpPr>
        <p:spPr bwMode="auto">
          <a:xfrm>
            <a:off x="4789488" y="1916113"/>
            <a:ext cx="268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a</a:t>
            </a:r>
            <a:endParaRPr lang="en-GB" sz="1200" i="1"/>
          </a:p>
        </p:txBody>
      </p:sp>
      <p:sp>
        <p:nvSpPr>
          <p:cNvPr id="2372" name="Text Box 324"/>
          <p:cNvSpPr txBox="1">
            <a:spLocks noChangeArrowheads="1"/>
          </p:cNvSpPr>
          <p:nvPr/>
        </p:nvSpPr>
        <p:spPr bwMode="auto">
          <a:xfrm>
            <a:off x="4664075" y="234791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b</a:t>
            </a:r>
            <a:endParaRPr lang="en-GB" sz="1200" i="1"/>
          </a:p>
        </p:txBody>
      </p:sp>
      <p:sp>
        <p:nvSpPr>
          <p:cNvPr id="2373" name="Text Box 325"/>
          <p:cNvSpPr txBox="1">
            <a:spLocks noChangeArrowheads="1"/>
          </p:cNvSpPr>
          <p:nvPr/>
        </p:nvSpPr>
        <p:spPr bwMode="auto">
          <a:xfrm>
            <a:off x="3952875" y="2347913"/>
            <a:ext cx="2603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c</a:t>
            </a:r>
            <a:endParaRPr lang="en-GB" sz="1200" i="1"/>
          </a:p>
        </p:txBody>
      </p:sp>
      <p:sp>
        <p:nvSpPr>
          <p:cNvPr id="2374" name="Text Box 326"/>
          <p:cNvSpPr txBox="1">
            <a:spLocks noChangeArrowheads="1"/>
          </p:cNvSpPr>
          <p:nvPr/>
        </p:nvSpPr>
        <p:spPr bwMode="auto">
          <a:xfrm>
            <a:off x="4789488" y="1266825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sp>
        <p:nvSpPr>
          <p:cNvPr id="2375" name="Text Box 327"/>
          <p:cNvSpPr txBox="1">
            <a:spLocks noChangeArrowheads="1"/>
          </p:cNvSpPr>
          <p:nvPr/>
        </p:nvSpPr>
        <p:spPr bwMode="auto">
          <a:xfrm>
            <a:off x="5148263" y="2708275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e</a:t>
            </a:r>
            <a:endParaRPr lang="en-GB" sz="1200" i="1"/>
          </a:p>
        </p:txBody>
      </p:sp>
      <p:sp>
        <p:nvSpPr>
          <p:cNvPr id="2376" name="Text Box 328"/>
          <p:cNvSpPr txBox="1">
            <a:spLocks noChangeArrowheads="1"/>
          </p:cNvSpPr>
          <p:nvPr/>
        </p:nvSpPr>
        <p:spPr bwMode="auto">
          <a:xfrm>
            <a:off x="4213225" y="979488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f</a:t>
            </a:r>
            <a:endParaRPr lang="en-GB" sz="1200" i="1"/>
          </a:p>
        </p:txBody>
      </p:sp>
      <p:grpSp>
        <p:nvGrpSpPr>
          <p:cNvPr id="2377" name="Group 329"/>
          <p:cNvGrpSpPr>
            <a:grpSpLocks/>
          </p:cNvGrpSpPr>
          <p:nvPr/>
        </p:nvGrpSpPr>
        <p:grpSpPr bwMode="auto">
          <a:xfrm>
            <a:off x="323850" y="1046163"/>
            <a:ext cx="1584325" cy="1373187"/>
            <a:chOff x="4740" y="2175"/>
            <a:chExt cx="998" cy="865"/>
          </a:xfrm>
        </p:grpSpPr>
        <p:graphicFrame>
          <p:nvGraphicFramePr>
            <p:cNvPr id="2378" name="Object 330"/>
            <p:cNvGraphicFramePr>
              <a:graphicFrameLocks noChangeAspect="1"/>
            </p:cNvGraphicFramePr>
            <p:nvPr/>
          </p:nvGraphicFramePr>
          <p:xfrm>
            <a:off x="4740" y="2175"/>
            <a:ext cx="867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" name="CS ChemDraw Drawing" r:id="rId5" imgW="1694880" imgH="1303200" progId="ChemDraw.Document.6.0">
                    <p:embed/>
                  </p:oleObj>
                </mc:Choice>
                <mc:Fallback>
                  <p:oleObj name="CS ChemDraw Drawing" r:id="rId5" imgW="1694880" imgH="1303200" progId="ChemDraw.Document.6.0">
                    <p:embed/>
                    <p:pic>
                      <p:nvPicPr>
                        <p:cNvPr id="0" name="Object 3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175"/>
                          <a:ext cx="867" cy="6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79" name="AutoShape 331"/>
            <p:cNvSpPr>
              <a:spLocks noChangeArrowheads="1"/>
            </p:cNvSpPr>
            <p:nvPr/>
          </p:nvSpPr>
          <p:spPr bwMode="auto">
            <a:xfrm>
              <a:off x="4785" y="2931"/>
              <a:ext cx="136" cy="91"/>
            </a:xfrm>
            <a:prstGeom prst="irregularSeal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80" name="Text Box 332"/>
            <p:cNvSpPr txBox="1">
              <a:spLocks noChangeArrowheads="1"/>
            </p:cNvSpPr>
            <p:nvPr/>
          </p:nvSpPr>
          <p:spPr bwMode="auto">
            <a:xfrm>
              <a:off x="4914" y="2886"/>
              <a:ext cx="82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sz="1000"/>
                <a:t>Fluorescence signal</a:t>
              </a:r>
              <a:endParaRPr lang="en-GB" sz="1000"/>
            </a:p>
          </p:txBody>
        </p:sp>
      </p:grpSp>
      <p:sp>
        <p:nvSpPr>
          <p:cNvPr id="2381" name="Oval 333"/>
          <p:cNvSpPr>
            <a:spLocks noChangeArrowheads="1"/>
          </p:cNvSpPr>
          <p:nvPr/>
        </p:nvSpPr>
        <p:spPr bwMode="auto">
          <a:xfrm>
            <a:off x="3635375" y="979488"/>
            <a:ext cx="2232025" cy="2087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82" name="Text Box 334"/>
          <p:cNvSpPr txBox="1">
            <a:spLocks noChangeArrowheads="1"/>
          </p:cNvSpPr>
          <p:nvPr/>
        </p:nvSpPr>
        <p:spPr bwMode="auto">
          <a:xfrm>
            <a:off x="611188" y="1814513"/>
            <a:ext cx="12604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000"/>
              <a:t>FRET-based labelll</a:t>
            </a:r>
            <a:endParaRPr lang="en-US" sz="1000"/>
          </a:p>
        </p:txBody>
      </p:sp>
      <p:grpSp>
        <p:nvGrpSpPr>
          <p:cNvPr id="2383" name="Group 335"/>
          <p:cNvGrpSpPr>
            <a:grpSpLocks/>
          </p:cNvGrpSpPr>
          <p:nvPr/>
        </p:nvGrpSpPr>
        <p:grpSpPr bwMode="auto">
          <a:xfrm>
            <a:off x="4716463" y="3140075"/>
            <a:ext cx="4319587" cy="1223963"/>
            <a:chOff x="2880" y="2432"/>
            <a:chExt cx="1724" cy="499"/>
          </a:xfrm>
        </p:grpSpPr>
        <p:sp>
          <p:nvSpPr>
            <p:cNvPr id="2384" name="Line 336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85" name="Line 337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86" name="Line 338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87" name="Line 339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88" name="Oval 340"/>
          <p:cNvSpPr>
            <a:spLocks noChangeArrowheads="1"/>
          </p:cNvSpPr>
          <p:nvPr/>
        </p:nvSpPr>
        <p:spPr bwMode="auto">
          <a:xfrm>
            <a:off x="5722938" y="3194050"/>
            <a:ext cx="330200" cy="377825"/>
          </a:xfrm>
          <a:prstGeom prst="ellipse">
            <a:avLst/>
          </a:prstGeom>
          <a:solidFill>
            <a:schemeClr val="folHlink">
              <a:alpha val="3000"/>
            </a:schemeClr>
          </a:soli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89" name="Oval 341"/>
          <p:cNvSpPr>
            <a:spLocks noChangeArrowheads="1"/>
          </p:cNvSpPr>
          <p:nvPr/>
        </p:nvSpPr>
        <p:spPr bwMode="auto">
          <a:xfrm>
            <a:off x="6477000" y="32115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0" name="Oval 342"/>
          <p:cNvSpPr>
            <a:spLocks noChangeArrowheads="1"/>
          </p:cNvSpPr>
          <p:nvPr/>
        </p:nvSpPr>
        <p:spPr bwMode="auto">
          <a:xfrm>
            <a:off x="7231063" y="32115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1" name="Oval 343"/>
          <p:cNvSpPr>
            <a:spLocks noChangeArrowheads="1"/>
          </p:cNvSpPr>
          <p:nvPr/>
        </p:nvSpPr>
        <p:spPr bwMode="auto">
          <a:xfrm>
            <a:off x="7985125" y="32115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2" name="Oval 344"/>
          <p:cNvSpPr>
            <a:spLocks noChangeArrowheads="1"/>
          </p:cNvSpPr>
          <p:nvPr/>
        </p:nvSpPr>
        <p:spPr bwMode="auto">
          <a:xfrm>
            <a:off x="5435600" y="3752850"/>
            <a:ext cx="330200" cy="377825"/>
          </a:xfrm>
          <a:prstGeom prst="ellipse">
            <a:avLst/>
          </a:prstGeom>
          <a:gradFill rotWithShape="1">
            <a:gsLst>
              <a:gs pos="0">
                <a:srgbClr val="99CC00"/>
              </a:gs>
              <a:gs pos="100000">
                <a:srgbClr val="99CC00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3" name="Oval 345"/>
          <p:cNvSpPr>
            <a:spLocks noChangeArrowheads="1"/>
          </p:cNvSpPr>
          <p:nvPr/>
        </p:nvSpPr>
        <p:spPr bwMode="auto">
          <a:xfrm>
            <a:off x="6189663" y="37703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4" name="Oval 346"/>
          <p:cNvSpPr>
            <a:spLocks noChangeArrowheads="1"/>
          </p:cNvSpPr>
          <p:nvPr/>
        </p:nvSpPr>
        <p:spPr bwMode="auto">
          <a:xfrm>
            <a:off x="6943725" y="37703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395" name="Oval 347"/>
          <p:cNvSpPr>
            <a:spLocks noChangeArrowheads="1"/>
          </p:cNvSpPr>
          <p:nvPr/>
        </p:nvSpPr>
        <p:spPr bwMode="auto">
          <a:xfrm>
            <a:off x="7697788" y="3770313"/>
            <a:ext cx="330200" cy="3778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2401" name="Line 353"/>
          <p:cNvSpPr>
            <a:spLocks noChangeShapeType="1"/>
          </p:cNvSpPr>
          <p:nvPr/>
        </p:nvSpPr>
        <p:spPr bwMode="auto">
          <a:xfrm flipH="1">
            <a:off x="4714875" y="4003675"/>
            <a:ext cx="7207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02" name="Line 354"/>
          <p:cNvSpPr>
            <a:spLocks noChangeShapeType="1"/>
          </p:cNvSpPr>
          <p:nvPr/>
        </p:nvSpPr>
        <p:spPr bwMode="auto">
          <a:xfrm flipH="1">
            <a:off x="5651500" y="4075113"/>
            <a:ext cx="71438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03" name="Oval 355"/>
          <p:cNvSpPr>
            <a:spLocks noChangeArrowheads="1"/>
          </p:cNvSpPr>
          <p:nvPr/>
        </p:nvSpPr>
        <p:spPr bwMode="auto">
          <a:xfrm>
            <a:off x="4283075" y="4940300"/>
            <a:ext cx="1368425" cy="11525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graphicFrame>
        <p:nvGraphicFramePr>
          <p:cNvPr id="2405" name="Object 357"/>
          <p:cNvGraphicFramePr>
            <a:graphicFrameLocks noChangeAspect="1"/>
          </p:cNvGraphicFramePr>
          <p:nvPr/>
        </p:nvGraphicFramePr>
        <p:xfrm>
          <a:off x="4491038" y="5419725"/>
          <a:ext cx="9445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" name="CS ChemDraw Drawing" r:id="rId7" imgW="944640" imgH="383400" progId="ChemDraw.Document.5.0">
                  <p:embed/>
                </p:oleObj>
              </mc:Choice>
              <mc:Fallback>
                <p:oleObj name="CS ChemDraw Drawing" r:id="rId7" imgW="944640" imgH="383400" progId="ChemDraw.Document.5.0">
                  <p:embed/>
                  <p:pic>
                    <p:nvPicPr>
                      <p:cNvPr id="0" name="Object 3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5419725"/>
                        <a:ext cx="9445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" name="AutoShape 358"/>
          <p:cNvSpPr>
            <a:spLocks noChangeArrowheads="1"/>
          </p:cNvSpPr>
          <p:nvPr/>
        </p:nvSpPr>
        <p:spPr bwMode="auto">
          <a:xfrm>
            <a:off x="4427538" y="5157788"/>
            <a:ext cx="503237" cy="358775"/>
          </a:xfrm>
          <a:prstGeom prst="irregularSeal1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07" name="Text Box 359"/>
          <p:cNvSpPr txBox="1">
            <a:spLocks noChangeArrowheads="1"/>
          </p:cNvSpPr>
          <p:nvPr/>
        </p:nvSpPr>
        <p:spPr bwMode="auto">
          <a:xfrm>
            <a:off x="2492375" y="188913"/>
            <a:ext cx="415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b="1"/>
              <a:t>HTS of polymer as artificial enzymes</a:t>
            </a:r>
            <a:endParaRPr lang="en-US" b="1"/>
          </a:p>
        </p:txBody>
      </p:sp>
      <p:sp>
        <p:nvSpPr>
          <p:cNvPr id="2408" name="Text Box 360"/>
          <p:cNvSpPr txBox="1">
            <a:spLocks noChangeArrowheads="1"/>
          </p:cNvSpPr>
          <p:nvPr/>
        </p:nvSpPr>
        <p:spPr bwMode="auto">
          <a:xfrm>
            <a:off x="5076825" y="5227638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sp>
        <p:nvSpPr>
          <p:cNvPr id="2409" name="Line 361"/>
          <p:cNvSpPr>
            <a:spLocks noChangeShapeType="1"/>
          </p:cNvSpPr>
          <p:nvPr/>
        </p:nvSpPr>
        <p:spPr bwMode="auto">
          <a:xfrm>
            <a:off x="3995738" y="3716338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13" name="Freeform 365"/>
          <p:cNvSpPr>
            <a:spLocks/>
          </p:cNvSpPr>
          <p:nvPr/>
        </p:nvSpPr>
        <p:spPr bwMode="auto">
          <a:xfrm>
            <a:off x="4524375" y="3068638"/>
            <a:ext cx="334963" cy="647700"/>
          </a:xfrm>
          <a:custGeom>
            <a:avLst/>
            <a:gdLst>
              <a:gd name="T0" fmla="*/ 30 w 211"/>
              <a:gd name="T1" fmla="*/ 0 h 408"/>
              <a:gd name="T2" fmla="*/ 30 w 211"/>
              <a:gd name="T3" fmla="*/ 136 h 408"/>
              <a:gd name="T4" fmla="*/ 30 w 211"/>
              <a:gd name="T5" fmla="*/ 272 h 408"/>
              <a:gd name="T6" fmla="*/ 211 w 211"/>
              <a:gd name="T7" fmla="*/ 408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1" h="408">
                <a:moveTo>
                  <a:pt x="30" y="0"/>
                </a:moveTo>
                <a:cubicBezTo>
                  <a:pt x="30" y="45"/>
                  <a:pt x="30" y="91"/>
                  <a:pt x="30" y="136"/>
                </a:cubicBezTo>
                <a:cubicBezTo>
                  <a:pt x="30" y="181"/>
                  <a:pt x="0" y="227"/>
                  <a:pt x="30" y="272"/>
                </a:cubicBezTo>
                <a:cubicBezTo>
                  <a:pt x="60" y="317"/>
                  <a:pt x="135" y="362"/>
                  <a:pt x="211" y="40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14" name="Text Box 366"/>
          <p:cNvSpPr txBox="1">
            <a:spLocks noChangeArrowheads="1"/>
          </p:cNvSpPr>
          <p:nvPr/>
        </p:nvSpPr>
        <p:spPr bwMode="auto">
          <a:xfrm>
            <a:off x="5508625" y="884238"/>
            <a:ext cx="1679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s-ES" sz="1200" i="1"/>
              <a:t>Mixture of compounds</a:t>
            </a:r>
          </a:p>
          <a:p>
            <a:pPr algn="ctr"/>
            <a:r>
              <a:rPr lang="es-ES" sz="1200" i="1"/>
              <a:t>PNA encoded library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676275" y="884238"/>
          <a:ext cx="9445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9" name="CS ChemDraw Drawing" r:id="rId3" imgW="944640" imgH="383400" progId="ChemDraw.Document.5.0">
                  <p:embed/>
                </p:oleObj>
              </mc:Choice>
              <mc:Fallback>
                <p:oleObj name="CS ChemDraw Drawing" r:id="rId3" imgW="944640" imgH="383400" progId="ChemDraw.Document.5.0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" y="884238"/>
                        <a:ext cx="9445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612775" y="622300"/>
            <a:ext cx="503238" cy="358775"/>
          </a:xfrm>
          <a:prstGeom prst="irregularSeal1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1262063" y="692150"/>
            <a:ext cx="268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2051050" y="981075"/>
            <a:ext cx="1081088" cy="360363"/>
          </a:xfrm>
          <a:prstGeom prst="righ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13" name="Oval 17"/>
          <p:cNvSpPr>
            <a:spLocks noChangeArrowheads="1"/>
          </p:cNvSpPr>
          <p:nvPr/>
        </p:nvSpPr>
        <p:spPr bwMode="auto">
          <a:xfrm>
            <a:off x="395288" y="333375"/>
            <a:ext cx="1368425" cy="1152525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3843338" y="957263"/>
          <a:ext cx="9445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0" name="CS ChemDraw Drawing" r:id="rId5" imgW="944640" imgH="383400" progId="ChemDraw.Document.5.0">
                  <p:embed/>
                </p:oleObj>
              </mc:Choice>
              <mc:Fallback>
                <p:oleObj name="CS ChemDraw Drawing" r:id="rId5" imgW="944640" imgH="383400" progId="ChemDraw.Document.5.0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957263"/>
                        <a:ext cx="9445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3779838" y="695325"/>
            <a:ext cx="503237" cy="358775"/>
          </a:xfrm>
          <a:prstGeom prst="irregularSeal1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4429125" y="765175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grpSp>
        <p:nvGrpSpPr>
          <p:cNvPr id="4117" name="Group 21"/>
          <p:cNvGrpSpPr>
            <a:grpSpLocks/>
          </p:cNvGrpSpPr>
          <p:nvPr/>
        </p:nvGrpSpPr>
        <p:grpSpPr bwMode="auto">
          <a:xfrm>
            <a:off x="1042988" y="1844675"/>
            <a:ext cx="2736850" cy="1844675"/>
            <a:chOff x="476" y="1769"/>
            <a:chExt cx="1724" cy="1162"/>
          </a:xfrm>
        </p:grpSpPr>
        <p:grpSp>
          <p:nvGrpSpPr>
            <p:cNvPr id="4118" name="Group 22"/>
            <p:cNvGrpSpPr>
              <a:grpSpLocks/>
            </p:cNvGrpSpPr>
            <p:nvPr/>
          </p:nvGrpSpPr>
          <p:grpSpPr bwMode="auto">
            <a:xfrm>
              <a:off x="476" y="2432"/>
              <a:ext cx="1724" cy="499"/>
              <a:chOff x="2880" y="2432"/>
              <a:chExt cx="1724" cy="499"/>
            </a:xfrm>
          </p:grpSpPr>
          <p:sp>
            <p:nvSpPr>
              <p:cNvPr id="4119" name="Line 23"/>
              <p:cNvSpPr>
                <a:spLocks noChangeShapeType="1"/>
              </p:cNvSpPr>
              <p:nvPr/>
            </p:nvSpPr>
            <p:spPr bwMode="auto">
              <a:xfrm flipV="1">
                <a:off x="2880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0" name="Line 24"/>
              <p:cNvSpPr>
                <a:spLocks noChangeShapeType="1"/>
              </p:cNvSpPr>
              <p:nvPr/>
            </p:nvSpPr>
            <p:spPr bwMode="auto">
              <a:xfrm>
                <a:off x="2880" y="2931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1" name="Line 25"/>
              <p:cNvSpPr>
                <a:spLocks noChangeShapeType="1"/>
              </p:cNvSpPr>
              <p:nvPr/>
            </p:nvSpPr>
            <p:spPr bwMode="auto">
              <a:xfrm>
                <a:off x="3243" y="2432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22" name="Line 26"/>
              <p:cNvSpPr>
                <a:spLocks noChangeShapeType="1"/>
              </p:cNvSpPr>
              <p:nvPr/>
            </p:nvSpPr>
            <p:spPr bwMode="auto">
              <a:xfrm flipV="1">
                <a:off x="4241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4123" name="Object 27"/>
            <p:cNvGraphicFramePr>
              <a:graphicFrameLocks noChangeAspect="1"/>
            </p:cNvGraphicFramePr>
            <p:nvPr/>
          </p:nvGraphicFramePr>
          <p:xfrm>
            <a:off x="748" y="2131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1" name="CS ChemDraw Drawing" r:id="rId6" imgW="251640" imgH="1199160" progId="ChemDraw.Document.6.0">
                    <p:embed/>
                  </p:oleObj>
                </mc:Choice>
                <mc:Fallback>
                  <p:oleObj name="CS ChemDraw Drawing" r:id="rId6" imgW="251640" imgH="1199160" progId="ChemDraw.Document.6.0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131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28"/>
            <p:cNvGraphicFramePr>
              <a:graphicFrameLocks noChangeAspect="1"/>
            </p:cNvGraphicFramePr>
            <p:nvPr/>
          </p:nvGraphicFramePr>
          <p:xfrm>
            <a:off x="862" y="1979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2" name="CS ChemDraw Drawing" r:id="rId8" imgW="251640" imgH="1199160" progId="ChemDraw.Document.6.0">
                    <p:embed/>
                  </p:oleObj>
                </mc:Choice>
                <mc:Fallback>
                  <p:oleObj name="CS ChemDraw Drawing" r:id="rId8" imgW="251640" imgH="1199160" progId="ChemDraw.Document.6.0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1979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29"/>
            <p:cNvGraphicFramePr>
              <a:graphicFrameLocks noChangeAspect="1"/>
            </p:cNvGraphicFramePr>
            <p:nvPr/>
          </p:nvGraphicFramePr>
          <p:xfrm>
            <a:off x="975" y="1859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3" name="CS ChemDraw Drawing" r:id="rId9" imgW="251640" imgH="1199160" progId="ChemDraw.Document.6.0">
                    <p:embed/>
                  </p:oleObj>
                </mc:Choice>
                <mc:Fallback>
                  <p:oleObj name="CS ChemDraw Drawing" r:id="rId9" imgW="251640" imgH="1199160" progId="ChemDraw.Document.6.0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859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30"/>
            <p:cNvGraphicFramePr>
              <a:graphicFrameLocks noChangeAspect="1"/>
            </p:cNvGraphicFramePr>
            <p:nvPr/>
          </p:nvGraphicFramePr>
          <p:xfrm>
            <a:off x="1451" y="2041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4" name="CS ChemDraw Drawing" r:id="rId10" imgW="251640" imgH="1199160" progId="ChemDraw.Document.6.0">
                    <p:embed/>
                  </p:oleObj>
                </mc:Choice>
                <mc:Fallback>
                  <p:oleObj name="CS ChemDraw Drawing" r:id="rId10" imgW="251640" imgH="1199160" progId="ChemDraw.Document.6.0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041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7" name="Object 31"/>
            <p:cNvGraphicFramePr>
              <a:graphicFrameLocks noChangeAspect="1"/>
            </p:cNvGraphicFramePr>
            <p:nvPr/>
          </p:nvGraphicFramePr>
          <p:xfrm>
            <a:off x="1565" y="1889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5" name="CS ChemDraw Drawing" r:id="rId11" imgW="251640" imgH="1199160" progId="ChemDraw.Document.6.0">
                    <p:embed/>
                  </p:oleObj>
                </mc:Choice>
                <mc:Fallback>
                  <p:oleObj name="CS ChemDraw Drawing" r:id="rId11" imgW="251640" imgH="1199160" progId="ChemDraw.Document.6.0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889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8" name="Object 32"/>
            <p:cNvGraphicFramePr>
              <a:graphicFrameLocks noChangeAspect="1"/>
            </p:cNvGraphicFramePr>
            <p:nvPr/>
          </p:nvGraphicFramePr>
          <p:xfrm>
            <a:off x="1678" y="1769"/>
            <a:ext cx="159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6" name="CS ChemDraw Drawing" r:id="rId12" imgW="251640" imgH="1199160" progId="ChemDraw.Document.6.0">
                    <p:embed/>
                  </p:oleObj>
                </mc:Choice>
                <mc:Fallback>
                  <p:oleObj name="CS ChemDraw Drawing" r:id="rId12" imgW="251640" imgH="1199160" progId="ChemDraw.Document.6.0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1769"/>
                          <a:ext cx="159" cy="7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1474788" y="3811588"/>
            <a:ext cx="12652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/>
              <a:t>DNA microarray</a:t>
            </a:r>
            <a:endParaRPr lang="en-GB" sz="1200"/>
          </a:p>
        </p:txBody>
      </p:sp>
      <p:sp>
        <p:nvSpPr>
          <p:cNvPr id="4130" name="Text Box 34"/>
          <p:cNvSpPr txBox="1">
            <a:spLocks noChangeArrowheads="1"/>
          </p:cNvSpPr>
          <p:nvPr/>
        </p:nvSpPr>
        <p:spPr bwMode="auto">
          <a:xfrm>
            <a:off x="1692275" y="3379788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a</a:t>
            </a:r>
            <a:endParaRPr lang="en-GB" sz="1200" i="1"/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1905000" y="3151188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b</a:t>
            </a:r>
            <a:endParaRPr lang="en-GB" sz="1200" i="1"/>
          </a:p>
        </p:txBody>
      </p:sp>
      <p:sp>
        <p:nvSpPr>
          <p:cNvPr id="4132" name="Text Box 36"/>
          <p:cNvSpPr txBox="1">
            <a:spLocks noChangeArrowheads="1"/>
          </p:cNvSpPr>
          <p:nvPr/>
        </p:nvSpPr>
        <p:spPr bwMode="auto">
          <a:xfrm>
            <a:off x="2074863" y="2947988"/>
            <a:ext cx="2603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c</a:t>
            </a:r>
            <a:endParaRPr lang="en-GB" sz="1200" i="1"/>
          </a:p>
        </p:txBody>
      </p:sp>
      <p:sp>
        <p:nvSpPr>
          <p:cNvPr id="4133" name="Text Box 37"/>
          <p:cNvSpPr txBox="1">
            <a:spLocks noChangeArrowheads="1"/>
          </p:cNvSpPr>
          <p:nvPr/>
        </p:nvSpPr>
        <p:spPr bwMode="auto">
          <a:xfrm>
            <a:off x="2771775" y="330835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2987675" y="30400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e</a:t>
            </a:r>
            <a:endParaRPr lang="en-GB" sz="1200" i="1"/>
          </a:p>
        </p:txBody>
      </p: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3121025" y="28892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f</a:t>
            </a:r>
            <a:endParaRPr lang="en-GB" sz="1200" i="1"/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>
            <a:off x="3851275" y="3284538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37" name="Freeform 41"/>
          <p:cNvSpPr>
            <a:spLocks/>
          </p:cNvSpPr>
          <p:nvPr/>
        </p:nvSpPr>
        <p:spPr bwMode="auto">
          <a:xfrm>
            <a:off x="4211638" y="1700213"/>
            <a:ext cx="647700" cy="1609725"/>
          </a:xfrm>
          <a:custGeom>
            <a:avLst/>
            <a:gdLst>
              <a:gd name="T0" fmla="*/ 8 w 416"/>
              <a:gd name="T1" fmla="*/ 0 h 1150"/>
              <a:gd name="T2" fmla="*/ 8 w 416"/>
              <a:gd name="T3" fmla="*/ 363 h 1150"/>
              <a:gd name="T4" fmla="*/ 8 w 416"/>
              <a:gd name="T5" fmla="*/ 499 h 1150"/>
              <a:gd name="T6" fmla="*/ 54 w 416"/>
              <a:gd name="T7" fmla="*/ 771 h 1150"/>
              <a:gd name="T8" fmla="*/ 280 w 416"/>
              <a:gd name="T9" fmla="*/ 1089 h 1150"/>
              <a:gd name="T10" fmla="*/ 416 w 416"/>
              <a:gd name="T11" fmla="*/ 1134 h 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6" h="1150">
                <a:moveTo>
                  <a:pt x="8" y="0"/>
                </a:moveTo>
                <a:cubicBezTo>
                  <a:pt x="8" y="140"/>
                  <a:pt x="8" y="280"/>
                  <a:pt x="8" y="363"/>
                </a:cubicBezTo>
                <a:cubicBezTo>
                  <a:pt x="8" y="446"/>
                  <a:pt x="0" y="431"/>
                  <a:pt x="8" y="499"/>
                </a:cubicBezTo>
                <a:cubicBezTo>
                  <a:pt x="16" y="567"/>
                  <a:pt x="9" y="673"/>
                  <a:pt x="54" y="771"/>
                </a:cubicBezTo>
                <a:cubicBezTo>
                  <a:pt x="99" y="869"/>
                  <a:pt x="220" y="1028"/>
                  <a:pt x="280" y="1089"/>
                </a:cubicBezTo>
                <a:cubicBezTo>
                  <a:pt x="340" y="1150"/>
                  <a:pt x="378" y="1142"/>
                  <a:pt x="416" y="113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4139" name="Group 43"/>
          <p:cNvGrpSpPr>
            <a:grpSpLocks/>
          </p:cNvGrpSpPr>
          <p:nvPr/>
        </p:nvGrpSpPr>
        <p:grpSpPr bwMode="auto">
          <a:xfrm>
            <a:off x="5364163" y="2897188"/>
            <a:ext cx="2736850" cy="792162"/>
            <a:chOff x="2880" y="2432"/>
            <a:chExt cx="1724" cy="499"/>
          </a:xfrm>
        </p:grpSpPr>
        <p:sp>
          <p:nvSpPr>
            <p:cNvPr id="4140" name="Line 44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41" name="Line 45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42" name="Line 46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43" name="Line 47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4144" name="Object 48"/>
          <p:cNvGraphicFramePr>
            <a:graphicFrameLocks noChangeAspect="1"/>
          </p:cNvGraphicFramePr>
          <p:nvPr/>
        </p:nvGraphicFramePr>
        <p:xfrm>
          <a:off x="5795963" y="2419350"/>
          <a:ext cx="25241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7" name="CS ChemDraw Drawing" r:id="rId13" imgW="251640" imgH="1199160" progId="ChemDraw.Document.6.0">
                  <p:embed/>
                </p:oleObj>
              </mc:Choice>
              <mc:Fallback>
                <p:oleObj name="CS ChemDraw Drawing" r:id="rId13" imgW="251640" imgH="1199160" progId="ChemDraw.Document.6.0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419350"/>
                        <a:ext cx="252412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5" name="Object 49"/>
          <p:cNvGraphicFramePr>
            <a:graphicFrameLocks noChangeAspect="1"/>
          </p:cNvGraphicFramePr>
          <p:nvPr/>
        </p:nvGraphicFramePr>
        <p:xfrm>
          <a:off x="5976938" y="2178050"/>
          <a:ext cx="25241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8" name="CS ChemDraw Drawing" r:id="rId14" imgW="251640" imgH="1199160" progId="ChemDraw.Document.6.0">
                  <p:embed/>
                </p:oleObj>
              </mc:Choice>
              <mc:Fallback>
                <p:oleObj name="CS ChemDraw Drawing" r:id="rId14" imgW="251640" imgH="1199160" progId="ChemDraw.Document.6.0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178050"/>
                        <a:ext cx="252412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6" name="Object 50"/>
          <p:cNvGraphicFramePr>
            <a:graphicFrameLocks noChangeAspect="1"/>
          </p:cNvGraphicFramePr>
          <p:nvPr/>
        </p:nvGraphicFramePr>
        <p:xfrm>
          <a:off x="6156325" y="1987550"/>
          <a:ext cx="252413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" name="CS ChemDraw Drawing" r:id="rId15" imgW="251640" imgH="1199160" progId="ChemDraw.Document.6.0">
                  <p:embed/>
                </p:oleObj>
              </mc:Choice>
              <mc:Fallback>
                <p:oleObj name="CS ChemDraw Drawing" r:id="rId15" imgW="251640" imgH="1199160" progId="ChemDraw.Document.6.0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987550"/>
                        <a:ext cx="252413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8" name="Object 52"/>
          <p:cNvGraphicFramePr>
            <a:graphicFrameLocks noChangeAspect="1"/>
          </p:cNvGraphicFramePr>
          <p:nvPr/>
        </p:nvGraphicFramePr>
        <p:xfrm>
          <a:off x="7092950" y="2035175"/>
          <a:ext cx="252413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0" name="CS ChemDraw Drawing" r:id="rId16" imgW="251640" imgH="1199160" progId="ChemDraw.Document.6.0">
                  <p:embed/>
                </p:oleObj>
              </mc:Choice>
              <mc:Fallback>
                <p:oleObj name="CS ChemDraw Drawing" r:id="rId16" imgW="251640" imgH="1199160" progId="ChemDraw.Document.6.0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035175"/>
                        <a:ext cx="252413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9" name="Object 53"/>
          <p:cNvGraphicFramePr>
            <a:graphicFrameLocks noChangeAspect="1"/>
          </p:cNvGraphicFramePr>
          <p:nvPr/>
        </p:nvGraphicFramePr>
        <p:xfrm>
          <a:off x="7272338" y="1844675"/>
          <a:ext cx="252412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1" name="CS ChemDraw Drawing" r:id="rId17" imgW="251640" imgH="1199160" progId="ChemDraw.Document.6.0">
                  <p:embed/>
                </p:oleObj>
              </mc:Choice>
              <mc:Fallback>
                <p:oleObj name="CS ChemDraw Drawing" r:id="rId17" imgW="251640" imgH="1199160" progId="ChemDraw.Document.6.0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1844675"/>
                        <a:ext cx="252412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0" name="Text Box 54"/>
          <p:cNvSpPr txBox="1">
            <a:spLocks noChangeArrowheads="1"/>
          </p:cNvSpPr>
          <p:nvPr/>
        </p:nvSpPr>
        <p:spPr bwMode="auto">
          <a:xfrm>
            <a:off x="5795963" y="3811588"/>
            <a:ext cx="12652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/>
              <a:t>DNA microarray</a:t>
            </a:r>
            <a:endParaRPr lang="en-GB" sz="1200"/>
          </a:p>
        </p:txBody>
      </p:sp>
      <p:sp>
        <p:nvSpPr>
          <p:cNvPr id="4151" name="Text Box 55"/>
          <p:cNvSpPr txBox="1">
            <a:spLocks noChangeArrowheads="1"/>
          </p:cNvSpPr>
          <p:nvPr/>
        </p:nvSpPr>
        <p:spPr bwMode="auto">
          <a:xfrm>
            <a:off x="6013450" y="3379788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a</a:t>
            </a:r>
            <a:endParaRPr lang="en-GB" sz="1200" i="1"/>
          </a:p>
        </p:txBody>
      </p:sp>
      <p:sp>
        <p:nvSpPr>
          <p:cNvPr id="4152" name="Text Box 56"/>
          <p:cNvSpPr txBox="1">
            <a:spLocks noChangeArrowheads="1"/>
          </p:cNvSpPr>
          <p:nvPr/>
        </p:nvSpPr>
        <p:spPr bwMode="auto">
          <a:xfrm>
            <a:off x="6226175" y="3151188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b</a:t>
            </a:r>
            <a:endParaRPr lang="en-GB" sz="1200" i="1"/>
          </a:p>
        </p:txBody>
      </p:sp>
      <p:sp>
        <p:nvSpPr>
          <p:cNvPr id="4153" name="Text Box 57"/>
          <p:cNvSpPr txBox="1">
            <a:spLocks noChangeArrowheads="1"/>
          </p:cNvSpPr>
          <p:nvPr/>
        </p:nvSpPr>
        <p:spPr bwMode="auto">
          <a:xfrm>
            <a:off x="6396038" y="2947988"/>
            <a:ext cx="2603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c</a:t>
            </a:r>
            <a:endParaRPr lang="en-GB" sz="1200" i="1"/>
          </a:p>
        </p:txBody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7092950" y="3308350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d</a:t>
            </a:r>
            <a:endParaRPr lang="en-GB" sz="1200" i="1"/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7308850" y="304006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e</a:t>
            </a:r>
            <a:endParaRPr lang="en-GB" sz="1200" i="1"/>
          </a:p>
        </p:txBody>
      </p:sp>
      <p:sp>
        <p:nvSpPr>
          <p:cNvPr id="4156" name="Text Box 60"/>
          <p:cNvSpPr txBox="1">
            <a:spLocks noChangeArrowheads="1"/>
          </p:cNvSpPr>
          <p:nvPr/>
        </p:nvSpPr>
        <p:spPr bwMode="auto">
          <a:xfrm>
            <a:off x="7442200" y="28892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f</a:t>
            </a:r>
            <a:endParaRPr lang="en-GB" sz="1200" i="1"/>
          </a:p>
        </p:txBody>
      </p:sp>
      <p:graphicFrame>
        <p:nvGraphicFramePr>
          <p:cNvPr id="4157" name="Object 61"/>
          <p:cNvGraphicFramePr>
            <a:graphicFrameLocks noChangeAspect="1"/>
          </p:cNvGraphicFramePr>
          <p:nvPr/>
        </p:nvGraphicFramePr>
        <p:xfrm>
          <a:off x="6853238" y="2138363"/>
          <a:ext cx="3778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2" name="CS ChemDraw Drawing" r:id="rId18" imgW="378360" imgH="1369080" progId="ChemDraw.Document.5.0">
                  <p:embed/>
                </p:oleObj>
              </mc:Choice>
              <mc:Fallback>
                <p:oleObj name="CS ChemDraw Drawing" r:id="rId18" imgW="378360" imgH="1369080" progId="ChemDraw.Document.5.0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8" y="2138363"/>
                        <a:ext cx="37782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8" name="AutoShape 62"/>
          <p:cNvSpPr>
            <a:spLocks noChangeArrowheads="1"/>
          </p:cNvSpPr>
          <p:nvPr/>
        </p:nvSpPr>
        <p:spPr bwMode="auto">
          <a:xfrm rot="-3558557">
            <a:off x="6877844" y="1916906"/>
            <a:ext cx="503238" cy="358775"/>
          </a:xfrm>
          <a:prstGeom prst="irregularSeal1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Oval 5"/>
          <p:cNvSpPr>
            <a:spLocks noChangeArrowheads="1"/>
          </p:cNvSpPr>
          <p:nvPr/>
        </p:nvSpPr>
        <p:spPr bwMode="auto">
          <a:xfrm>
            <a:off x="3233738" y="4003675"/>
            <a:ext cx="822325" cy="430213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sp>
        <p:nvSpPr>
          <p:cNvPr id="3078" name="Oval 6"/>
          <p:cNvSpPr>
            <a:spLocks noChangeArrowheads="1"/>
          </p:cNvSpPr>
          <p:nvPr/>
        </p:nvSpPr>
        <p:spPr bwMode="auto">
          <a:xfrm>
            <a:off x="2051050" y="3987800"/>
            <a:ext cx="874713" cy="430213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grpSp>
        <p:nvGrpSpPr>
          <p:cNvPr id="3079" name="Group 7"/>
          <p:cNvGrpSpPr>
            <a:grpSpLocks/>
          </p:cNvGrpSpPr>
          <p:nvPr/>
        </p:nvGrpSpPr>
        <p:grpSpPr bwMode="auto">
          <a:xfrm>
            <a:off x="250825" y="3860800"/>
            <a:ext cx="4319588" cy="792163"/>
            <a:chOff x="2880" y="2432"/>
            <a:chExt cx="1724" cy="499"/>
          </a:xfrm>
        </p:grpSpPr>
        <p:sp>
          <p:nvSpPr>
            <p:cNvPr id="3080" name="Line 8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1" name="Line 9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2" name="Line 10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" name="Line 11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3084" name="Object 12"/>
          <p:cNvGraphicFramePr>
            <a:graphicFrameLocks noChangeAspect="1"/>
          </p:cNvGraphicFramePr>
          <p:nvPr/>
        </p:nvGraphicFramePr>
        <p:xfrm>
          <a:off x="2303463" y="3990975"/>
          <a:ext cx="6223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9" name="CS ChemDraw Drawing" r:id="rId3" imgW="908640" imgH="590760" progId="ChemDraw.Document.6.0">
                  <p:embed/>
                </p:oleObj>
              </mc:Choice>
              <mc:Fallback>
                <p:oleObj name="CS ChemDraw Drawing" r:id="rId3" imgW="908640" imgH="590760" progId="ChemDraw.Document.6.0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990975"/>
                        <a:ext cx="6223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13"/>
          <p:cNvGraphicFramePr>
            <a:graphicFrameLocks noChangeAspect="1"/>
          </p:cNvGraphicFramePr>
          <p:nvPr/>
        </p:nvGraphicFramePr>
        <p:xfrm>
          <a:off x="3433763" y="4056063"/>
          <a:ext cx="5191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" name="CS ChemDraw Drawing" r:id="rId5" imgW="728640" imgH="510120" progId="ChemDraw.Document.6.0">
                  <p:embed/>
                </p:oleObj>
              </mc:Choice>
              <mc:Fallback>
                <p:oleObj name="CS ChemDraw Drawing" r:id="rId5" imgW="728640" imgH="510120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056063"/>
                        <a:ext cx="5191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" name="Oval 15"/>
          <p:cNvSpPr>
            <a:spLocks noChangeArrowheads="1"/>
          </p:cNvSpPr>
          <p:nvPr/>
        </p:nvSpPr>
        <p:spPr bwMode="auto">
          <a:xfrm>
            <a:off x="815975" y="3987800"/>
            <a:ext cx="771525" cy="430213"/>
          </a:xfrm>
          <a:prstGeom prst="ellipse">
            <a:avLst/>
          </a:prstGeom>
          <a:gradFill rotWithShape="1">
            <a:gsLst>
              <a:gs pos="0">
                <a:schemeClr val="bg2">
                  <a:alpha val="3000"/>
                </a:schemeClr>
              </a:gs>
              <a:gs pos="100000">
                <a:schemeClr val="bg2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round/>
            <a:headEnd/>
            <a:tailEnd/>
          </a:ln>
          <a:effectLst/>
          <a:scene3d>
            <a:camera prst="legacyPerspectiveBottom"/>
            <a:lightRig rig="legacyFlat3" dir="t"/>
          </a:scene3d>
          <a:sp3d extrusionH="1635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en-GB"/>
          </a:p>
        </p:txBody>
      </p:sp>
      <p:graphicFrame>
        <p:nvGraphicFramePr>
          <p:cNvPr id="3126" name="Object 54"/>
          <p:cNvGraphicFramePr>
            <a:graphicFrameLocks noChangeAspect="1"/>
          </p:cNvGraphicFramePr>
          <p:nvPr/>
        </p:nvGraphicFramePr>
        <p:xfrm>
          <a:off x="1069975" y="4005263"/>
          <a:ext cx="5080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" name="CS ChemDraw Drawing" r:id="rId7" imgW="698040" imgH="627120" progId="ChemDraw.Document.6.0">
                  <p:embed/>
                </p:oleObj>
              </mc:Choice>
              <mc:Fallback>
                <p:oleObj name="CS ChemDraw Drawing" r:id="rId7" imgW="698040" imgH="627120" progId="ChemDraw.Document.6.0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4005263"/>
                        <a:ext cx="508000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8" name="Group 56"/>
          <p:cNvGrpSpPr>
            <a:grpSpLocks/>
          </p:cNvGrpSpPr>
          <p:nvPr/>
        </p:nvGrpSpPr>
        <p:grpSpPr bwMode="auto">
          <a:xfrm>
            <a:off x="4716463" y="2997200"/>
            <a:ext cx="4176712" cy="1800225"/>
            <a:chOff x="703" y="2069"/>
            <a:chExt cx="3810" cy="1361"/>
          </a:xfrm>
        </p:grpSpPr>
        <p:sp>
          <p:nvSpPr>
            <p:cNvPr id="3129" name="Oval 57"/>
            <p:cNvSpPr>
              <a:spLocks noChangeArrowheads="1"/>
            </p:cNvSpPr>
            <p:nvPr/>
          </p:nvSpPr>
          <p:spPr bwMode="auto">
            <a:xfrm>
              <a:off x="3334" y="2079"/>
              <a:ext cx="726" cy="1133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130" name="Oval 58"/>
            <p:cNvSpPr>
              <a:spLocks noChangeArrowheads="1"/>
            </p:cNvSpPr>
            <p:nvPr/>
          </p:nvSpPr>
          <p:spPr bwMode="auto">
            <a:xfrm>
              <a:off x="2291" y="2069"/>
              <a:ext cx="771" cy="1133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grpSp>
          <p:nvGrpSpPr>
            <p:cNvPr id="3131" name="Group 59"/>
            <p:cNvGrpSpPr>
              <a:grpSpLocks/>
            </p:cNvGrpSpPr>
            <p:nvPr/>
          </p:nvGrpSpPr>
          <p:grpSpPr bwMode="auto">
            <a:xfrm>
              <a:off x="703" y="2851"/>
              <a:ext cx="3810" cy="499"/>
              <a:chOff x="2880" y="2432"/>
              <a:chExt cx="1724" cy="499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auto">
              <a:xfrm flipV="1">
                <a:off x="2880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auto">
              <a:xfrm>
                <a:off x="2880" y="2931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34" name="Line 62"/>
              <p:cNvSpPr>
                <a:spLocks noChangeShapeType="1"/>
              </p:cNvSpPr>
              <p:nvPr/>
            </p:nvSpPr>
            <p:spPr bwMode="auto">
              <a:xfrm>
                <a:off x="3243" y="2432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35" name="Line 63"/>
              <p:cNvSpPr>
                <a:spLocks noChangeShapeType="1"/>
              </p:cNvSpPr>
              <p:nvPr/>
            </p:nvSpPr>
            <p:spPr bwMode="auto">
              <a:xfrm flipV="1">
                <a:off x="4241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3136" name="Object 64"/>
            <p:cNvGraphicFramePr>
              <a:graphicFrameLocks noChangeAspect="1"/>
            </p:cNvGraphicFramePr>
            <p:nvPr/>
          </p:nvGraphicFramePr>
          <p:xfrm>
            <a:off x="2331" y="2148"/>
            <a:ext cx="958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" name="CS ChemDraw Drawing" r:id="rId9" imgW="912240" imgH="1953360" progId="ChemDraw.Document.6.0">
                    <p:embed/>
                  </p:oleObj>
                </mc:Choice>
                <mc:Fallback>
                  <p:oleObj name="CS ChemDraw Drawing" r:id="rId9" imgW="912240" imgH="1953360" progId="ChemDraw.Document.6.0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1" y="2148"/>
                          <a:ext cx="958" cy="1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37" name="Object 65"/>
            <p:cNvGraphicFramePr>
              <a:graphicFrameLocks noChangeAspect="1"/>
            </p:cNvGraphicFramePr>
            <p:nvPr/>
          </p:nvGraphicFramePr>
          <p:xfrm>
            <a:off x="3379" y="2170"/>
            <a:ext cx="802" cy="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" name="CS ChemDraw Drawing" r:id="rId11" imgW="732240" imgH="1996560" progId="ChemDraw.Document.6.0">
                    <p:embed/>
                  </p:oleObj>
                </mc:Choice>
                <mc:Fallback>
                  <p:oleObj name="CS ChemDraw Drawing" r:id="rId11" imgW="732240" imgH="1996560" progId="ChemDraw.Document.6.0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170"/>
                          <a:ext cx="802" cy="1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8" name="Text Box 66"/>
            <p:cNvSpPr txBox="1">
              <a:spLocks noChangeArrowheads="1"/>
            </p:cNvSpPr>
            <p:nvPr/>
          </p:nvSpPr>
          <p:spPr bwMode="auto">
            <a:xfrm>
              <a:off x="2672" y="2988"/>
              <a:ext cx="245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sz="1200" i="1"/>
                <a:t>a</a:t>
              </a:r>
              <a:endParaRPr lang="en-GB" sz="1200" i="1"/>
            </a:p>
          </p:txBody>
        </p:sp>
        <p:sp>
          <p:nvSpPr>
            <p:cNvPr id="3139" name="Oval 67"/>
            <p:cNvSpPr>
              <a:spLocks noChangeArrowheads="1"/>
            </p:cNvSpPr>
            <p:nvPr/>
          </p:nvSpPr>
          <p:spPr bwMode="auto">
            <a:xfrm>
              <a:off x="1202" y="2069"/>
              <a:ext cx="680" cy="1133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grpSp>
          <p:nvGrpSpPr>
            <p:cNvPr id="3140" name="Group 68"/>
            <p:cNvGrpSpPr>
              <a:grpSpLocks noChangeAspect="1"/>
            </p:cNvGrpSpPr>
            <p:nvPr/>
          </p:nvGrpSpPr>
          <p:grpSpPr bwMode="auto">
            <a:xfrm>
              <a:off x="1279" y="2136"/>
              <a:ext cx="2282" cy="1158"/>
              <a:chOff x="2350" y="2239"/>
              <a:chExt cx="2282" cy="1158"/>
            </a:xfrm>
          </p:grpSpPr>
          <p:sp>
            <p:nvSpPr>
              <p:cNvPr id="3141" name="AutoShape 69"/>
              <p:cNvSpPr>
                <a:spLocks noChangeAspect="1" noChangeArrowheads="1" noTextEdit="1"/>
              </p:cNvSpPr>
              <p:nvPr/>
            </p:nvSpPr>
            <p:spPr bwMode="auto">
              <a:xfrm>
                <a:off x="2350" y="2239"/>
                <a:ext cx="2282" cy="1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2" name="Freeform 70"/>
              <p:cNvSpPr>
                <a:spLocks/>
              </p:cNvSpPr>
              <p:nvPr/>
            </p:nvSpPr>
            <p:spPr bwMode="auto">
              <a:xfrm>
                <a:off x="2561" y="2658"/>
                <a:ext cx="226" cy="611"/>
              </a:xfrm>
              <a:custGeom>
                <a:avLst/>
                <a:gdLst>
                  <a:gd name="T0" fmla="*/ 122 w 141"/>
                  <a:gd name="T1" fmla="*/ 662 h 662"/>
                  <a:gd name="T2" fmla="*/ 112 w 141"/>
                  <a:gd name="T3" fmla="*/ 650 h 662"/>
                  <a:gd name="T4" fmla="*/ 88 w 141"/>
                  <a:gd name="T5" fmla="*/ 626 h 662"/>
                  <a:gd name="T6" fmla="*/ 75 w 141"/>
                  <a:gd name="T7" fmla="*/ 614 h 662"/>
                  <a:gd name="T8" fmla="*/ 63 w 141"/>
                  <a:gd name="T9" fmla="*/ 603 h 662"/>
                  <a:gd name="T10" fmla="*/ 39 w 141"/>
                  <a:gd name="T11" fmla="*/ 579 h 662"/>
                  <a:gd name="T12" fmla="*/ 29 w 141"/>
                  <a:gd name="T13" fmla="*/ 568 h 662"/>
                  <a:gd name="T14" fmla="*/ 19 w 141"/>
                  <a:gd name="T15" fmla="*/ 556 h 662"/>
                  <a:gd name="T16" fmla="*/ 11 w 141"/>
                  <a:gd name="T17" fmla="*/ 543 h 662"/>
                  <a:gd name="T18" fmla="*/ 6 w 141"/>
                  <a:gd name="T19" fmla="*/ 531 h 662"/>
                  <a:gd name="T20" fmla="*/ 2 w 141"/>
                  <a:gd name="T21" fmla="*/ 518 h 662"/>
                  <a:gd name="T22" fmla="*/ 0 w 141"/>
                  <a:gd name="T23" fmla="*/ 504 h 662"/>
                  <a:gd name="T24" fmla="*/ 2 w 141"/>
                  <a:gd name="T25" fmla="*/ 490 h 662"/>
                  <a:gd name="T26" fmla="*/ 6 w 141"/>
                  <a:gd name="T27" fmla="*/ 475 h 662"/>
                  <a:gd name="T28" fmla="*/ 14 w 141"/>
                  <a:gd name="T29" fmla="*/ 459 h 662"/>
                  <a:gd name="T30" fmla="*/ 25 w 141"/>
                  <a:gd name="T31" fmla="*/ 444 h 662"/>
                  <a:gd name="T32" fmla="*/ 34 w 141"/>
                  <a:gd name="T33" fmla="*/ 434 h 662"/>
                  <a:gd name="T34" fmla="*/ 45 w 141"/>
                  <a:gd name="T35" fmla="*/ 426 h 662"/>
                  <a:gd name="T36" fmla="*/ 56 w 141"/>
                  <a:gd name="T37" fmla="*/ 419 h 662"/>
                  <a:gd name="T38" fmla="*/ 68 w 141"/>
                  <a:gd name="T39" fmla="*/ 413 h 662"/>
                  <a:gd name="T40" fmla="*/ 79 w 141"/>
                  <a:gd name="T41" fmla="*/ 407 h 662"/>
                  <a:gd name="T42" fmla="*/ 90 w 141"/>
                  <a:gd name="T43" fmla="*/ 400 h 662"/>
                  <a:gd name="T44" fmla="*/ 100 w 141"/>
                  <a:gd name="T45" fmla="*/ 392 h 662"/>
                  <a:gd name="T46" fmla="*/ 109 w 141"/>
                  <a:gd name="T47" fmla="*/ 381 h 662"/>
                  <a:gd name="T48" fmla="*/ 118 w 141"/>
                  <a:gd name="T49" fmla="*/ 364 h 662"/>
                  <a:gd name="T50" fmla="*/ 124 w 141"/>
                  <a:gd name="T51" fmla="*/ 347 h 662"/>
                  <a:gd name="T52" fmla="*/ 127 w 141"/>
                  <a:gd name="T53" fmla="*/ 328 h 662"/>
                  <a:gd name="T54" fmla="*/ 127 w 141"/>
                  <a:gd name="T55" fmla="*/ 310 h 662"/>
                  <a:gd name="T56" fmla="*/ 124 w 141"/>
                  <a:gd name="T57" fmla="*/ 293 h 662"/>
                  <a:gd name="T58" fmla="*/ 118 w 141"/>
                  <a:gd name="T59" fmla="*/ 277 h 662"/>
                  <a:gd name="T60" fmla="*/ 109 w 141"/>
                  <a:gd name="T61" fmla="*/ 263 h 662"/>
                  <a:gd name="T62" fmla="*/ 97 w 141"/>
                  <a:gd name="T63" fmla="*/ 251 h 662"/>
                  <a:gd name="T64" fmla="*/ 85 w 141"/>
                  <a:gd name="T65" fmla="*/ 243 h 662"/>
                  <a:gd name="T66" fmla="*/ 70 w 141"/>
                  <a:gd name="T67" fmla="*/ 236 h 662"/>
                  <a:gd name="T68" fmla="*/ 56 w 141"/>
                  <a:gd name="T69" fmla="*/ 231 h 662"/>
                  <a:gd name="T70" fmla="*/ 43 w 141"/>
                  <a:gd name="T71" fmla="*/ 225 h 662"/>
                  <a:gd name="T72" fmla="*/ 32 w 141"/>
                  <a:gd name="T73" fmla="*/ 219 h 662"/>
                  <a:gd name="T74" fmla="*/ 22 w 141"/>
                  <a:gd name="T75" fmla="*/ 212 h 662"/>
                  <a:gd name="T76" fmla="*/ 16 w 141"/>
                  <a:gd name="T77" fmla="*/ 203 h 662"/>
                  <a:gd name="T78" fmla="*/ 12 w 141"/>
                  <a:gd name="T79" fmla="*/ 190 h 662"/>
                  <a:gd name="T80" fmla="*/ 11 w 141"/>
                  <a:gd name="T81" fmla="*/ 173 h 662"/>
                  <a:gd name="T82" fmla="*/ 13 w 141"/>
                  <a:gd name="T83" fmla="*/ 157 h 662"/>
                  <a:gd name="T84" fmla="*/ 19 w 141"/>
                  <a:gd name="T85" fmla="*/ 143 h 662"/>
                  <a:gd name="T86" fmla="*/ 26 w 141"/>
                  <a:gd name="T87" fmla="*/ 130 h 662"/>
                  <a:gd name="T88" fmla="*/ 37 w 141"/>
                  <a:gd name="T89" fmla="*/ 117 h 662"/>
                  <a:gd name="T90" fmla="*/ 48 w 141"/>
                  <a:gd name="T91" fmla="*/ 105 h 662"/>
                  <a:gd name="T92" fmla="*/ 74 w 141"/>
                  <a:gd name="T93" fmla="*/ 81 h 662"/>
                  <a:gd name="T94" fmla="*/ 88 w 141"/>
                  <a:gd name="T95" fmla="*/ 69 h 662"/>
                  <a:gd name="T96" fmla="*/ 101 w 141"/>
                  <a:gd name="T97" fmla="*/ 56 h 662"/>
                  <a:gd name="T98" fmla="*/ 114 w 141"/>
                  <a:gd name="T99" fmla="*/ 42 h 662"/>
                  <a:gd name="T100" fmla="*/ 126 w 141"/>
                  <a:gd name="T101" fmla="*/ 27 h 662"/>
                  <a:gd name="T102" fmla="*/ 136 w 141"/>
                  <a:gd name="T103" fmla="*/ 10 h 662"/>
                  <a:gd name="T104" fmla="*/ 141 w 141"/>
                  <a:gd name="T10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1" h="662">
                    <a:moveTo>
                      <a:pt x="122" y="662"/>
                    </a:moveTo>
                    <a:lnTo>
                      <a:pt x="112" y="650"/>
                    </a:lnTo>
                    <a:lnTo>
                      <a:pt x="88" y="626"/>
                    </a:lnTo>
                    <a:lnTo>
                      <a:pt x="75" y="614"/>
                    </a:lnTo>
                    <a:lnTo>
                      <a:pt x="63" y="603"/>
                    </a:lnTo>
                    <a:lnTo>
                      <a:pt x="39" y="579"/>
                    </a:lnTo>
                    <a:lnTo>
                      <a:pt x="29" y="568"/>
                    </a:lnTo>
                    <a:lnTo>
                      <a:pt x="19" y="556"/>
                    </a:lnTo>
                    <a:lnTo>
                      <a:pt x="11" y="543"/>
                    </a:lnTo>
                    <a:lnTo>
                      <a:pt x="6" y="531"/>
                    </a:lnTo>
                    <a:lnTo>
                      <a:pt x="2" y="518"/>
                    </a:lnTo>
                    <a:lnTo>
                      <a:pt x="0" y="504"/>
                    </a:lnTo>
                    <a:lnTo>
                      <a:pt x="2" y="490"/>
                    </a:lnTo>
                    <a:lnTo>
                      <a:pt x="6" y="475"/>
                    </a:lnTo>
                    <a:lnTo>
                      <a:pt x="14" y="459"/>
                    </a:lnTo>
                    <a:lnTo>
                      <a:pt x="25" y="444"/>
                    </a:lnTo>
                    <a:lnTo>
                      <a:pt x="34" y="434"/>
                    </a:lnTo>
                    <a:lnTo>
                      <a:pt x="45" y="426"/>
                    </a:lnTo>
                    <a:lnTo>
                      <a:pt x="56" y="419"/>
                    </a:lnTo>
                    <a:lnTo>
                      <a:pt x="68" y="413"/>
                    </a:lnTo>
                    <a:lnTo>
                      <a:pt x="79" y="407"/>
                    </a:lnTo>
                    <a:lnTo>
                      <a:pt x="90" y="400"/>
                    </a:lnTo>
                    <a:lnTo>
                      <a:pt x="100" y="392"/>
                    </a:lnTo>
                    <a:lnTo>
                      <a:pt x="109" y="381"/>
                    </a:lnTo>
                    <a:lnTo>
                      <a:pt x="118" y="364"/>
                    </a:lnTo>
                    <a:lnTo>
                      <a:pt x="124" y="347"/>
                    </a:lnTo>
                    <a:lnTo>
                      <a:pt x="127" y="328"/>
                    </a:lnTo>
                    <a:lnTo>
                      <a:pt x="127" y="310"/>
                    </a:lnTo>
                    <a:lnTo>
                      <a:pt x="124" y="293"/>
                    </a:lnTo>
                    <a:lnTo>
                      <a:pt x="118" y="277"/>
                    </a:lnTo>
                    <a:lnTo>
                      <a:pt x="109" y="263"/>
                    </a:lnTo>
                    <a:lnTo>
                      <a:pt x="97" y="251"/>
                    </a:lnTo>
                    <a:lnTo>
                      <a:pt x="85" y="243"/>
                    </a:lnTo>
                    <a:lnTo>
                      <a:pt x="70" y="236"/>
                    </a:lnTo>
                    <a:lnTo>
                      <a:pt x="56" y="231"/>
                    </a:lnTo>
                    <a:lnTo>
                      <a:pt x="43" y="225"/>
                    </a:lnTo>
                    <a:lnTo>
                      <a:pt x="32" y="219"/>
                    </a:lnTo>
                    <a:lnTo>
                      <a:pt x="22" y="212"/>
                    </a:lnTo>
                    <a:lnTo>
                      <a:pt x="16" y="203"/>
                    </a:lnTo>
                    <a:lnTo>
                      <a:pt x="12" y="190"/>
                    </a:lnTo>
                    <a:lnTo>
                      <a:pt x="11" y="173"/>
                    </a:lnTo>
                    <a:lnTo>
                      <a:pt x="13" y="157"/>
                    </a:lnTo>
                    <a:lnTo>
                      <a:pt x="19" y="143"/>
                    </a:lnTo>
                    <a:lnTo>
                      <a:pt x="26" y="130"/>
                    </a:lnTo>
                    <a:lnTo>
                      <a:pt x="37" y="117"/>
                    </a:lnTo>
                    <a:lnTo>
                      <a:pt x="48" y="105"/>
                    </a:lnTo>
                    <a:lnTo>
                      <a:pt x="74" y="81"/>
                    </a:lnTo>
                    <a:lnTo>
                      <a:pt x="88" y="69"/>
                    </a:lnTo>
                    <a:lnTo>
                      <a:pt x="101" y="56"/>
                    </a:lnTo>
                    <a:lnTo>
                      <a:pt x="114" y="42"/>
                    </a:lnTo>
                    <a:lnTo>
                      <a:pt x="126" y="27"/>
                    </a:lnTo>
                    <a:lnTo>
                      <a:pt x="136" y="10"/>
                    </a:lnTo>
                    <a:lnTo>
                      <a:pt x="14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3" name="Freeform 71"/>
              <p:cNvSpPr>
                <a:spLocks/>
              </p:cNvSpPr>
              <p:nvPr/>
            </p:nvSpPr>
            <p:spPr bwMode="auto">
              <a:xfrm>
                <a:off x="2555" y="2675"/>
                <a:ext cx="231" cy="576"/>
              </a:xfrm>
              <a:custGeom>
                <a:avLst/>
                <a:gdLst>
                  <a:gd name="T0" fmla="*/ 30 w 144"/>
                  <a:gd name="T1" fmla="*/ 625 h 625"/>
                  <a:gd name="T2" fmla="*/ 46 w 144"/>
                  <a:gd name="T3" fmla="*/ 608 h 625"/>
                  <a:gd name="T4" fmla="*/ 62 w 144"/>
                  <a:gd name="T5" fmla="*/ 593 h 625"/>
                  <a:gd name="T6" fmla="*/ 76 w 144"/>
                  <a:gd name="T7" fmla="*/ 580 h 625"/>
                  <a:gd name="T8" fmla="*/ 90 w 144"/>
                  <a:gd name="T9" fmla="*/ 569 h 625"/>
                  <a:gd name="T10" fmla="*/ 102 w 144"/>
                  <a:gd name="T11" fmla="*/ 560 h 625"/>
                  <a:gd name="T12" fmla="*/ 113 w 144"/>
                  <a:gd name="T13" fmla="*/ 551 h 625"/>
                  <a:gd name="T14" fmla="*/ 122 w 144"/>
                  <a:gd name="T15" fmla="*/ 542 h 625"/>
                  <a:gd name="T16" fmla="*/ 130 w 144"/>
                  <a:gd name="T17" fmla="*/ 532 h 625"/>
                  <a:gd name="T18" fmla="*/ 135 w 144"/>
                  <a:gd name="T19" fmla="*/ 521 h 625"/>
                  <a:gd name="T20" fmla="*/ 138 w 144"/>
                  <a:gd name="T21" fmla="*/ 509 h 625"/>
                  <a:gd name="T22" fmla="*/ 138 w 144"/>
                  <a:gd name="T23" fmla="*/ 494 h 625"/>
                  <a:gd name="T24" fmla="*/ 135 w 144"/>
                  <a:gd name="T25" fmla="*/ 477 h 625"/>
                  <a:gd name="T26" fmla="*/ 134 w 144"/>
                  <a:gd name="T27" fmla="*/ 470 h 625"/>
                  <a:gd name="T28" fmla="*/ 127 w 144"/>
                  <a:gd name="T29" fmla="*/ 453 h 625"/>
                  <a:gd name="T30" fmla="*/ 118 w 144"/>
                  <a:gd name="T31" fmla="*/ 438 h 625"/>
                  <a:gd name="T32" fmla="*/ 106 w 144"/>
                  <a:gd name="T33" fmla="*/ 426 h 625"/>
                  <a:gd name="T34" fmla="*/ 93 w 144"/>
                  <a:gd name="T35" fmla="*/ 415 h 625"/>
                  <a:gd name="T36" fmla="*/ 78 w 144"/>
                  <a:gd name="T37" fmla="*/ 406 h 625"/>
                  <a:gd name="T38" fmla="*/ 62 w 144"/>
                  <a:gd name="T39" fmla="*/ 397 h 625"/>
                  <a:gd name="T40" fmla="*/ 47 w 144"/>
                  <a:gd name="T41" fmla="*/ 388 h 625"/>
                  <a:gd name="T42" fmla="*/ 31 w 144"/>
                  <a:gd name="T43" fmla="*/ 379 h 625"/>
                  <a:gd name="T44" fmla="*/ 18 w 144"/>
                  <a:gd name="T45" fmla="*/ 367 h 625"/>
                  <a:gd name="T46" fmla="*/ 9 w 144"/>
                  <a:gd name="T47" fmla="*/ 353 h 625"/>
                  <a:gd name="T48" fmla="*/ 3 w 144"/>
                  <a:gd name="T49" fmla="*/ 337 h 625"/>
                  <a:gd name="T50" fmla="*/ 0 w 144"/>
                  <a:gd name="T51" fmla="*/ 320 h 625"/>
                  <a:gd name="T52" fmla="*/ 1 w 144"/>
                  <a:gd name="T53" fmla="*/ 303 h 625"/>
                  <a:gd name="T54" fmla="*/ 4 w 144"/>
                  <a:gd name="T55" fmla="*/ 286 h 625"/>
                  <a:gd name="T56" fmla="*/ 10 w 144"/>
                  <a:gd name="T57" fmla="*/ 270 h 625"/>
                  <a:gd name="T58" fmla="*/ 19 w 144"/>
                  <a:gd name="T59" fmla="*/ 255 h 625"/>
                  <a:gd name="T60" fmla="*/ 31 w 144"/>
                  <a:gd name="T61" fmla="*/ 244 h 625"/>
                  <a:gd name="T62" fmla="*/ 37 w 144"/>
                  <a:gd name="T63" fmla="*/ 240 h 625"/>
                  <a:gd name="T64" fmla="*/ 50 w 144"/>
                  <a:gd name="T65" fmla="*/ 234 h 625"/>
                  <a:gd name="T66" fmla="*/ 65 w 144"/>
                  <a:gd name="T67" fmla="*/ 228 h 625"/>
                  <a:gd name="T68" fmla="*/ 81 w 144"/>
                  <a:gd name="T69" fmla="*/ 221 h 625"/>
                  <a:gd name="T70" fmla="*/ 98 w 144"/>
                  <a:gd name="T71" fmla="*/ 213 h 625"/>
                  <a:gd name="T72" fmla="*/ 114 w 144"/>
                  <a:gd name="T73" fmla="*/ 204 h 625"/>
                  <a:gd name="T74" fmla="*/ 127 w 144"/>
                  <a:gd name="T75" fmla="*/ 193 h 625"/>
                  <a:gd name="T76" fmla="*/ 138 w 144"/>
                  <a:gd name="T77" fmla="*/ 179 h 625"/>
                  <a:gd name="T78" fmla="*/ 144 w 144"/>
                  <a:gd name="T79" fmla="*/ 162 h 625"/>
                  <a:gd name="T80" fmla="*/ 144 w 144"/>
                  <a:gd name="T81" fmla="*/ 153 h 625"/>
                  <a:gd name="T82" fmla="*/ 143 w 144"/>
                  <a:gd name="T83" fmla="*/ 131 h 625"/>
                  <a:gd name="T84" fmla="*/ 139 w 144"/>
                  <a:gd name="T85" fmla="*/ 112 h 625"/>
                  <a:gd name="T86" fmla="*/ 132 w 144"/>
                  <a:gd name="T87" fmla="*/ 96 h 625"/>
                  <a:gd name="T88" fmla="*/ 123 w 144"/>
                  <a:gd name="T89" fmla="*/ 82 h 625"/>
                  <a:gd name="T90" fmla="*/ 113 w 144"/>
                  <a:gd name="T91" fmla="*/ 70 h 625"/>
                  <a:gd name="T92" fmla="*/ 101 w 144"/>
                  <a:gd name="T93" fmla="*/ 59 h 625"/>
                  <a:gd name="T94" fmla="*/ 88 w 144"/>
                  <a:gd name="T95" fmla="*/ 48 h 625"/>
                  <a:gd name="T96" fmla="*/ 75 w 144"/>
                  <a:gd name="T97" fmla="*/ 38 h 625"/>
                  <a:gd name="T98" fmla="*/ 49 w 144"/>
                  <a:gd name="T99" fmla="*/ 16 h 625"/>
                  <a:gd name="T100" fmla="*/ 37 w 144"/>
                  <a:gd name="T101" fmla="*/ 3 h 625"/>
                  <a:gd name="T102" fmla="*/ 34 w 144"/>
                  <a:gd name="T103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44" h="625">
                    <a:moveTo>
                      <a:pt x="30" y="625"/>
                    </a:moveTo>
                    <a:lnTo>
                      <a:pt x="46" y="608"/>
                    </a:lnTo>
                    <a:lnTo>
                      <a:pt x="62" y="593"/>
                    </a:lnTo>
                    <a:lnTo>
                      <a:pt x="76" y="580"/>
                    </a:lnTo>
                    <a:lnTo>
                      <a:pt x="90" y="569"/>
                    </a:lnTo>
                    <a:lnTo>
                      <a:pt x="102" y="560"/>
                    </a:lnTo>
                    <a:lnTo>
                      <a:pt x="113" y="551"/>
                    </a:lnTo>
                    <a:lnTo>
                      <a:pt x="122" y="542"/>
                    </a:lnTo>
                    <a:lnTo>
                      <a:pt x="130" y="532"/>
                    </a:lnTo>
                    <a:lnTo>
                      <a:pt x="135" y="521"/>
                    </a:lnTo>
                    <a:lnTo>
                      <a:pt x="138" y="509"/>
                    </a:lnTo>
                    <a:lnTo>
                      <a:pt x="138" y="494"/>
                    </a:lnTo>
                    <a:lnTo>
                      <a:pt x="135" y="477"/>
                    </a:lnTo>
                    <a:lnTo>
                      <a:pt x="134" y="470"/>
                    </a:lnTo>
                    <a:lnTo>
                      <a:pt x="127" y="453"/>
                    </a:lnTo>
                    <a:lnTo>
                      <a:pt x="118" y="438"/>
                    </a:lnTo>
                    <a:lnTo>
                      <a:pt x="106" y="426"/>
                    </a:lnTo>
                    <a:lnTo>
                      <a:pt x="93" y="415"/>
                    </a:lnTo>
                    <a:lnTo>
                      <a:pt x="78" y="406"/>
                    </a:lnTo>
                    <a:lnTo>
                      <a:pt x="62" y="397"/>
                    </a:lnTo>
                    <a:lnTo>
                      <a:pt x="47" y="388"/>
                    </a:lnTo>
                    <a:lnTo>
                      <a:pt x="31" y="379"/>
                    </a:lnTo>
                    <a:lnTo>
                      <a:pt x="18" y="367"/>
                    </a:lnTo>
                    <a:lnTo>
                      <a:pt x="9" y="353"/>
                    </a:lnTo>
                    <a:lnTo>
                      <a:pt x="3" y="337"/>
                    </a:lnTo>
                    <a:lnTo>
                      <a:pt x="0" y="320"/>
                    </a:lnTo>
                    <a:lnTo>
                      <a:pt x="1" y="303"/>
                    </a:lnTo>
                    <a:lnTo>
                      <a:pt x="4" y="286"/>
                    </a:lnTo>
                    <a:lnTo>
                      <a:pt x="10" y="270"/>
                    </a:lnTo>
                    <a:lnTo>
                      <a:pt x="19" y="255"/>
                    </a:lnTo>
                    <a:lnTo>
                      <a:pt x="31" y="244"/>
                    </a:lnTo>
                    <a:lnTo>
                      <a:pt x="37" y="240"/>
                    </a:lnTo>
                    <a:lnTo>
                      <a:pt x="50" y="234"/>
                    </a:lnTo>
                    <a:lnTo>
                      <a:pt x="65" y="228"/>
                    </a:lnTo>
                    <a:lnTo>
                      <a:pt x="81" y="221"/>
                    </a:lnTo>
                    <a:lnTo>
                      <a:pt x="98" y="213"/>
                    </a:lnTo>
                    <a:lnTo>
                      <a:pt x="114" y="204"/>
                    </a:lnTo>
                    <a:lnTo>
                      <a:pt x="127" y="193"/>
                    </a:lnTo>
                    <a:lnTo>
                      <a:pt x="138" y="179"/>
                    </a:lnTo>
                    <a:lnTo>
                      <a:pt x="144" y="162"/>
                    </a:lnTo>
                    <a:lnTo>
                      <a:pt x="144" y="153"/>
                    </a:lnTo>
                    <a:lnTo>
                      <a:pt x="143" y="131"/>
                    </a:lnTo>
                    <a:lnTo>
                      <a:pt x="139" y="112"/>
                    </a:lnTo>
                    <a:lnTo>
                      <a:pt x="132" y="96"/>
                    </a:lnTo>
                    <a:lnTo>
                      <a:pt x="123" y="82"/>
                    </a:lnTo>
                    <a:lnTo>
                      <a:pt x="113" y="70"/>
                    </a:lnTo>
                    <a:lnTo>
                      <a:pt x="101" y="59"/>
                    </a:lnTo>
                    <a:lnTo>
                      <a:pt x="88" y="48"/>
                    </a:lnTo>
                    <a:lnTo>
                      <a:pt x="75" y="38"/>
                    </a:lnTo>
                    <a:lnTo>
                      <a:pt x="49" y="16"/>
                    </a:lnTo>
                    <a:lnTo>
                      <a:pt x="37" y="3"/>
                    </a:lnTo>
                    <a:lnTo>
                      <a:pt x="34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4" name="Line 72"/>
              <p:cNvSpPr>
                <a:spLocks noChangeShapeType="1"/>
              </p:cNvSpPr>
              <p:nvPr/>
            </p:nvSpPr>
            <p:spPr bwMode="auto">
              <a:xfrm flipH="1">
                <a:off x="2571" y="3101"/>
                <a:ext cx="50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5" name="Line 73"/>
              <p:cNvSpPr>
                <a:spLocks noChangeShapeType="1"/>
              </p:cNvSpPr>
              <p:nvPr/>
            </p:nvSpPr>
            <p:spPr bwMode="auto">
              <a:xfrm flipH="1">
                <a:off x="2573" y="3151"/>
                <a:ext cx="6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6" name="Line 74"/>
              <p:cNvSpPr>
                <a:spLocks noChangeShapeType="1"/>
              </p:cNvSpPr>
              <p:nvPr/>
            </p:nvSpPr>
            <p:spPr bwMode="auto">
              <a:xfrm flipH="1">
                <a:off x="2563" y="3126"/>
                <a:ext cx="77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7" name="Line 75"/>
              <p:cNvSpPr>
                <a:spLocks noChangeShapeType="1"/>
              </p:cNvSpPr>
              <p:nvPr/>
            </p:nvSpPr>
            <p:spPr bwMode="auto">
              <a:xfrm flipH="1">
                <a:off x="2598" y="3174"/>
                <a:ext cx="48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8" name="Line 76"/>
              <p:cNvSpPr>
                <a:spLocks noChangeShapeType="1"/>
              </p:cNvSpPr>
              <p:nvPr/>
            </p:nvSpPr>
            <p:spPr bwMode="auto">
              <a:xfrm>
                <a:off x="2710" y="3099"/>
                <a:ext cx="53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9" name="Line 77"/>
              <p:cNvSpPr>
                <a:spLocks noChangeShapeType="1"/>
              </p:cNvSpPr>
              <p:nvPr/>
            </p:nvSpPr>
            <p:spPr bwMode="auto">
              <a:xfrm>
                <a:off x="2710" y="3150"/>
                <a:ext cx="63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0" name="Freeform 78"/>
              <p:cNvSpPr>
                <a:spLocks/>
              </p:cNvSpPr>
              <p:nvPr/>
            </p:nvSpPr>
            <p:spPr bwMode="auto">
              <a:xfrm>
                <a:off x="2717" y="3169"/>
                <a:ext cx="40" cy="1"/>
              </a:xfrm>
              <a:custGeom>
                <a:avLst/>
                <a:gdLst>
                  <a:gd name="T0" fmla="*/ 0 w 25"/>
                  <a:gd name="T1" fmla="*/ 1 h 1"/>
                  <a:gd name="T2" fmla="*/ 8 w 25"/>
                  <a:gd name="T3" fmla="*/ 1 h 1"/>
                  <a:gd name="T4" fmla="*/ 13 w 25"/>
                  <a:gd name="T5" fmla="*/ 0 h 1"/>
                  <a:gd name="T6" fmla="*/ 25 w 25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1">
                    <a:moveTo>
                      <a:pt x="0" y="1"/>
                    </a:moveTo>
                    <a:lnTo>
                      <a:pt x="8" y="1"/>
                    </a:lnTo>
                    <a:lnTo>
                      <a:pt x="13" y="0"/>
                    </a:lnTo>
                    <a:lnTo>
                      <a:pt x="25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1" name="Line 79"/>
              <p:cNvSpPr>
                <a:spLocks noChangeShapeType="1"/>
              </p:cNvSpPr>
              <p:nvPr/>
            </p:nvSpPr>
            <p:spPr bwMode="auto">
              <a:xfrm flipH="1">
                <a:off x="2701" y="3125"/>
                <a:ext cx="73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2" name="Line 80"/>
              <p:cNvSpPr>
                <a:spLocks noChangeShapeType="1"/>
              </p:cNvSpPr>
              <p:nvPr/>
            </p:nvSpPr>
            <p:spPr bwMode="auto">
              <a:xfrm>
                <a:off x="2566" y="2931"/>
                <a:ext cx="50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3" name="Line 81"/>
              <p:cNvSpPr>
                <a:spLocks noChangeShapeType="1"/>
              </p:cNvSpPr>
              <p:nvPr/>
            </p:nvSpPr>
            <p:spPr bwMode="auto">
              <a:xfrm>
                <a:off x="2560" y="2981"/>
                <a:ext cx="6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4" name="Line 82"/>
              <p:cNvSpPr>
                <a:spLocks noChangeShapeType="1"/>
              </p:cNvSpPr>
              <p:nvPr/>
            </p:nvSpPr>
            <p:spPr bwMode="auto">
              <a:xfrm>
                <a:off x="2558" y="2953"/>
                <a:ext cx="77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5" name="Freeform 83"/>
              <p:cNvSpPr>
                <a:spLocks/>
              </p:cNvSpPr>
              <p:nvPr/>
            </p:nvSpPr>
            <p:spPr bwMode="auto">
              <a:xfrm>
                <a:off x="2577" y="3007"/>
                <a:ext cx="48" cy="1"/>
              </a:xfrm>
              <a:custGeom>
                <a:avLst/>
                <a:gdLst>
                  <a:gd name="T0" fmla="*/ 0 w 30"/>
                  <a:gd name="T1" fmla="*/ 1 h 1"/>
                  <a:gd name="T2" fmla="*/ 25 w 30"/>
                  <a:gd name="T3" fmla="*/ 1 h 1"/>
                  <a:gd name="T4" fmla="*/ 29 w 30"/>
                  <a:gd name="T5" fmla="*/ 0 h 1"/>
                  <a:gd name="T6" fmla="*/ 30 w 30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1">
                    <a:moveTo>
                      <a:pt x="0" y="1"/>
                    </a:moveTo>
                    <a:lnTo>
                      <a:pt x="25" y="1"/>
                    </a:lnTo>
                    <a:lnTo>
                      <a:pt x="29" y="0"/>
                    </a:lnTo>
                    <a:lnTo>
                      <a:pt x="30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6" name="Line 84"/>
              <p:cNvSpPr>
                <a:spLocks noChangeShapeType="1"/>
              </p:cNvSpPr>
              <p:nvPr/>
            </p:nvSpPr>
            <p:spPr bwMode="auto">
              <a:xfrm flipH="1">
                <a:off x="2707" y="2931"/>
                <a:ext cx="53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7" name="Line 85"/>
              <p:cNvSpPr>
                <a:spLocks noChangeShapeType="1"/>
              </p:cNvSpPr>
              <p:nvPr/>
            </p:nvSpPr>
            <p:spPr bwMode="auto">
              <a:xfrm flipH="1">
                <a:off x="2691" y="2985"/>
                <a:ext cx="6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8" name="Line 86"/>
              <p:cNvSpPr>
                <a:spLocks noChangeShapeType="1"/>
              </p:cNvSpPr>
              <p:nvPr/>
            </p:nvSpPr>
            <p:spPr bwMode="auto">
              <a:xfrm>
                <a:off x="2696" y="3009"/>
                <a:ext cx="40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59" name="Line 87"/>
              <p:cNvSpPr>
                <a:spLocks noChangeShapeType="1"/>
              </p:cNvSpPr>
              <p:nvPr/>
            </p:nvSpPr>
            <p:spPr bwMode="auto">
              <a:xfrm flipH="1">
                <a:off x="2691" y="2957"/>
                <a:ext cx="72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0" name="Line 88"/>
              <p:cNvSpPr>
                <a:spLocks noChangeShapeType="1"/>
              </p:cNvSpPr>
              <p:nvPr/>
            </p:nvSpPr>
            <p:spPr bwMode="auto">
              <a:xfrm flipH="1">
                <a:off x="2720" y="2775"/>
                <a:ext cx="53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1" name="Line 89"/>
              <p:cNvSpPr>
                <a:spLocks noChangeShapeType="1"/>
              </p:cNvSpPr>
              <p:nvPr/>
            </p:nvSpPr>
            <p:spPr bwMode="auto">
              <a:xfrm flipH="1">
                <a:off x="2720" y="2822"/>
                <a:ext cx="6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2" name="Line 90"/>
              <p:cNvSpPr>
                <a:spLocks noChangeShapeType="1"/>
              </p:cNvSpPr>
              <p:nvPr/>
            </p:nvSpPr>
            <p:spPr bwMode="auto">
              <a:xfrm flipH="1">
                <a:off x="2728" y="2845"/>
                <a:ext cx="40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3" name="Line 91"/>
              <p:cNvSpPr>
                <a:spLocks noChangeShapeType="1"/>
              </p:cNvSpPr>
              <p:nvPr/>
            </p:nvSpPr>
            <p:spPr bwMode="auto">
              <a:xfrm flipH="1">
                <a:off x="2707" y="2797"/>
                <a:ext cx="7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4" name="Line 92"/>
              <p:cNvSpPr>
                <a:spLocks noChangeShapeType="1"/>
              </p:cNvSpPr>
              <p:nvPr/>
            </p:nvSpPr>
            <p:spPr bwMode="auto">
              <a:xfrm>
                <a:off x="2600" y="2784"/>
                <a:ext cx="56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5" name="Line 93"/>
              <p:cNvSpPr>
                <a:spLocks noChangeShapeType="1"/>
              </p:cNvSpPr>
              <p:nvPr/>
            </p:nvSpPr>
            <p:spPr bwMode="auto">
              <a:xfrm>
                <a:off x="2582" y="2807"/>
                <a:ext cx="77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6" name="Line 94"/>
              <p:cNvSpPr>
                <a:spLocks noChangeShapeType="1"/>
              </p:cNvSpPr>
              <p:nvPr/>
            </p:nvSpPr>
            <p:spPr bwMode="auto">
              <a:xfrm>
                <a:off x="2600" y="2855"/>
                <a:ext cx="48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7" name="Line 95"/>
              <p:cNvSpPr>
                <a:spLocks noChangeShapeType="1"/>
              </p:cNvSpPr>
              <p:nvPr/>
            </p:nvSpPr>
            <p:spPr bwMode="auto">
              <a:xfrm flipH="1">
                <a:off x="2582" y="2831"/>
                <a:ext cx="64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8" name="Line 96"/>
              <p:cNvSpPr>
                <a:spLocks noChangeShapeType="1"/>
              </p:cNvSpPr>
              <p:nvPr/>
            </p:nvSpPr>
            <p:spPr bwMode="auto">
              <a:xfrm>
                <a:off x="2435" y="2344"/>
                <a:ext cx="190" cy="10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69" name="Line 97"/>
              <p:cNvSpPr>
                <a:spLocks noChangeShapeType="1"/>
              </p:cNvSpPr>
              <p:nvPr/>
            </p:nvSpPr>
            <p:spPr bwMode="auto">
              <a:xfrm flipV="1">
                <a:off x="2625" y="2316"/>
                <a:ext cx="55" cy="128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70" name="Line 98"/>
              <p:cNvSpPr>
                <a:spLocks noChangeShapeType="1"/>
              </p:cNvSpPr>
              <p:nvPr/>
            </p:nvSpPr>
            <p:spPr bwMode="auto">
              <a:xfrm flipH="1">
                <a:off x="2435" y="2316"/>
                <a:ext cx="245" cy="28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71" name="Rectangle 99"/>
              <p:cNvSpPr>
                <a:spLocks noChangeArrowheads="1"/>
              </p:cNvSpPr>
              <p:nvPr/>
            </p:nvSpPr>
            <p:spPr bwMode="auto">
              <a:xfrm>
                <a:off x="2480" y="2519"/>
                <a:ext cx="47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Times New Roman" pitchFamily="18" charset="0"/>
                  </a:rPr>
                  <a:t>(</a:t>
                </a:r>
                <a:endParaRPr lang="en-GB"/>
              </a:p>
            </p:txBody>
          </p:sp>
          <p:sp>
            <p:nvSpPr>
              <p:cNvPr id="3172" name="Rectangle 100"/>
              <p:cNvSpPr>
                <a:spLocks noChangeArrowheads="1"/>
              </p:cNvSpPr>
              <p:nvPr/>
            </p:nvSpPr>
            <p:spPr bwMode="auto">
              <a:xfrm>
                <a:off x="2534" y="2519"/>
                <a:ext cx="100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endParaRPr lang="en-GB"/>
              </a:p>
            </p:txBody>
          </p:sp>
          <p:sp>
            <p:nvSpPr>
              <p:cNvPr id="3173" name="Rectangle 101"/>
              <p:cNvSpPr>
                <a:spLocks noChangeArrowheads="1"/>
              </p:cNvSpPr>
              <p:nvPr/>
            </p:nvSpPr>
            <p:spPr bwMode="auto">
              <a:xfrm>
                <a:off x="2651" y="2519"/>
                <a:ext cx="100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endParaRPr lang="en-GB"/>
              </a:p>
            </p:txBody>
          </p:sp>
          <p:sp>
            <p:nvSpPr>
              <p:cNvPr id="3174" name="Rectangle 102"/>
              <p:cNvSpPr>
                <a:spLocks noChangeArrowheads="1"/>
              </p:cNvSpPr>
              <p:nvPr/>
            </p:nvSpPr>
            <p:spPr bwMode="auto">
              <a:xfrm>
                <a:off x="2766" y="2519"/>
                <a:ext cx="46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Times New Roman" pitchFamily="18" charset="0"/>
                  </a:rPr>
                  <a:t>)</a:t>
                </a:r>
                <a:endParaRPr lang="en-GB"/>
              </a:p>
            </p:txBody>
          </p:sp>
          <p:sp>
            <p:nvSpPr>
              <p:cNvPr id="3175" name="Rectangle 103"/>
              <p:cNvSpPr>
                <a:spLocks noChangeArrowheads="1"/>
              </p:cNvSpPr>
              <p:nvPr/>
            </p:nvSpPr>
            <p:spPr bwMode="auto">
              <a:xfrm>
                <a:off x="2818" y="2519"/>
                <a:ext cx="69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1200">
                    <a:solidFill>
                      <a:srgbClr val="000000"/>
                    </a:solidFill>
                    <a:latin typeface="Times New Roman" pitchFamily="18" charset="0"/>
                  </a:rPr>
                  <a:t>n</a:t>
                </a:r>
                <a:endParaRPr lang="en-GB"/>
              </a:p>
            </p:txBody>
          </p:sp>
          <p:sp>
            <p:nvSpPr>
              <p:cNvPr id="3176" name="Line 104"/>
              <p:cNvSpPr>
                <a:spLocks noChangeShapeType="1"/>
              </p:cNvSpPr>
              <p:nvPr/>
            </p:nvSpPr>
            <p:spPr bwMode="auto">
              <a:xfrm flipV="1">
                <a:off x="2579" y="2444"/>
                <a:ext cx="46" cy="6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77" name="Line 105"/>
              <p:cNvSpPr>
                <a:spLocks noChangeShapeType="1"/>
              </p:cNvSpPr>
              <p:nvPr/>
            </p:nvSpPr>
            <p:spPr bwMode="auto">
              <a:xfrm flipV="1">
                <a:off x="2611" y="2610"/>
                <a:ext cx="1" cy="7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3196" name="Text Box 124"/>
          <p:cNvSpPr txBox="1">
            <a:spLocks noChangeArrowheads="1"/>
          </p:cNvSpPr>
          <p:nvPr/>
        </p:nvSpPr>
        <p:spPr bwMode="auto">
          <a:xfrm>
            <a:off x="6011863" y="2217738"/>
            <a:ext cx="20875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s-ES" sz="1200"/>
              <a:t>DNA-PNA microarray 2D</a:t>
            </a:r>
            <a:endParaRPr lang="en-GB" sz="1200"/>
          </a:p>
        </p:txBody>
      </p:sp>
      <p:sp>
        <p:nvSpPr>
          <p:cNvPr id="3197" name="Line 125"/>
          <p:cNvSpPr>
            <a:spLocks noChangeShapeType="1"/>
          </p:cNvSpPr>
          <p:nvPr/>
        </p:nvSpPr>
        <p:spPr bwMode="auto">
          <a:xfrm>
            <a:off x="4284663" y="1687513"/>
            <a:ext cx="6492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98" name="Text Box 126"/>
          <p:cNvSpPr txBox="1">
            <a:spLocks noChangeArrowheads="1"/>
          </p:cNvSpPr>
          <p:nvPr/>
        </p:nvSpPr>
        <p:spPr bwMode="auto">
          <a:xfrm>
            <a:off x="3851275" y="1819275"/>
            <a:ext cx="106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s-ES" sz="1200"/>
              <a:t>Hybridization</a:t>
            </a:r>
          </a:p>
          <a:p>
            <a:pPr algn="ctr"/>
            <a:r>
              <a:rPr lang="es-ES" sz="1200"/>
              <a:t>on the chip</a:t>
            </a:r>
            <a:endParaRPr lang="en-GB" sz="1200"/>
          </a:p>
        </p:txBody>
      </p:sp>
      <p:graphicFrame>
        <p:nvGraphicFramePr>
          <p:cNvPr id="3184" name="Object 112"/>
          <p:cNvGraphicFramePr>
            <a:graphicFrameLocks noChangeAspect="1"/>
          </p:cNvGraphicFramePr>
          <p:nvPr/>
        </p:nvGraphicFramePr>
        <p:xfrm>
          <a:off x="792163" y="571500"/>
          <a:ext cx="377825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" name="CS ChemDraw Drawing" r:id="rId13" imgW="251640" imgH="1199160" progId="ChemDraw.Document.6.0">
                  <p:embed/>
                </p:oleObj>
              </mc:Choice>
              <mc:Fallback>
                <p:oleObj name="CS ChemDraw Drawing" r:id="rId13" imgW="251640" imgH="1199160" progId="ChemDraw.Document.6.0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571500"/>
                        <a:ext cx="377825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6" name="Object 114"/>
          <p:cNvGraphicFramePr>
            <a:graphicFrameLocks noChangeAspect="1"/>
          </p:cNvGraphicFramePr>
          <p:nvPr/>
        </p:nvGraphicFramePr>
        <p:xfrm>
          <a:off x="3222625" y="571500"/>
          <a:ext cx="379413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" name="CS ChemDraw Drawing" r:id="rId15" imgW="251640" imgH="1199160" progId="ChemDraw.Document.6.0">
                  <p:embed/>
                </p:oleObj>
              </mc:Choice>
              <mc:Fallback>
                <p:oleObj name="CS ChemDraw Drawing" r:id="rId15" imgW="251640" imgH="1199160" progId="ChemDraw.Document.6.0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5" y="571500"/>
                        <a:ext cx="379413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9" name="Text Box 127"/>
          <p:cNvSpPr txBox="1">
            <a:spLocks noChangeArrowheads="1"/>
          </p:cNvSpPr>
          <p:nvPr/>
        </p:nvSpPr>
        <p:spPr bwMode="auto">
          <a:xfrm>
            <a:off x="1117600" y="15684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a</a:t>
            </a:r>
            <a:endParaRPr lang="en-GB" sz="1200" i="1"/>
          </a:p>
        </p:txBody>
      </p:sp>
      <p:sp>
        <p:nvSpPr>
          <p:cNvPr id="3200" name="Text Box 128"/>
          <p:cNvSpPr txBox="1">
            <a:spLocks noChangeArrowheads="1"/>
          </p:cNvSpPr>
          <p:nvPr/>
        </p:nvSpPr>
        <p:spPr bwMode="auto">
          <a:xfrm>
            <a:off x="2335213" y="1557338"/>
            <a:ext cx="268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b</a:t>
            </a:r>
            <a:endParaRPr lang="en-GB" sz="1200" i="1"/>
          </a:p>
        </p:txBody>
      </p:sp>
      <p:sp>
        <p:nvSpPr>
          <p:cNvPr id="3201" name="Text Box 129"/>
          <p:cNvSpPr txBox="1">
            <a:spLocks noChangeArrowheads="1"/>
          </p:cNvSpPr>
          <p:nvPr/>
        </p:nvSpPr>
        <p:spPr bwMode="auto">
          <a:xfrm>
            <a:off x="3492500" y="1544638"/>
            <a:ext cx="2619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c</a:t>
            </a:r>
            <a:endParaRPr lang="en-GB" sz="1200" i="1"/>
          </a:p>
        </p:txBody>
      </p:sp>
      <p:grpSp>
        <p:nvGrpSpPr>
          <p:cNvPr id="3209" name="Group 137"/>
          <p:cNvGrpSpPr>
            <a:grpSpLocks/>
          </p:cNvGrpSpPr>
          <p:nvPr/>
        </p:nvGrpSpPr>
        <p:grpSpPr bwMode="auto">
          <a:xfrm>
            <a:off x="4862513" y="346075"/>
            <a:ext cx="4246562" cy="1827213"/>
            <a:chOff x="3469" y="10"/>
            <a:chExt cx="1724" cy="1260"/>
          </a:xfrm>
        </p:grpSpPr>
        <p:grpSp>
          <p:nvGrpSpPr>
            <p:cNvPr id="3187" name="Group 115"/>
            <p:cNvGrpSpPr>
              <a:grpSpLocks/>
            </p:cNvGrpSpPr>
            <p:nvPr/>
          </p:nvGrpSpPr>
          <p:grpSpPr bwMode="auto">
            <a:xfrm>
              <a:off x="3469" y="737"/>
              <a:ext cx="1724" cy="499"/>
              <a:chOff x="2880" y="2432"/>
              <a:chExt cx="1724" cy="499"/>
            </a:xfrm>
          </p:grpSpPr>
          <p:sp>
            <p:nvSpPr>
              <p:cNvPr id="3188" name="Line 116"/>
              <p:cNvSpPr>
                <a:spLocks noChangeShapeType="1"/>
              </p:cNvSpPr>
              <p:nvPr/>
            </p:nvSpPr>
            <p:spPr bwMode="auto">
              <a:xfrm flipV="1">
                <a:off x="2880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89" name="Line 117"/>
              <p:cNvSpPr>
                <a:spLocks noChangeShapeType="1"/>
              </p:cNvSpPr>
              <p:nvPr/>
            </p:nvSpPr>
            <p:spPr bwMode="auto">
              <a:xfrm>
                <a:off x="2880" y="2931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90" name="Line 118"/>
              <p:cNvSpPr>
                <a:spLocks noChangeShapeType="1"/>
              </p:cNvSpPr>
              <p:nvPr/>
            </p:nvSpPr>
            <p:spPr bwMode="auto">
              <a:xfrm>
                <a:off x="3243" y="2432"/>
                <a:ext cx="13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91" name="Line 119"/>
              <p:cNvSpPr>
                <a:spLocks noChangeShapeType="1"/>
              </p:cNvSpPr>
              <p:nvPr/>
            </p:nvSpPr>
            <p:spPr bwMode="auto">
              <a:xfrm flipV="1">
                <a:off x="4241" y="2432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3192" name="Object 120"/>
            <p:cNvGraphicFramePr>
              <a:graphicFrameLocks noChangeAspect="1"/>
            </p:cNvGraphicFramePr>
            <p:nvPr/>
          </p:nvGraphicFramePr>
          <p:xfrm>
            <a:off x="3744" y="34"/>
            <a:ext cx="1314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" name="CS ChemDraw Drawing" r:id="rId16" imgW="2171160" imgH="1913400" progId="ChemDraw.Document.6.0">
                    <p:embed/>
                  </p:oleObj>
                </mc:Choice>
                <mc:Fallback>
                  <p:oleObj name="CS ChemDraw Drawing" r:id="rId16" imgW="2171160" imgH="1913400" progId="ChemDraw.Document.6.0">
                    <p:embed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4"/>
                          <a:ext cx="1314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93" name="Object 121"/>
            <p:cNvGraphicFramePr>
              <a:graphicFrameLocks noChangeAspect="1"/>
            </p:cNvGraphicFramePr>
            <p:nvPr/>
          </p:nvGraphicFramePr>
          <p:xfrm>
            <a:off x="4141" y="34"/>
            <a:ext cx="552" cy="1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" name="CS ChemDraw Drawing" r:id="rId18" imgW="912240" imgH="1953360" progId="ChemDraw.Document.6.0">
                    <p:embed/>
                  </p:oleObj>
                </mc:Choice>
                <mc:Fallback>
                  <p:oleObj name="CS ChemDraw Drawing" r:id="rId18" imgW="912240" imgH="1953360" progId="ChemDraw.Document.6.0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1" y="34"/>
                          <a:ext cx="552" cy="1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94" name="Object 122"/>
            <p:cNvGraphicFramePr>
              <a:graphicFrameLocks noChangeAspect="1"/>
            </p:cNvGraphicFramePr>
            <p:nvPr/>
          </p:nvGraphicFramePr>
          <p:xfrm>
            <a:off x="4557" y="10"/>
            <a:ext cx="462" cy="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" name="CS ChemDraw Drawing" r:id="rId20" imgW="732240" imgH="1996560" progId="ChemDraw.Document.6.0">
                    <p:embed/>
                  </p:oleObj>
                </mc:Choice>
                <mc:Fallback>
                  <p:oleObj name="CS ChemDraw Drawing" r:id="rId20" imgW="732240" imgH="1996560" progId="ChemDraw.Document.6.0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7" y="10"/>
                          <a:ext cx="462" cy="1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02" name="Text Box 130"/>
            <p:cNvSpPr txBox="1">
              <a:spLocks noChangeArrowheads="1"/>
            </p:cNvSpPr>
            <p:nvPr/>
          </p:nvSpPr>
          <p:spPr bwMode="auto">
            <a:xfrm>
              <a:off x="3968" y="874"/>
              <a:ext cx="109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sz="1200" i="1"/>
                <a:t>a</a:t>
              </a:r>
              <a:endParaRPr lang="en-GB" sz="1200" i="1"/>
            </a:p>
          </p:txBody>
        </p:sp>
        <p:sp>
          <p:nvSpPr>
            <p:cNvPr id="3203" name="Text Box 131"/>
            <p:cNvSpPr txBox="1">
              <a:spLocks noChangeArrowheads="1"/>
            </p:cNvSpPr>
            <p:nvPr/>
          </p:nvSpPr>
          <p:spPr bwMode="auto">
            <a:xfrm>
              <a:off x="4421" y="874"/>
              <a:ext cx="109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sz="1200" i="1"/>
                <a:t>b</a:t>
              </a:r>
              <a:endParaRPr lang="en-GB" sz="1200" i="1"/>
            </a:p>
          </p:txBody>
        </p:sp>
        <p:sp>
          <p:nvSpPr>
            <p:cNvPr id="3204" name="Text Box 132"/>
            <p:cNvSpPr txBox="1">
              <a:spLocks noChangeArrowheads="1"/>
            </p:cNvSpPr>
            <p:nvPr/>
          </p:nvSpPr>
          <p:spPr bwMode="auto">
            <a:xfrm>
              <a:off x="4892" y="882"/>
              <a:ext cx="10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sz="1200" i="1"/>
                <a:t>c</a:t>
              </a:r>
              <a:endParaRPr lang="en-GB" sz="1200" i="1"/>
            </a:p>
          </p:txBody>
        </p:sp>
      </p:grpSp>
      <p:sp>
        <p:nvSpPr>
          <p:cNvPr id="3205" name="Line 133"/>
          <p:cNvSpPr>
            <a:spLocks noChangeShapeType="1"/>
          </p:cNvSpPr>
          <p:nvPr/>
        </p:nvSpPr>
        <p:spPr bwMode="auto">
          <a:xfrm>
            <a:off x="1979613" y="4941888"/>
            <a:ext cx="0" cy="7191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06" name="Text Box 134"/>
          <p:cNvSpPr txBox="1">
            <a:spLocks noChangeArrowheads="1"/>
          </p:cNvSpPr>
          <p:nvPr/>
        </p:nvSpPr>
        <p:spPr bwMode="auto">
          <a:xfrm>
            <a:off x="2044700" y="5080000"/>
            <a:ext cx="9429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Cell culture</a:t>
            </a:r>
            <a:endParaRPr lang="en-GB" sz="1200" i="1"/>
          </a:p>
        </p:txBody>
      </p:sp>
      <p:sp>
        <p:nvSpPr>
          <p:cNvPr id="3210" name="Line 138"/>
          <p:cNvSpPr>
            <a:spLocks noChangeShapeType="1"/>
          </p:cNvSpPr>
          <p:nvPr/>
        </p:nvSpPr>
        <p:spPr bwMode="auto">
          <a:xfrm>
            <a:off x="7019925" y="2492375"/>
            <a:ext cx="0" cy="43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11" name="Text Box 139"/>
          <p:cNvSpPr txBox="1">
            <a:spLocks noChangeArrowheads="1"/>
          </p:cNvSpPr>
          <p:nvPr/>
        </p:nvSpPr>
        <p:spPr bwMode="auto">
          <a:xfrm>
            <a:off x="7072313" y="2578100"/>
            <a:ext cx="131603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Polymer spotting</a:t>
            </a:r>
            <a:endParaRPr lang="en-GB" sz="1200" i="1"/>
          </a:p>
        </p:txBody>
      </p:sp>
      <p:sp>
        <p:nvSpPr>
          <p:cNvPr id="3212" name="Line 140"/>
          <p:cNvSpPr>
            <a:spLocks noChangeShapeType="1"/>
          </p:cNvSpPr>
          <p:nvPr/>
        </p:nvSpPr>
        <p:spPr bwMode="auto">
          <a:xfrm flipH="1">
            <a:off x="4284663" y="4292600"/>
            <a:ext cx="647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13" name="Text Box 141"/>
          <p:cNvSpPr txBox="1">
            <a:spLocks noChangeArrowheads="1"/>
          </p:cNvSpPr>
          <p:nvPr/>
        </p:nvSpPr>
        <p:spPr bwMode="auto">
          <a:xfrm>
            <a:off x="4264025" y="3259138"/>
            <a:ext cx="95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s-ES" sz="1200" i="1"/>
              <a:t>Peptide cleavage</a:t>
            </a:r>
            <a:endParaRPr lang="en-GB" sz="1200" i="1"/>
          </a:p>
        </p:txBody>
      </p:sp>
      <p:grpSp>
        <p:nvGrpSpPr>
          <p:cNvPr id="3217" name="Group 145"/>
          <p:cNvGrpSpPr>
            <a:grpSpLocks/>
          </p:cNvGrpSpPr>
          <p:nvPr/>
        </p:nvGrpSpPr>
        <p:grpSpPr bwMode="auto">
          <a:xfrm>
            <a:off x="252413" y="5949950"/>
            <a:ext cx="4319587" cy="792163"/>
            <a:chOff x="2880" y="2432"/>
            <a:chExt cx="1724" cy="499"/>
          </a:xfrm>
        </p:grpSpPr>
        <p:sp>
          <p:nvSpPr>
            <p:cNvPr id="3218" name="Line 146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19" name="Line 147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20" name="Line 148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21" name="Line 149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226" name="Line 154"/>
          <p:cNvSpPr>
            <a:spLocks noChangeShapeType="1"/>
          </p:cNvSpPr>
          <p:nvPr/>
        </p:nvSpPr>
        <p:spPr bwMode="auto">
          <a:xfrm>
            <a:off x="4211638" y="6308725"/>
            <a:ext cx="647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27" name="Text Box 155"/>
          <p:cNvSpPr txBox="1">
            <a:spLocks noChangeArrowheads="1"/>
          </p:cNvSpPr>
          <p:nvPr/>
        </p:nvSpPr>
        <p:spPr bwMode="auto">
          <a:xfrm>
            <a:off x="4356100" y="5445125"/>
            <a:ext cx="11303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sz="1200" i="1"/>
              <a:t>Immunoassay</a:t>
            </a:r>
            <a:endParaRPr lang="en-GB" sz="1200" i="1"/>
          </a:p>
        </p:txBody>
      </p:sp>
      <p:grpSp>
        <p:nvGrpSpPr>
          <p:cNvPr id="3245" name="Group 173"/>
          <p:cNvGrpSpPr>
            <a:grpSpLocks/>
          </p:cNvGrpSpPr>
          <p:nvPr/>
        </p:nvGrpSpPr>
        <p:grpSpPr bwMode="auto">
          <a:xfrm>
            <a:off x="827088" y="6021388"/>
            <a:ext cx="936625" cy="606425"/>
            <a:chOff x="612" y="3793"/>
            <a:chExt cx="590" cy="382"/>
          </a:xfrm>
        </p:grpSpPr>
        <p:sp>
          <p:nvSpPr>
            <p:cNvPr id="3224" name="Oval 152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34" name="Freeform 162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35" name="Freeform 163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36" name="Freeform 164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37" name="Freeform 165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38" name="Freeform 166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39" name="Freeform 167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46" name="Group 174"/>
          <p:cNvGrpSpPr>
            <a:grpSpLocks/>
          </p:cNvGrpSpPr>
          <p:nvPr/>
        </p:nvGrpSpPr>
        <p:grpSpPr bwMode="auto">
          <a:xfrm>
            <a:off x="1908175" y="6021388"/>
            <a:ext cx="936625" cy="606425"/>
            <a:chOff x="612" y="3793"/>
            <a:chExt cx="590" cy="382"/>
          </a:xfrm>
        </p:grpSpPr>
        <p:sp>
          <p:nvSpPr>
            <p:cNvPr id="3247" name="Oval 175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48" name="Freeform 176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49" name="Freeform 177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0" name="Freeform 178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1" name="Freeform 179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2" name="Freeform 180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3" name="Freeform 181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54" name="Group 182"/>
          <p:cNvGrpSpPr>
            <a:grpSpLocks/>
          </p:cNvGrpSpPr>
          <p:nvPr/>
        </p:nvGrpSpPr>
        <p:grpSpPr bwMode="auto">
          <a:xfrm>
            <a:off x="3060700" y="6021388"/>
            <a:ext cx="936625" cy="606425"/>
            <a:chOff x="612" y="3793"/>
            <a:chExt cx="590" cy="382"/>
          </a:xfrm>
        </p:grpSpPr>
        <p:sp>
          <p:nvSpPr>
            <p:cNvPr id="3255" name="Oval 183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56" name="Freeform 184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7" name="Freeform 185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8" name="Freeform 186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59" name="Freeform 187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60" name="Freeform 188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61" name="Freeform 189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62" name="Group 190"/>
          <p:cNvGrpSpPr>
            <a:grpSpLocks/>
          </p:cNvGrpSpPr>
          <p:nvPr/>
        </p:nvGrpSpPr>
        <p:grpSpPr bwMode="auto">
          <a:xfrm>
            <a:off x="4572000" y="5876925"/>
            <a:ext cx="4319588" cy="792163"/>
            <a:chOff x="2880" y="2432"/>
            <a:chExt cx="1724" cy="499"/>
          </a:xfrm>
        </p:grpSpPr>
        <p:sp>
          <p:nvSpPr>
            <p:cNvPr id="3263" name="Line 191"/>
            <p:cNvSpPr>
              <a:spLocks noChangeShapeType="1"/>
            </p:cNvSpPr>
            <p:nvPr/>
          </p:nvSpPr>
          <p:spPr bwMode="auto">
            <a:xfrm flipV="1">
              <a:off x="2880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64" name="Line 192"/>
            <p:cNvSpPr>
              <a:spLocks noChangeShapeType="1"/>
            </p:cNvSpPr>
            <p:nvPr/>
          </p:nvSpPr>
          <p:spPr bwMode="auto">
            <a:xfrm>
              <a:off x="2880" y="2931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65" name="Line 193"/>
            <p:cNvSpPr>
              <a:spLocks noChangeShapeType="1"/>
            </p:cNvSpPr>
            <p:nvPr/>
          </p:nvSpPr>
          <p:spPr bwMode="auto">
            <a:xfrm>
              <a:off x="3243" y="2432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66" name="Line 194"/>
            <p:cNvSpPr>
              <a:spLocks noChangeShapeType="1"/>
            </p:cNvSpPr>
            <p:nvPr/>
          </p:nvSpPr>
          <p:spPr bwMode="auto">
            <a:xfrm flipV="1">
              <a:off x="4241" y="2432"/>
              <a:ext cx="363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67" name="Group 195"/>
          <p:cNvGrpSpPr>
            <a:grpSpLocks/>
          </p:cNvGrpSpPr>
          <p:nvPr/>
        </p:nvGrpSpPr>
        <p:grpSpPr bwMode="auto">
          <a:xfrm>
            <a:off x="5219700" y="5948363"/>
            <a:ext cx="936625" cy="606425"/>
            <a:chOff x="612" y="3793"/>
            <a:chExt cx="590" cy="382"/>
          </a:xfrm>
        </p:grpSpPr>
        <p:sp>
          <p:nvSpPr>
            <p:cNvPr id="3268" name="Oval 196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69" name="Freeform 197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0" name="Freeform 198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1" name="Freeform 199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2" name="Freeform 200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3" name="Freeform 201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4" name="Freeform 202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75" name="Group 203"/>
          <p:cNvGrpSpPr>
            <a:grpSpLocks/>
          </p:cNvGrpSpPr>
          <p:nvPr/>
        </p:nvGrpSpPr>
        <p:grpSpPr bwMode="auto">
          <a:xfrm>
            <a:off x="6299200" y="5948363"/>
            <a:ext cx="936625" cy="606425"/>
            <a:chOff x="612" y="3793"/>
            <a:chExt cx="590" cy="382"/>
          </a:xfrm>
        </p:grpSpPr>
        <p:sp>
          <p:nvSpPr>
            <p:cNvPr id="3276" name="Oval 204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solidFill>
              <a:schemeClr val="folHlink">
                <a:alpha val="3000"/>
              </a:schemeClr>
            </a:soli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77" name="Freeform 205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" name="Freeform 206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" name="Freeform 207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" name="Freeform 208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" name="Freeform 209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" name="Freeform 210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83" name="Group 211"/>
          <p:cNvGrpSpPr>
            <a:grpSpLocks/>
          </p:cNvGrpSpPr>
          <p:nvPr/>
        </p:nvGrpSpPr>
        <p:grpSpPr bwMode="auto">
          <a:xfrm>
            <a:off x="7451725" y="5948363"/>
            <a:ext cx="936625" cy="606425"/>
            <a:chOff x="612" y="3793"/>
            <a:chExt cx="590" cy="382"/>
          </a:xfrm>
        </p:grpSpPr>
        <p:sp>
          <p:nvSpPr>
            <p:cNvPr id="3284" name="Oval 212"/>
            <p:cNvSpPr>
              <a:spLocks noChangeArrowheads="1"/>
            </p:cNvSpPr>
            <p:nvPr/>
          </p:nvSpPr>
          <p:spPr bwMode="auto">
            <a:xfrm>
              <a:off x="670" y="3828"/>
              <a:ext cx="486" cy="271"/>
            </a:xfrm>
            <a:prstGeom prst="ellipse">
              <a:avLst/>
            </a:prstGeom>
            <a:gradFill rotWithShape="1">
              <a:gsLst>
                <a:gs pos="0">
                  <a:schemeClr val="bg2">
                    <a:alpha val="3000"/>
                  </a:schemeClr>
                </a:gs>
                <a:gs pos="100000">
                  <a:schemeClr val="bg2">
                    <a:gamma/>
                    <a:tint val="57255"/>
                    <a:invGamma/>
                  </a:schemeClr>
                </a:gs>
              </a:gsLst>
              <a:lin ang="5400000" scaled="1"/>
            </a:gradFill>
            <a:ln w="9525">
              <a:round/>
              <a:headEnd/>
              <a:tailEnd/>
            </a:ln>
            <a:effectLst/>
            <a:scene3d>
              <a:camera prst="legacyPerspectiveBottom"/>
              <a:lightRig rig="legacyFlat3" dir="t"/>
            </a:scene3d>
            <a:sp3d extrusionH="163500" prstMaterial="legacyMatte">
              <a:bevelT w="13500" h="13500" prst="angle"/>
              <a:bevelB w="13500" h="13500" prst="angle"/>
              <a:extrusionClr>
                <a:srgbClr val="8080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3285" name="Freeform 213"/>
            <p:cNvSpPr>
              <a:spLocks/>
            </p:cNvSpPr>
            <p:nvPr/>
          </p:nvSpPr>
          <p:spPr bwMode="auto">
            <a:xfrm>
              <a:off x="612" y="388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6" name="Freeform 214"/>
            <p:cNvSpPr>
              <a:spLocks/>
            </p:cNvSpPr>
            <p:nvPr/>
          </p:nvSpPr>
          <p:spPr bwMode="auto">
            <a:xfrm rot="1682230">
              <a:off x="703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7" name="Freeform 215"/>
            <p:cNvSpPr>
              <a:spLocks/>
            </p:cNvSpPr>
            <p:nvPr/>
          </p:nvSpPr>
          <p:spPr bwMode="auto">
            <a:xfrm rot="1682230">
              <a:off x="709" y="3838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8" name="Freeform 216"/>
            <p:cNvSpPr>
              <a:spLocks/>
            </p:cNvSpPr>
            <p:nvPr/>
          </p:nvSpPr>
          <p:spPr bwMode="auto">
            <a:xfrm rot="2790418">
              <a:off x="845" y="397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9" name="Freeform 217"/>
            <p:cNvSpPr>
              <a:spLocks/>
            </p:cNvSpPr>
            <p:nvPr/>
          </p:nvSpPr>
          <p:spPr bwMode="auto">
            <a:xfrm rot="4168287">
              <a:off x="845" y="3813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90" name="Freeform 218"/>
            <p:cNvSpPr>
              <a:spLocks/>
            </p:cNvSpPr>
            <p:nvPr/>
          </p:nvSpPr>
          <p:spPr bwMode="auto">
            <a:xfrm rot="1682230">
              <a:off x="981" y="3884"/>
              <a:ext cx="221" cy="182"/>
            </a:xfrm>
            <a:custGeom>
              <a:avLst/>
              <a:gdLst>
                <a:gd name="T0" fmla="*/ 163 w 266"/>
                <a:gd name="T1" fmla="*/ 249 h 341"/>
                <a:gd name="T2" fmla="*/ 227 w 266"/>
                <a:gd name="T3" fmla="*/ 194 h 341"/>
                <a:gd name="T4" fmla="*/ 208 w 266"/>
                <a:gd name="T5" fmla="*/ 112 h 341"/>
                <a:gd name="T6" fmla="*/ 245 w 266"/>
                <a:gd name="T7" fmla="*/ 103 h 341"/>
                <a:gd name="T8" fmla="*/ 254 w 266"/>
                <a:gd name="T9" fmla="*/ 57 h 341"/>
                <a:gd name="T10" fmla="*/ 163 w 266"/>
                <a:gd name="T11" fmla="*/ 39 h 341"/>
                <a:gd name="T12" fmla="*/ 99 w 266"/>
                <a:gd name="T13" fmla="*/ 76 h 341"/>
                <a:gd name="T14" fmla="*/ 71 w 266"/>
                <a:gd name="T15" fmla="*/ 66 h 341"/>
                <a:gd name="T16" fmla="*/ 44 w 266"/>
                <a:gd name="T17" fmla="*/ 48 h 341"/>
                <a:gd name="T18" fmla="*/ 35 w 266"/>
                <a:gd name="T19" fmla="*/ 76 h 341"/>
                <a:gd name="T20" fmla="*/ 7 w 266"/>
                <a:gd name="T21" fmla="*/ 140 h 341"/>
                <a:gd name="T22" fmla="*/ 26 w 266"/>
                <a:gd name="T23" fmla="*/ 158 h 341"/>
                <a:gd name="T24" fmla="*/ 80 w 266"/>
                <a:gd name="T25" fmla="*/ 176 h 341"/>
                <a:gd name="T26" fmla="*/ 62 w 266"/>
                <a:gd name="T27" fmla="*/ 258 h 341"/>
                <a:gd name="T28" fmla="*/ 90 w 266"/>
                <a:gd name="T29" fmla="*/ 304 h 341"/>
                <a:gd name="T30" fmla="*/ 99 w 266"/>
                <a:gd name="T31" fmla="*/ 332 h 341"/>
                <a:gd name="T32" fmla="*/ 126 w 266"/>
                <a:gd name="T33" fmla="*/ 341 h 341"/>
                <a:gd name="T34" fmla="*/ 190 w 266"/>
                <a:gd name="T35" fmla="*/ 268 h 341"/>
                <a:gd name="T36" fmla="*/ 163 w 266"/>
                <a:gd name="T37" fmla="*/ 24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6" h="341">
                  <a:moveTo>
                    <a:pt x="163" y="249"/>
                  </a:moveTo>
                  <a:cubicBezTo>
                    <a:pt x="187" y="213"/>
                    <a:pt x="199" y="222"/>
                    <a:pt x="227" y="194"/>
                  </a:cubicBezTo>
                  <a:cubicBezTo>
                    <a:pt x="239" y="158"/>
                    <a:pt x="236" y="138"/>
                    <a:pt x="208" y="112"/>
                  </a:cubicBezTo>
                  <a:cubicBezTo>
                    <a:pt x="220" y="109"/>
                    <a:pt x="237" y="113"/>
                    <a:pt x="245" y="103"/>
                  </a:cubicBezTo>
                  <a:cubicBezTo>
                    <a:pt x="255" y="91"/>
                    <a:pt x="266" y="67"/>
                    <a:pt x="254" y="57"/>
                  </a:cubicBezTo>
                  <a:cubicBezTo>
                    <a:pt x="230" y="38"/>
                    <a:pt x="193" y="45"/>
                    <a:pt x="163" y="39"/>
                  </a:cubicBezTo>
                  <a:cubicBezTo>
                    <a:pt x="122" y="0"/>
                    <a:pt x="111" y="39"/>
                    <a:pt x="99" y="76"/>
                  </a:cubicBezTo>
                  <a:cubicBezTo>
                    <a:pt x="90" y="73"/>
                    <a:pt x="80" y="70"/>
                    <a:pt x="71" y="66"/>
                  </a:cubicBezTo>
                  <a:cubicBezTo>
                    <a:pt x="61" y="61"/>
                    <a:pt x="54" y="45"/>
                    <a:pt x="44" y="48"/>
                  </a:cubicBezTo>
                  <a:cubicBezTo>
                    <a:pt x="35" y="51"/>
                    <a:pt x="39" y="67"/>
                    <a:pt x="35" y="76"/>
                  </a:cubicBezTo>
                  <a:cubicBezTo>
                    <a:pt x="0" y="155"/>
                    <a:pt x="28" y="74"/>
                    <a:pt x="7" y="140"/>
                  </a:cubicBezTo>
                  <a:cubicBezTo>
                    <a:pt x="13" y="146"/>
                    <a:pt x="18" y="154"/>
                    <a:pt x="26" y="158"/>
                  </a:cubicBezTo>
                  <a:cubicBezTo>
                    <a:pt x="43" y="166"/>
                    <a:pt x="80" y="176"/>
                    <a:pt x="80" y="176"/>
                  </a:cubicBezTo>
                  <a:cubicBezTo>
                    <a:pt x="96" y="220"/>
                    <a:pt x="76" y="216"/>
                    <a:pt x="62" y="258"/>
                  </a:cubicBezTo>
                  <a:cubicBezTo>
                    <a:pt x="88" y="338"/>
                    <a:pt x="52" y="241"/>
                    <a:pt x="90" y="304"/>
                  </a:cubicBezTo>
                  <a:cubicBezTo>
                    <a:pt x="95" y="312"/>
                    <a:pt x="92" y="325"/>
                    <a:pt x="99" y="332"/>
                  </a:cubicBezTo>
                  <a:cubicBezTo>
                    <a:pt x="106" y="339"/>
                    <a:pt x="117" y="338"/>
                    <a:pt x="126" y="341"/>
                  </a:cubicBezTo>
                  <a:cubicBezTo>
                    <a:pt x="151" y="314"/>
                    <a:pt x="159" y="289"/>
                    <a:pt x="190" y="268"/>
                  </a:cubicBezTo>
                  <a:cubicBezTo>
                    <a:pt x="179" y="211"/>
                    <a:pt x="190" y="209"/>
                    <a:pt x="163" y="24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488156" y="2539901"/>
            <a:ext cx="2316162" cy="728662"/>
            <a:chOff x="488156" y="2539901"/>
            <a:chExt cx="2316162" cy="728662"/>
          </a:xfrm>
        </p:grpSpPr>
        <p:sp>
          <p:nvSpPr>
            <p:cNvPr id="159" name="AutoShape 66" descr="Dark upward diagonal"/>
            <p:cNvSpPr>
              <a:spLocks noChangeArrowheads="1"/>
            </p:cNvSpPr>
            <p:nvPr/>
          </p:nvSpPr>
          <p:spPr bwMode="auto">
            <a:xfrm>
              <a:off x="488156" y="2541488"/>
              <a:ext cx="2316162" cy="727075"/>
            </a:xfrm>
            <a:prstGeom prst="cube">
              <a:avLst>
                <a:gd name="adj" fmla="val 92014"/>
              </a:avLst>
            </a:prstGeom>
            <a:pattFill prst="dkUpDiag">
              <a:fgClr>
                <a:srgbClr val="C0C0C0"/>
              </a:fgClr>
              <a:bgClr>
                <a:srgbClr val="FFFFFF"/>
              </a:bgClr>
            </a:pattFill>
            <a:ln w="635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C00000"/>
                </a:solidFill>
              </a:endParaRPr>
            </a:p>
          </p:txBody>
        </p:sp>
        <p:grpSp>
          <p:nvGrpSpPr>
            <p:cNvPr id="167" name="Group 75"/>
            <p:cNvGrpSpPr>
              <a:grpSpLocks/>
            </p:cNvGrpSpPr>
            <p:nvPr/>
          </p:nvGrpSpPr>
          <p:grpSpPr bwMode="auto">
            <a:xfrm>
              <a:off x="759618" y="2549426"/>
              <a:ext cx="709612" cy="682625"/>
              <a:chOff x="5786" y="3472"/>
              <a:chExt cx="991" cy="1015"/>
            </a:xfrm>
          </p:grpSpPr>
          <p:grpSp>
            <p:nvGrpSpPr>
              <p:cNvPr id="191" name="Group 76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198" name="Oval 77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99" name="AutoShape 78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92" name="Group 79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196" name="Oval 80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97" name="AutoShape 81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93" name="Group 82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194" name="Oval 83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95" name="AutoShape 84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171" name="Group 126"/>
            <p:cNvGrpSpPr>
              <a:grpSpLocks/>
            </p:cNvGrpSpPr>
            <p:nvPr/>
          </p:nvGrpSpPr>
          <p:grpSpPr bwMode="auto">
            <a:xfrm>
              <a:off x="1796256" y="2555776"/>
              <a:ext cx="709612" cy="682625"/>
              <a:chOff x="5786" y="3472"/>
              <a:chExt cx="991" cy="1015"/>
            </a:xfrm>
          </p:grpSpPr>
          <p:grpSp>
            <p:nvGrpSpPr>
              <p:cNvPr id="182" name="Group 12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189" name="Oval 12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90" name="AutoShape 12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83" name="Group 13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187" name="Oval 13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8" name="AutoShape 13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84" name="Group 13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185" name="Oval 13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6" name="AutoShape 13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172" name="Group 116"/>
            <p:cNvGrpSpPr>
              <a:grpSpLocks/>
            </p:cNvGrpSpPr>
            <p:nvPr/>
          </p:nvGrpSpPr>
          <p:grpSpPr bwMode="auto">
            <a:xfrm>
              <a:off x="1278731" y="2539901"/>
              <a:ext cx="709612" cy="682625"/>
              <a:chOff x="5786" y="3472"/>
              <a:chExt cx="991" cy="1015"/>
            </a:xfrm>
          </p:grpSpPr>
          <p:grpSp>
            <p:nvGrpSpPr>
              <p:cNvPr id="173" name="Group 11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180" name="Oval 11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1" name="AutoShape 11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74" name="Group 12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178" name="Oval 12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79" name="AutoShape 12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75" name="Group 12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176" name="Oval 12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77" name="AutoShape 12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</p:grpSp>
      <p:sp>
        <p:nvSpPr>
          <p:cNvPr id="16" name="15 Forma libre"/>
          <p:cNvSpPr/>
          <p:nvPr/>
        </p:nvSpPr>
        <p:spPr>
          <a:xfrm>
            <a:off x="1474442" y="925713"/>
            <a:ext cx="1672618" cy="1111885"/>
          </a:xfrm>
          <a:custGeom>
            <a:avLst/>
            <a:gdLst>
              <a:gd name="connsiteX0" fmla="*/ 64798 w 1672618"/>
              <a:gd name="connsiteY0" fmla="*/ 666867 h 1111885"/>
              <a:gd name="connsiteX1" fmla="*/ 377218 w 1672618"/>
              <a:gd name="connsiteY1" fmla="*/ 781167 h 1111885"/>
              <a:gd name="connsiteX2" fmla="*/ 506758 w 1672618"/>
              <a:gd name="connsiteY2" fmla="*/ 461127 h 1111885"/>
              <a:gd name="connsiteX3" fmla="*/ 872518 w 1672618"/>
              <a:gd name="connsiteY3" fmla="*/ 560187 h 1111885"/>
              <a:gd name="connsiteX4" fmla="*/ 918238 w 1672618"/>
              <a:gd name="connsiteY4" fmla="*/ 270627 h 1111885"/>
              <a:gd name="connsiteX5" fmla="*/ 499138 w 1672618"/>
              <a:gd name="connsiteY5" fmla="*/ 301107 h 1111885"/>
              <a:gd name="connsiteX6" fmla="*/ 628678 w 1672618"/>
              <a:gd name="connsiteY6" fmla="*/ 842127 h 1111885"/>
              <a:gd name="connsiteX7" fmla="*/ 1276378 w 1672618"/>
              <a:gd name="connsiteY7" fmla="*/ 537327 h 1111885"/>
              <a:gd name="connsiteX8" fmla="*/ 1093498 w 1672618"/>
              <a:gd name="connsiteY8" fmla="*/ 285867 h 1111885"/>
              <a:gd name="connsiteX9" fmla="*/ 773458 w 1672618"/>
              <a:gd name="connsiteY9" fmla="*/ 964047 h 1111885"/>
              <a:gd name="connsiteX10" fmla="*/ 262918 w 1672618"/>
              <a:gd name="connsiteY10" fmla="*/ 1032627 h 1111885"/>
              <a:gd name="connsiteX11" fmla="*/ 377218 w 1672618"/>
              <a:gd name="connsiteY11" fmla="*/ 354447 h 1111885"/>
              <a:gd name="connsiteX12" fmla="*/ 1154458 w 1672618"/>
              <a:gd name="connsiteY12" fmla="*/ 125847 h 1111885"/>
              <a:gd name="connsiteX13" fmla="*/ 1040158 w 1672618"/>
              <a:gd name="connsiteY13" fmla="*/ 994527 h 1111885"/>
              <a:gd name="connsiteX14" fmla="*/ 1573558 w 1672618"/>
              <a:gd name="connsiteY14" fmla="*/ 941187 h 1111885"/>
              <a:gd name="connsiteX15" fmla="*/ 1398298 w 1672618"/>
              <a:gd name="connsiteY15" fmla="*/ 346827 h 1111885"/>
              <a:gd name="connsiteX16" fmla="*/ 102898 w 1672618"/>
              <a:gd name="connsiteY16" fmla="*/ 1070727 h 1111885"/>
              <a:gd name="connsiteX17" fmla="*/ 133378 w 1672618"/>
              <a:gd name="connsiteY17" fmla="*/ 453507 h 1111885"/>
              <a:gd name="connsiteX18" fmla="*/ 552478 w 1672618"/>
              <a:gd name="connsiteY18" fmla="*/ 64887 h 1111885"/>
              <a:gd name="connsiteX19" fmla="*/ 781078 w 1672618"/>
              <a:gd name="connsiteY19" fmla="*/ 499227 h 1111885"/>
              <a:gd name="connsiteX20" fmla="*/ 1002058 w 1672618"/>
              <a:gd name="connsiteY20" fmla="*/ 1108827 h 1111885"/>
              <a:gd name="connsiteX21" fmla="*/ 1383058 w 1672618"/>
              <a:gd name="connsiteY21" fmla="*/ 712587 h 1111885"/>
              <a:gd name="connsiteX22" fmla="*/ 1337338 w 1672618"/>
              <a:gd name="connsiteY22" fmla="*/ 217287 h 1111885"/>
              <a:gd name="connsiteX23" fmla="*/ 826798 w 1672618"/>
              <a:gd name="connsiteY23" fmla="*/ 11547 h 1111885"/>
              <a:gd name="connsiteX24" fmla="*/ 636298 w 1672618"/>
              <a:gd name="connsiteY24" fmla="*/ 537327 h 1111885"/>
              <a:gd name="connsiteX25" fmla="*/ 1436398 w 1672618"/>
              <a:gd name="connsiteY25" fmla="*/ 956427 h 1111885"/>
              <a:gd name="connsiteX26" fmla="*/ 1672618 w 1672618"/>
              <a:gd name="connsiteY26" fmla="*/ 804027 h 111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72618" h="1111885">
                <a:moveTo>
                  <a:pt x="64798" y="666867"/>
                </a:moveTo>
                <a:cubicBezTo>
                  <a:pt x="184178" y="741162"/>
                  <a:pt x="303558" y="815457"/>
                  <a:pt x="377218" y="781167"/>
                </a:cubicBezTo>
                <a:cubicBezTo>
                  <a:pt x="450878" y="746877"/>
                  <a:pt x="424208" y="497957"/>
                  <a:pt x="506758" y="461127"/>
                </a:cubicBezTo>
                <a:cubicBezTo>
                  <a:pt x="589308" y="424297"/>
                  <a:pt x="803938" y="591937"/>
                  <a:pt x="872518" y="560187"/>
                </a:cubicBezTo>
                <a:cubicBezTo>
                  <a:pt x="941098" y="528437"/>
                  <a:pt x="980468" y="313807"/>
                  <a:pt x="918238" y="270627"/>
                </a:cubicBezTo>
                <a:cubicBezTo>
                  <a:pt x="856008" y="227447"/>
                  <a:pt x="547398" y="205857"/>
                  <a:pt x="499138" y="301107"/>
                </a:cubicBezTo>
                <a:cubicBezTo>
                  <a:pt x="450878" y="396357"/>
                  <a:pt x="499138" y="802757"/>
                  <a:pt x="628678" y="842127"/>
                </a:cubicBezTo>
                <a:cubicBezTo>
                  <a:pt x="758218" y="881497"/>
                  <a:pt x="1198908" y="630037"/>
                  <a:pt x="1276378" y="537327"/>
                </a:cubicBezTo>
                <a:cubicBezTo>
                  <a:pt x="1353848" y="444617"/>
                  <a:pt x="1177318" y="214747"/>
                  <a:pt x="1093498" y="285867"/>
                </a:cubicBezTo>
                <a:cubicBezTo>
                  <a:pt x="1009678" y="356987"/>
                  <a:pt x="911888" y="839587"/>
                  <a:pt x="773458" y="964047"/>
                </a:cubicBezTo>
                <a:cubicBezTo>
                  <a:pt x="635028" y="1088507"/>
                  <a:pt x="328958" y="1134227"/>
                  <a:pt x="262918" y="1032627"/>
                </a:cubicBezTo>
                <a:cubicBezTo>
                  <a:pt x="196878" y="931027"/>
                  <a:pt x="228628" y="505577"/>
                  <a:pt x="377218" y="354447"/>
                </a:cubicBezTo>
                <a:cubicBezTo>
                  <a:pt x="525808" y="203317"/>
                  <a:pt x="1043968" y="19167"/>
                  <a:pt x="1154458" y="125847"/>
                </a:cubicBezTo>
                <a:cubicBezTo>
                  <a:pt x="1264948" y="232527"/>
                  <a:pt x="970308" y="858637"/>
                  <a:pt x="1040158" y="994527"/>
                </a:cubicBezTo>
                <a:cubicBezTo>
                  <a:pt x="1110008" y="1130417"/>
                  <a:pt x="1513868" y="1049137"/>
                  <a:pt x="1573558" y="941187"/>
                </a:cubicBezTo>
                <a:cubicBezTo>
                  <a:pt x="1633248" y="833237"/>
                  <a:pt x="1643408" y="325237"/>
                  <a:pt x="1398298" y="346827"/>
                </a:cubicBezTo>
                <a:cubicBezTo>
                  <a:pt x="1153188" y="368417"/>
                  <a:pt x="313718" y="1052947"/>
                  <a:pt x="102898" y="1070727"/>
                </a:cubicBezTo>
                <a:cubicBezTo>
                  <a:pt x="-107922" y="1088507"/>
                  <a:pt x="58448" y="621147"/>
                  <a:pt x="133378" y="453507"/>
                </a:cubicBezTo>
                <a:cubicBezTo>
                  <a:pt x="208308" y="285867"/>
                  <a:pt x="444528" y="57267"/>
                  <a:pt x="552478" y="64887"/>
                </a:cubicBezTo>
                <a:cubicBezTo>
                  <a:pt x="660428" y="72507"/>
                  <a:pt x="706148" y="325237"/>
                  <a:pt x="781078" y="499227"/>
                </a:cubicBezTo>
                <a:cubicBezTo>
                  <a:pt x="856008" y="673217"/>
                  <a:pt x="901728" y="1073267"/>
                  <a:pt x="1002058" y="1108827"/>
                </a:cubicBezTo>
                <a:cubicBezTo>
                  <a:pt x="1102388" y="1144387"/>
                  <a:pt x="1327178" y="861177"/>
                  <a:pt x="1383058" y="712587"/>
                </a:cubicBezTo>
                <a:cubicBezTo>
                  <a:pt x="1438938" y="563997"/>
                  <a:pt x="1430048" y="334127"/>
                  <a:pt x="1337338" y="217287"/>
                </a:cubicBezTo>
                <a:cubicBezTo>
                  <a:pt x="1244628" y="100447"/>
                  <a:pt x="943638" y="-41793"/>
                  <a:pt x="826798" y="11547"/>
                </a:cubicBezTo>
                <a:cubicBezTo>
                  <a:pt x="709958" y="64887"/>
                  <a:pt x="534698" y="379847"/>
                  <a:pt x="636298" y="537327"/>
                </a:cubicBezTo>
                <a:cubicBezTo>
                  <a:pt x="737898" y="694807"/>
                  <a:pt x="1263678" y="911977"/>
                  <a:pt x="1436398" y="956427"/>
                </a:cubicBezTo>
                <a:cubicBezTo>
                  <a:pt x="1609118" y="1000877"/>
                  <a:pt x="1640868" y="902452"/>
                  <a:pt x="1672618" y="804027"/>
                </a:cubicBezTo>
              </a:path>
            </a:pathLst>
          </a:custGeom>
          <a:noFill/>
          <a:ln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16 Elipse"/>
          <p:cNvSpPr>
            <a:spLocks noChangeAspect="1"/>
          </p:cNvSpPr>
          <p:nvPr/>
        </p:nvSpPr>
        <p:spPr>
          <a:xfrm>
            <a:off x="2516189" y="1340769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" name="222 Elipse"/>
          <p:cNvSpPr>
            <a:spLocks noChangeAspect="1"/>
          </p:cNvSpPr>
          <p:nvPr/>
        </p:nvSpPr>
        <p:spPr>
          <a:xfrm>
            <a:off x="2668589" y="1493169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223 Elipse"/>
          <p:cNvSpPr>
            <a:spLocks noChangeAspect="1"/>
          </p:cNvSpPr>
          <p:nvPr/>
        </p:nvSpPr>
        <p:spPr>
          <a:xfrm>
            <a:off x="2123730" y="1645569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224 Elipse"/>
          <p:cNvSpPr>
            <a:spLocks noChangeAspect="1"/>
          </p:cNvSpPr>
          <p:nvPr/>
        </p:nvSpPr>
        <p:spPr>
          <a:xfrm>
            <a:off x="2276130" y="1340769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6" name="225 Elipse"/>
          <p:cNvSpPr>
            <a:spLocks noChangeAspect="1"/>
          </p:cNvSpPr>
          <p:nvPr/>
        </p:nvSpPr>
        <p:spPr>
          <a:xfrm>
            <a:off x="1763690" y="1493169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7" name="226 Elipse"/>
          <p:cNvSpPr>
            <a:spLocks noChangeAspect="1"/>
          </p:cNvSpPr>
          <p:nvPr/>
        </p:nvSpPr>
        <p:spPr>
          <a:xfrm>
            <a:off x="1907706" y="1785245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227 Elipse"/>
          <p:cNvSpPr>
            <a:spLocks noChangeAspect="1"/>
          </p:cNvSpPr>
          <p:nvPr/>
        </p:nvSpPr>
        <p:spPr>
          <a:xfrm>
            <a:off x="1501947" y="1916833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228 Elipse"/>
          <p:cNvSpPr>
            <a:spLocks noChangeAspect="1"/>
          </p:cNvSpPr>
          <p:nvPr/>
        </p:nvSpPr>
        <p:spPr>
          <a:xfrm>
            <a:off x="1717971" y="1196753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229 Elipse"/>
          <p:cNvSpPr>
            <a:spLocks noChangeAspect="1"/>
          </p:cNvSpPr>
          <p:nvPr/>
        </p:nvSpPr>
        <p:spPr>
          <a:xfrm>
            <a:off x="2206787" y="1196753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07" name="Picture 235" descr="C:\Users\RosarioyJuanjo\AppData\Local\Microsoft\Windows\Temporary Internet Files\Content.IE5\PYM5XQSU\MP900400015[1].jp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903" y="34017"/>
            <a:ext cx="1204513" cy="80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3" name="232 Elipse"/>
          <p:cNvSpPr>
            <a:spLocks noChangeAspect="1"/>
          </p:cNvSpPr>
          <p:nvPr/>
        </p:nvSpPr>
        <p:spPr>
          <a:xfrm>
            <a:off x="2350803" y="1569221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233 Elipse"/>
          <p:cNvSpPr>
            <a:spLocks noChangeAspect="1"/>
          </p:cNvSpPr>
          <p:nvPr/>
        </p:nvSpPr>
        <p:spPr>
          <a:xfrm>
            <a:off x="2726083" y="1721621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234 Elipse"/>
          <p:cNvSpPr>
            <a:spLocks noChangeAspect="1"/>
          </p:cNvSpPr>
          <p:nvPr/>
        </p:nvSpPr>
        <p:spPr>
          <a:xfrm>
            <a:off x="3014115" y="1844825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235 Elipse"/>
          <p:cNvSpPr>
            <a:spLocks noChangeAspect="1"/>
          </p:cNvSpPr>
          <p:nvPr/>
        </p:nvSpPr>
        <p:spPr>
          <a:xfrm>
            <a:off x="2359187" y="916340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236 Elipse"/>
          <p:cNvSpPr>
            <a:spLocks noChangeAspect="1"/>
          </p:cNvSpPr>
          <p:nvPr/>
        </p:nvSpPr>
        <p:spPr>
          <a:xfrm>
            <a:off x="2663130" y="1068740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237 Elipse"/>
          <p:cNvSpPr>
            <a:spLocks noChangeAspect="1"/>
          </p:cNvSpPr>
          <p:nvPr/>
        </p:nvSpPr>
        <p:spPr>
          <a:xfrm>
            <a:off x="2815530" y="1292990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238 Elipse"/>
          <p:cNvSpPr>
            <a:spLocks noChangeAspect="1"/>
          </p:cNvSpPr>
          <p:nvPr/>
        </p:nvSpPr>
        <p:spPr>
          <a:xfrm>
            <a:off x="2375098" y="1797046"/>
            <a:ext cx="36662" cy="47778"/>
          </a:xfrm>
          <a:prstGeom prst="ellipse">
            <a:avLst/>
          </a:prstGeom>
          <a:solidFill>
            <a:schemeClr val="accent1">
              <a:lumMod val="25000"/>
            </a:schemeClr>
          </a:solidFill>
          <a:ln>
            <a:solidFill>
              <a:schemeClr val="accent1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23 Forma libre"/>
          <p:cNvSpPr/>
          <p:nvPr/>
        </p:nvSpPr>
        <p:spPr>
          <a:xfrm>
            <a:off x="2108975" y="916340"/>
            <a:ext cx="220471" cy="1159139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223 Grupo"/>
          <p:cNvGrpSpPr/>
          <p:nvPr/>
        </p:nvGrpSpPr>
        <p:grpSpPr>
          <a:xfrm>
            <a:off x="3772250" y="118669"/>
            <a:ext cx="336516" cy="661916"/>
            <a:chOff x="7305516" y="1243581"/>
            <a:chExt cx="336516" cy="661916"/>
          </a:xfrm>
        </p:grpSpPr>
        <p:sp>
          <p:nvSpPr>
            <p:cNvPr id="70" name="69 Forma libre"/>
            <p:cNvSpPr/>
            <p:nvPr/>
          </p:nvSpPr>
          <p:spPr>
            <a:xfrm>
              <a:off x="7447875" y="1518327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800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02" name="101 Forma libre"/>
            <p:cNvSpPr/>
            <p:nvPr/>
          </p:nvSpPr>
          <p:spPr>
            <a:xfrm flipH="1">
              <a:off x="7447875" y="1508340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8000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120" name="119 Conector angular"/>
            <p:cNvCxnSpPr>
              <a:stCxn id="102" idx="0"/>
              <a:endCxn id="104" idx="5"/>
            </p:cNvCxnSpPr>
            <p:nvPr/>
          </p:nvCxnSpPr>
          <p:spPr>
            <a:xfrm rot="10800000">
              <a:off x="7363414" y="1446929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104 Grupo"/>
            <p:cNvGrpSpPr/>
            <p:nvPr/>
          </p:nvGrpSpPr>
          <p:grpSpPr>
            <a:xfrm rot="6551618">
              <a:off x="7278805" y="1271127"/>
              <a:ext cx="216466" cy="163043"/>
              <a:chOff x="5071293" y="2940735"/>
              <a:chExt cx="1062961" cy="825145"/>
            </a:xfrm>
            <a:solidFill>
              <a:srgbClr val="8000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03" name="102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" name="103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90" name="189 Forma libre"/>
            <p:cNvSpPr/>
            <p:nvPr/>
          </p:nvSpPr>
          <p:spPr>
            <a:xfrm>
              <a:off x="7568391" y="1517492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800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91" name="190 Forma libre"/>
            <p:cNvSpPr/>
            <p:nvPr/>
          </p:nvSpPr>
          <p:spPr>
            <a:xfrm flipH="1">
              <a:off x="7568391" y="1507505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8000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192" name="191 Conector angular"/>
            <p:cNvCxnSpPr>
              <a:stCxn id="191" idx="0"/>
              <a:endCxn id="195" idx="5"/>
            </p:cNvCxnSpPr>
            <p:nvPr/>
          </p:nvCxnSpPr>
          <p:spPr>
            <a:xfrm rot="10800000">
              <a:off x="7483930" y="1446094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3" name="192 Grupo"/>
            <p:cNvGrpSpPr/>
            <p:nvPr/>
          </p:nvGrpSpPr>
          <p:grpSpPr>
            <a:xfrm rot="6551618">
              <a:off x="7399321" y="1270292"/>
              <a:ext cx="216466" cy="163043"/>
              <a:chOff x="5071293" y="2940735"/>
              <a:chExt cx="1062961" cy="825145"/>
            </a:xfrm>
            <a:solidFill>
              <a:srgbClr val="8000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94" name="193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5" name="194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51" name="250 Grupo"/>
          <p:cNvGrpSpPr/>
          <p:nvPr/>
        </p:nvGrpSpPr>
        <p:grpSpPr>
          <a:xfrm>
            <a:off x="4330914" y="116632"/>
            <a:ext cx="336516" cy="661916"/>
            <a:chOff x="6516216" y="2072321"/>
            <a:chExt cx="336516" cy="661916"/>
          </a:xfrm>
        </p:grpSpPr>
        <p:sp>
          <p:nvSpPr>
            <p:cNvPr id="226" name="225 Forma libre"/>
            <p:cNvSpPr/>
            <p:nvPr/>
          </p:nvSpPr>
          <p:spPr>
            <a:xfrm>
              <a:off x="6658575" y="2347067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660066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27" name="226 Forma libre"/>
            <p:cNvSpPr/>
            <p:nvPr/>
          </p:nvSpPr>
          <p:spPr>
            <a:xfrm flipH="1">
              <a:off x="6658575" y="2337080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660066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28" name="227 Conector angular"/>
            <p:cNvCxnSpPr>
              <a:stCxn id="227" idx="0"/>
              <a:endCxn id="231" idx="5"/>
            </p:cNvCxnSpPr>
            <p:nvPr/>
          </p:nvCxnSpPr>
          <p:spPr>
            <a:xfrm rot="10800000">
              <a:off x="6574114" y="2275669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9" name="228 Grupo"/>
            <p:cNvGrpSpPr/>
            <p:nvPr/>
          </p:nvGrpSpPr>
          <p:grpSpPr>
            <a:xfrm rot="6551618">
              <a:off x="6489505" y="2099867"/>
              <a:ext cx="216466" cy="163043"/>
              <a:chOff x="5071293" y="2940735"/>
              <a:chExt cx="1062961" cy="825145"/>
            </a:xfrm>
            <a:solidFill>
              <a:srgbClr val="7030A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30" name="229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1" name="230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33" name="232 Forma libre"/>
            <p:cNvSpPr/>
            <p:nvPr/>
          </p:nvSpPr>
          <p:spPr>
            <a:xfrm>
              <a:off x="6779091" y="2346232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660066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34" name="233 Forma libre"/>
            <p:cNvSpPr/>
            <p:nvPr/>
          </p:nvSpPr>
          <p:spPr>
            <a:xfrm flipH="1">
              <a:off x="6779091" y="2336245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660066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35" name="234 Conector angular"/>
            <p:cNvCxnSpPr>
              <a:stCxn id="234" idx="0"/>
              <a:endCxn id="238" idx="5"/>
            </p:cNvCxnSpPr>
            <p:nvPr/>
          </p:nvCxnSpPr>
          <p:spPr>
            <a:xfrm rot="10800000">
              <a:off x="6694630" y="2274834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" name="235 Grupo"/>
            <p:cNvGrpSpPr/>
            <p:nvPr/>
          </p:nvGrpSpPr>
          <p:grpSpPr>
            <a:xfrm rot="6551618">
              <a:off x="6610021" y="2099032"/>
              <a:ext cx="216466" cy="163043"/>
              <a:chOff x="5071293" y="2940735"/>
              <a:chExt cx="1062961" cy="825145"/>
            </a:xfrm>
            <a:solidFill>
              <a:srgbClr val="7030A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37" name="236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8" name="237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03" name="302 Grupo"/>
          <p:cNvGrpSpPr/>
          <p:nvPr/>
        </p:nvGrpSpPr>
        <p:grpSpPr>
          <a:xfrm>
            <a:off x="4906184" y="155068"/>
            <a:ext cx="336516" cy="661916"/>
            <a:chOff x="6877913" y="4532057"/>
            <a:chExt cx="336516" cy="661916"/>
          </a:xfrm>
        </p:grpSpPr>
        <p:sp>
          <p:nvSpPr>
            <p:cNvPr id="291" name="290 Forma libre"/>
            <p:cNvSpPr/>
            <p:nvPr/>
          </p:nvSpPr>
          <p:spPr>
            <a:xfrm>
              <a:off x="7020272" y="4806803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9933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92" name="291 Forma libre"/>
            <p:cNvSpPr/>
            <p:nvPr/>
          </p:nvSpPr>
          <p:spPr>
            <a:xfrm flipH="1">
              <a:off x="7020272" y="4796816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9933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93" name="292 Conector angular"/>
            <p:cNvCxnSpPr>
              <a:stCxn id="292" idx="0"/>
              <a:endCxn id="296" idx="5"/>
            </p:cNvCxnSpPr>
            <p:nvPr/>
          </p:nvCxnSpPr>
          <p:spPr>
            <a:xfrm rot="10800000">
              <a:off x="6935811" y="4735405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4" name="293 Grupo"/>
            <p:cNvGrpSpPr/>
            <p:nvPr/>
          </p:nvGrpSpPr>
          <p:grpSpPr>
            <a:xfrm rot="6551618">
              <a:off x="6851202" y="4559603"/>
              <a:ext cx="216466" cy="163043"/>
              <a:chOff x="5071293" y="2940735"/>
              <a:chExt cx="1062961" cy="825145"/>
            </a:xfrm>
            <a:solidFill>
              <a:srgbClr val="FF9933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95" name="294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6" name="295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97" name="296 Forma libre"/>
            <p:cNvSpPr/>
            <p:nvPr/>
          </p:nvSpPr>
          <p:spPr>
            <a:xfrm>
              <a:off x="7140788" y="4805968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9933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98" name="297 Forma libre"/>
            <p:cNvSpPr/>
            <p:nvPr/>
          </p:nvSpPr>
          <p:spPr>
            <a:xfrm flipH="1">
              <a:off x="7140788" y="4795981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9933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99" name="298 Conector angular"/>
            <p:cNvCxnSpPr>
              <a:stCxn id="298" idx="0"/>
              <a:endCxn id="302" idx="5"/>
            </p:cNvCxnSpPr>
            <p:nvPr/>
          </p:nvCxnSpPr>
          <p:spPr>
            <a:xfrm rot="10800000">
              <a:off x="7056327" y="4734570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0" name="299 Grupo"/>
            <p:cNvGrpSpPr/>
            <p:nvPr/>
          </p:nvGrpSpPr>
          <p:grpSpPr>
            <a:xfrm rot="6551618">
              <a:off x="6971718" y="4558768"/>
              <a:ext cx="216466" cy="163043"/>
              <a:chOff x="5071293" y="2940735"/>
              <a:chExt cx="1062961" cy="825145"/>
            </a:xfrm>
            <a:solidFill>
              <a:srgbClr val="FF9933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301" name="300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2" name="301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7" name="6 Grupo"/>
          <p:cNvGrpSpPr/>
          <p:nvPr/>
        </p:nvGrpSpPr>
        <p:grpSpPr>
          <a:xfrm>
            <a:off x="6541821" y="2400753"/>
            <a:ext cx="1815492" cy="1385324"/>
            <a:chOff x="6541821" y="2247839"/>
            <a:chExt cx="1815492" cy="1922530"/>
          </a:xfrm>
        </p:grpSpPr>
        <p:grpSp>
          <p:nvGrpSpPr>
            <p:cNvPr id="71" name="70 Grupo"/>
            <p:cNvGrpSpPr/>
            <p:nvPr/>
          </p:nvGrpSpPr>
          <p:grpSpPr>
            <a:xfrm>
              <a:off x="6541821" y="2247839"/>
              <a:ext cx="1815492" cy="1922530"/>
              <a:chOff x="1402287" y="836711"/>
              <a:chExt cx="1815492" cy="1922530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Text Box 123"/>
              <p:cNvSpPr txBox="1">
                <a:spLocks noChangeArrowheads="1"/>
              </p:cNvSpPr>
              <p:nvPr/>
            </p:nvSpPr>
            <p:spPr bwMode="auto">
              <a:xfrm>
                <a:off x="1435100" y="2146300"/>
                <a:ext cx="1265238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/>
                  <a:t>DNA microarray</a:t>
                </a:r>
                <a:endParaRPr lang="en-GB" sz="1200"/>
              </a:p>
            </p:txBody>
          </p:sp>
          <p:sp>
            <p:nvSpPr>
              <p:cNvPr id="6" name="Text Box 128"/>
              <p:cNvSpPr txBox="1">
                <a:spLocks noChangeArrowheads="1"/>
              </p:cNvSpPr>
              <p:nvPr/>
            </p:nvSpPr>
            <p:spPr bwMode="auto">
              <a:xfrm>
                <a:off x="2335213" y="1557338"/>
                <a:ext cx="268287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 i="1"/>
                  <a:t>b</a:t>
                </a:r>
                <a:endParaRPr lang="en-GB" sz="1200" i="1"/>
              </a:p>
            </p:txBody>
          </p:sp>
          <p:sp>
            <p:nvSpPr>
              <p:cNvPr id="50" name="Oval 36"/>
              <p:cNvSpPr>
                <a:spLocks noChangeAspect="1" noChangeArrowheads="1"/>
              </p:cNvSpPr>
              <p:nvPr/>
            </p:nvSpPr>
            <p:spPr bwMode="auto">
              <a:xfrm>
                <a:off x="1402287" y="836711"/>
                <a:ext cx="1815492" cy="1922530"/>
              </a:xfrm>
              <a:prstGeom prst="ellipse">
                <a:avLst/>
              </a:prstGeom>
              <a:solidFill>
                <a:srgbClr val="99CCFF"/>
              </a:solidFill>
              <a:ln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0000" dist="23000" dir="5400000" rotWithShape="0">
                  <a:srgbClr val="000000">
                    <a:alpha val="35000"/>
                  </a:srgbClr>
                </a:outerShdw>
                <a:reflection blurRad="6350" stA="50000" endA="300" endPos="550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powder">
                <a:bevelT prst="convex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53" name="52 Forma libre"/>
              <p:cNvSpPr/>
              <p:nvPr/>
            </p:nvSpPr>
            <p:spPr>
              <a:xfrm>
                <a:off x="1474442" y="925713"/>
                <a:ext cx="1672618" cy="1111885"/>
              </a:xfrm>
              <a:custGeom>
                <a:avLst/>
                <a:gdLst>
                  <a:gd name="connsiteX0" fmla="*/ 64798 w 1672618"/>
                  <a:gd name="connsiteY0" fmla="*/ 666867 h 1111885"/>
                  <a:gd name="connsiteX1" fmla="*/ 377218 w 1672618"/>
                  <a:gd name="connsiteY1" fmla="*/ 781167 h 1111885"/>
                  <a:gd name="connsiteX2" fmla="*/ 506758 w 1672618"/>
                  <a:gd name="connsiteY2" fmla="*/ 461127 h 1111885"/>
                  <a:gd name="connsiteX3" fmla="*/ 872518 w 1672618"/>
                  <a:gd name="connsiteY3" fmla="*/ 560187 h 1111885"/>
                  <a:gd name="connsiteX4" fmla="*/ 918238 w 1672618"/>
                  <a:gd name="connsiteY4" fmla="*/ 270627 h 1111885"/>
                  <a:gd name="connsiteX5" fmla="*/ 499138 w 1672618"/>
                  <a:gd name="connsiteY5" fmla="*/ 301107 h 1111885"/>
                  <a:gd name="connsiteX6" fmla="*/ 628678 w 1672618"/>
                  <a:gd name="connsiteY6" fmla="*/ 842127 h 1111885"/>
                  <a:gd name="connsiteX7" fmla="*/ 1276378 w 1672618"/>
                  <a:gd name="connsiteY7" fmla="*/ 537327 h 1111885"/>
                  <a:gd name="connsiteX8" fmla="*/ 1093498 w 1672618"/>
                  <a:gd name="connsiteY8" fmla="*/ 285867 h 1111885"/>
                  <a:gd name="connsiteX9" fmla="*/ 773458 w 1672618"/>
                  <a:gd name="connsiteY9" fmla="*/ 964047 h 1111885"/>
                  <a:gd name="connsiteX10" fmla="*/ 262918 w 1672618"/>
                  <a:gd name="connsiteY10" fmla="*/ 1032627 h 1111885"/>
                  <a:gd name="connsiteX11" fmla="*/ 377218 w 1672618"/>
                  <a:gd name="connsiteY11" fmla="*/ 354447 h 1111885"/>
                  <a:gd name="connsiteX12" fmla="*/ 1154458 w 1672618"/>
                  <a:gd name="connsiteY12" fmla="*/ 125847 h 1111885"/>
                  <a:gd name="connsiteX13" fmla="*/ 1040158 w 1672618"/>
                  <a:gd name="connsiteY13" fmla="*/ 994527 h 1111885"/>
                  <a:gd name="connsiteX14" fmla="*/ 1573558 w 1672618"/>
                  <a:gd name="connsiteY14" fmla="*/ 941187 h 1111885"/>
                  <a:gd name="connsiteX15" fmla="*/ 1398298 w 1672618"/>
                  <a:gd name="connsiteY15" fmla="*/ 346827 h 1111885"/>
                  <a:gd name="connsiteX16" fmla="*/ 102898 w 1672618"/>
                  <a:gd name="connsiteY16" fmla="*/ 1070727 h 1111885"/>
                  <a:gd name="connsiteX17" fmla="*/ 133378 w 1672618"/>
                  <a:gd name="connsiteY17" fmla="*/ 453507 h 1111885"/>
                  <a:gd name="connsiteX18" fmla="*/ 552478 w 1672618"/>
                  <a:gd name="connsiteY18" fmla="*/ 64887 h 1111885"/>
                  <a:gd name="connsiteX19" fmla="*/ 781078 w 1672618"/>
                  <a:gd name="connsiteY19" fmla="*/ 499227 h 1111885"/>
                  <a:gd name="connsiteX20" fmla="*/ 1002058 w 1672618"/>
                  <a:gd name="connsiteY20" fmla="*/ 1108827 h 1111885"/>
                  <a:gd name="connsiteX21" fmla="*/ 1383058 w 1672618"/>
                  <a:gd name="connsiteY21" fmla="*/ 712587 h 1111885"/>
                  <a:gd name="connsiteX22" fmla="*/ 1337338 w 1672618"/>
                  <a:gd name="connsiteY22" fmla="*/ 217287 h 1111885"/>
                  <a:gd name="connsiteX23" fmla="*/ 826798 w 1672618"/>
                  <a:gd name="connsiteY23" fmla="*/ 11547 h 1111885"/>
                  <a:gd name="connsiteX24" fmla="*/ 636298 w 1672618"/>
                  <a:gd name="connsiteY24" fmla="*/ 537327 h 1111885"/>
                  <a:gd name="connsiteX25" fmla="*/ 1436398 w 1672618"/>
                  <a:gd name="connsiteY25" fmla="*/ 956427 h 1111885"/>
                  <a:gd name="connsiteX26" fmla="*/ 1672618 w 1672618"/>
                  <a:gd name="connsiteY26" fmla="*/ 804027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72618" h="1111885">
                    <a:moveTo>
                      <a:pt x="64798" y="666867"/>
                    </a:moveTo>
                    <a:cubicBezTo>
                      <a:pt x="184178" y="741162"/>
                      <a:pt x="303558" y="815457"/>
                      <a:pt x="377218" y="781167"/>
                    </a:cubicBezTo>
                    <a:cubicBezTo>
                      <a:pt x="450878" y="746877"/>
                      <a:pt x="424208" y="497957"/>
                      <a:pt x="506758" y="461127"/>
                    </a:cubicBezTo>
                    <a:cubicBezTo>
                      <a:pt x="589308" y="424297"/>
                      <a:pt x="803938" y="591937"/>
                      <a:pt x="872518" y="560187"/>
                    </a:cubicBezTo>
                    <a:cubicBezTo>
                      <a:pt x="941098" y="528437"/>
                      <a:pt x="980468" y="313807"/>
                      <a:pt x="918238" y="270627"/>
                    </a:cubicBezTo>
                    <a:cubicBezTo>
                      <a:pt x="856008" y="227447"/>
                      <a:pt x="547398" y="205857"/>
                      <a:pt x="499138" y="301107"/>
                    </a:cubicBezTo>
                    <a:cubicBezTo>
                      <a:pt x="450878" y="396357"/>
                      <a:pt x="499138" y="802757"/>
                      <a:pt x="628678" y="842127"/>
                    </a:cubicBezTo>
                    <a:cubicBezTo>
                      <a:pt x="758218" y="881497"/>
                      <a:pt x="1198908" y="630037"/>
                      <a:pt x="1276378" y="537327"/>
                    </a:cubicBezTo>
                    <a:cubicBezTo>
                      <a:pt x="1353848" y="444617"/>
                      <a:pt x="1177318" y="214747"/>
                      <a:pt x="1093498" y="285867"/>
                    </a:cubicBezTo>
                    <a:cubicBezTo>
                      <a:pt x="1009678" y="356987"/>
                      <a:pt x="911888" y="839587"/>
                      <a:pt x="773458" y="964047"/>
                    </a:cubicBezTo>
                    <a:cubicBezTo>
                      <a:pt x="635028" y="1088507"/>
                      <a:pt x="328958" y="1134227"/>
                      <a:pt x="262918" y="1032627"/>
                    </a:cubicBezTo>
                    <a:cubicBezTo>
                      <a:pt x="196878" y="931027"/>
                      <a:pt x="228628" y="505577"/>
                      <a:pt x="377218" y="354447"/>
                    </a:cubicBezTo>
                    <a:cubicBezTo>
                      <a:pt x="525808" y="203317"/>
                      <a:pt x="1043968" y="19167"/>
                      <a:pt x="1154458" y="125847"/>
                    </a:cubicBezTo>
                    <a:cubicBezTo>
                      <a:pt x="1264948" y="232527"/>
                      <a:pt x="970308" y="858637"/>
                      <a:pt x="1040158" y="994527"/>
                    </a:cubicBezTo>
                    <a:cubicBezTo>
                      <a:pt x="1110008" y="1130417"/>
                      <a:pt x="1513868" y="1049137"/>
                      <a:pt x="1573558" y="941187"/>
                    </a:cubicBezTo>
                    <a:cubicBezTo>
                      <a:pt x="1633248" y="833237"/>
                      <a:pt x="1643408" y="325237"/>
                      <a:pt x="1398298" y="346827"/>
                    </a:cubicBezTo>
                    <a:cubicBezTo>
                      <a:pt x="1153188" y="368417"/>
                      <a:pt x="313718" y="1052947"/>
                      <a:pt x="102898" y="1070727"/>
                    </a:cubicBezTo>
                    <a:cubicBezTo>
                      <a:pt x="-107922" y="1088507"/>
                      <a:pt x="58448" y="621147"/>
                      <a:pt x="133378" y="453507"/>
                    </a:cubicBezTo>
                    <a:cubicBezTo>
                      <a:pt x="208308" y="285867"/>
                      <a:pt x="444528" y="57267"/>
                      <a:pt x="552478" y="64887"/>
                    </a:cubicBezTo>
                    <a:cubicBezTo>
                      <a:pt x="660428" y="72507"/>
                      <a:pt x="706148" y="325237"/>
                      <a:pt x="781078" y="499227"/>
                    </a:cubicBezTo>
                    <a:cubicBezTo>
                      <a:pt x="856008" y="673217"/>
                      <a:pt x="901728" y="1073267"/>
                      <a:pt x="1002058" y="1108827"/>
                    </a:cubicBezTo>
                    <a:cubicBezTo>
                      <a:pt x="1102388" y="1144387"/>
                      <a:pt x="1327178" y="861177"/>
                      <a:pt x="1383058" y="712587"/>
                    </a:cubicBezTo>
                    <a:cubicBezTo>
                      <a:pt x="1438938" y="563997"/>
                      <a:pt x="1430048" y="334127"/>
                      <a:pt x="1337338" y="217287"/>
                    </a:cubicBezTo>
                    <a:cubicBezTo>
                      <a:pt x="1244628" y="100447"/>
                      <a:pt x="943638" y="-41793"/>
                      <a:pt x="826798" y="11547"/>
                    </a:cubicBezTo>
                    <a:cubicBezTo>
                      <a:pt x="709958" y="64887"/>
                      <a:pt x="534698" y="379847"/>
                      <a:pt x="636298" y="537327"/>
                    </a:cubicBezTo>
                    <a:cubicBezTo>
                      <a:pt x="737898" y="694807"/>
                      <a:pt x="1263678" y="911977"/>
                      <a:pt x="1436398" y="956427"/>
                    </a:cubicBezTo>
                    <a:cubicBezTo>
                      <a:pt x="1609118" y="1000877"/>
                      <a:pt x="1640868" y="902452"/>
                      <a:pt x="1672618" y="804027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53 Elipse"/>
              <p:cNvSpPr>
                <a:spLocks noChangeAspect="1"/>
              </p:cNvSpPr>
              <p:nvPr/>
            </p:nvSpPr>
            <p:spPr>
              <a:xfrm>
                <a:off x="2516189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54 Elipse"/>
              <p:cNvSpPr>
                <a:spLocks noChangeAspect="1"/>
              </p:cNvSpPr>
              <p:nvPr/>
            </p:nvSpPr>
            <p:spPr>
              <a:xfrm>
                <a:off x="2668589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55 Elipse"/>
              <p:cNvSpPr>
                <a:spLocks noChangeAspect="1"/>
              </p:cNvSpPr>
              <p:nvPr/>
            </p:nvSpPr>
            <p:spPr>
              <a:xfrm>
                <a:off x="2123730" y="16455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56 Elipse"/>
              <p:cNvSpPr>
                <a:spLocks noChangeAspect="1"/>
              </p:cNvSpPr>
              <p:nvPr/>
            </p:nvSpPr>
            <p:spPr>
              <a:xfrm>
                <a:off x="2276130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57 Elipse"/>
              <p:cNvSpPr>
                <a:spLocks noChangeAspect="1"/>
              </p:cNvSpPr>
              <p:nvPr/>
            </p:nvSpPr>
            <p:spPr>
              <a:xfrm>
                <a:off x="1763690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58 Elipse"/>
              <p:cNvSpPr>
                <a:spLocks noChangeAspect="1"/>
              </p:cNvSpPr>
              <p:nvPr/>
            </p:nvSpPr>
            <p:spPr>
              <a:xfrm>
                <a:off x="1907706" y="178524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59 Elipse"/>
              <p:cNvSpPr>
                <a:spLocks noChangeAspect="1"/>
              </p:cNvSpPr>
              <p:nvPr/>
            </p:nvSpPr>
            <p:spPr>
              <a:xfrm>
                <a:off x="1501947" y="191683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60 Elipse"/>
              <p:cNvSpPr>
                <a:spLocks noChangeAspect="1"/>
              </p:cNvSpPr>
              <p:nvPr/>
            </p:nvSpPr>
            <p:spPr>
              <a:xfrm>
                <a:off x="1717971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61 Elipse"/>
              <p:cNvSpPr>
                <a:spLocks noChangeAspect="1"/>
              </p:cNvSpPr>
              <p:nvPr/>
            </p:nvSpPr>
            <p:spPr>
              <a:xfrm>
                <a:off x="2206787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62 Elipse"/>
              <p:cNvSpPr>
                <a:spLocks noChangeAspect="1"/>
              </p:cNvSpPr>
              <p:nvPr/>
            </p:nvSpPr>
            <p:spPr>
              <a:xfrm>
                <a:off x="2350803" y="15692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63 Elipse"/>
              <p:cNvSpPr>
                <a:spLocks noChangeAspect="1"/>
              </p:cNvSpPr>
              <p:nvPr/>
            </p:nvSpPr>
            <p:spPr>
              <a:xfrm>
                <a:off x="2726083" y="17216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64 Elipse"/>
              <p:cNvSpPr>
                <a:spLocks noChangeAspect="1"/>
              </p:cNvSpPr>
              <p:nvPr/>
            </p:nvSpPr>
            <p:spPr>
              <a:xfrm>
                <a:off x="3014115" y="184482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65 Elipse"/>
              <p:cNvSpPr>
                <a:spLocks noChangeAspect="1"/>
              </p:cNvSpPr>
              <p:nvPr/>
            </p:nvSpPr>
            <p:spPr>
              <a:xfrm>
                <a:off x="2359187" y="9163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66 Elipse"/>
              <p:cNvSpPr>
                <a:spLocks noChangeAspect="1"/>
              </p:cNvSpPr>
              <p:nvPr/>
            </p:nvSpPr>
            <p:spPr>
              <a:xfrm>
                <a:off x="2663130" y="10687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67 Elipse"/>
              <p:cNvSpPr>
                <a:spLocks noChangeAspect="1"/>
              </p:cNvSpPr>
              <p:nvPr/>
            </p:nvSpPr>
            <p:spPr>
              <a:xfrm>
                <a:off x="2815530" y="129299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68 Elipse"/>
              <p:cNvSpPr>
                <a:spLocks noChangeAspect="1"/>
              </p:cNvSpPr>
              <p:nvPr/>
            </p:nvSpPr>
            <p:spPr>
              <a:xfrm>
                <a:off x="2375098" y="1797046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1" name="180 Grupo"/>
            <p:cNvGrpSpPr>
              <a:grpSpLocks noChangeAspect="1"/>
            </p:cNvGrpSpPr>
            <p:nvPr/>
          </p:nvGrpSpPr>
          <p:grpSpPr>
            <a:xfrm>
              <a:off x="6787011" y="2375246"/>
              <a:ext cx="386559" cy="1183088"/>
              <a:chOff x="5296685" y="2917398"/>
              <a:chExt cx="646678" cy="1979196"/>
            </a:xfrm>
          </p:grpSpPr>
          <p:sp>
            <p:nvSpPr>
              <p:cNvPr id="182" name="181 Forma libre"/>
              <p:cNvSpPr>
                <a:spLocks noChangeAspect="1"/>
              </p:cNvSpPr>
              <p:nvPr/>
            </p:nvSpPr>
            <p:spPr>
              <a:xfrm>
                <a:off x="5722891" y="3737455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sp>
            <p:nvSpPr>
              <p:cNvPr id="183" name="182 Forma libre"/>
              <p:cNvSpPr>
                <a:spLocks noChangeAspect="1"/>
              </p:cNvSpPr>
              <p:nvPr/>
            </p:nvSpPr>
            <p:spPr>
              <a:xfrm flipH="1">
                <a:off x="5722892" y="3707553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  <a:prstDash val="soli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cxnSp>
            <p:nvCxnSpPr>
              <p:cNvPr id="184" name="183 Conector angular"/>
              <p:cNvCxnSpPr>
                <a:cxnSpLocks noChangeAspect="1"/>
                <a:stCxn id="183" idx="0"/>
                <a:endCxn id="187" idx="5"/>
              </p:cNvCxnSpPr>
              <p:nvPr/>
            </p:nvCxnSpPr>
            <p:spPr>
              <a:xfrm rot="10800000">
                <a:off x="5470026" y="3523697"/>
                <a:ext cx="252867" cy="183857"/>
              </a:xfrm>
              <a:prstGeom prst="bentConnector2">
                <a:avLst/>
              </a:prstGeom>
              <a:ln w="38100">
                <a:solidFill>
                  <a:srgbClr val="003300"/>
                </a:solidFill>
              </a:ln>
              <a:effectLst>
                <a:glow rad="139700">
                  <a:schemeClr val="accent1">
                    <a:lumMod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184 Grupo"/>
              <p:cNvGrpSpPr>
                <a:grpSpLocks noChangeAspect="1"/>
              </p:cNvGrpSpPr>
              <p:nvPr/>
            </p:nvGrpSpPr>
            <p:grpSpPr>
              <a:xfrm rot="6551618">
                <a:off x="5216715" y="2997368"/>
                <a:ext cx="648072" cy="488131"/>
                <a:chOff x="5071293" y="2940735"/>
                <a:chExt cx="1062961" cy="825145"/>
              </a:xfrm>
              <a:solidFill>
                <a:schemeClr val="accent2">
                  <a:lumMod val="50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6" name="185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7" name="186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393" name="392 Grupo"/>
            <p:cNvGrpSpPr>
              <a:grpSpLocks noChangeAspect="1"/>
            </p:cNvGrpSpPr>
            <p:nvPr/>
          </p:nvGrpSpPr>
          <p:grpSpPr>
            <a:xfrm>
              <a:off x="7133141" y="2247839"/>
              <a:ext cx="386559" cy="1343519"/>
              <a:chOff x="5296685" y="2917398"/>
              <a:chExt cx="646678" cy="1979196"/>
            </a:xfrm>
          </p:grpSpPr>
          <p:sp>
            <p:nvSpPr>
              <p:cNvPr id="394" name="393 Forma libre"/>
              <p:cNvSpPr>
                <a:spLocks noChangeAspect="1"/>
              </p:cNvSpPr>
              <p:nvPr/>
            </p:nvSpPr>
            <p:spPr>
              <a:xfrm>
                <a:off x="5722891" y="3737455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sp>
            <p:nvSpPr>
              <p:cNvPr id="395" name="394 Forma libre"/>
              <p:cNvSpPr>
                <a:spLocks noChangeAspect="1"/>
              </p:cNvSpPr>
              <p:nvPr/>
            </p:nvSpPr>
            <p:spPr>
              <a:xfrm flipH="1">
                <a:off x="5722892" y="3707553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  <a:prstDash val="soli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cxnSp>
            <p:nvCxnSpPr>
              <p:cNvPr id="396" name="395 Conector angular"/>
              <p:cNvCxnSpPr>
                <a:cxnSpLocks noChangeAspect="1"/>
                <a:stCxn id="395" idx="0"/>
                <a:endCxn id="399" idx="5"/>
              </p:cNvCxnSpPr>
              <p:nvPr/>
            </p:nvCxnSpPr>
            <p:spPr>
              <a:xfrm rot="10800000">
                <a:off x="5470026" y="3523697"/>
                <a:ext cx="252867" cy="183857"/>
              </a:xfrm>
              <a:prstGeom prst="bentConnector2">
                <a:avLst/>
              </a:prstGeom>
              <a:ln w="38100">
                <a:solidFill>
                  <a:srgbClr val="003300"/>
                </a:solidFill>
              </a:ln>
              <a:effectLst>
                <a:glow rad="139700">
                  <a:schemeClr val="accent1">
                    <a:lumMod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7" name="396 Grupo"/>
              <p:cNvGrpSpPr>
                <a:grpSpLocks noChangeAspect="1"/>
              </p:cNvGrpSpPr>
              <p:nvPr/>
            </p:nvGrpSpPr>
            <p:grpSpPr>
              <a:xfrm rot="6551618">
                <a:off x="5216715" y="2997368"/>
                <a:ext cx="648072" cy="488131"/>
                <a:chOff x="5071293" y="2940735"/>
                <a:chExt cx="1062961" cy="825145"/>
              </a:xfrm>
              <a:solidFill>
                <a:schemeClr val="accent2">
                  <a:lumMod val="50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98" name="397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9" name="398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00" name="399 Grupo"/>
            <p:cNvGrpSpPr>
              <a:grpSpLocks noChangeAspect="1"/>
            </p:cNvGrpSpPr>
            <p:nvPr/>
          </p:nvGrpSpPr>
          <p:grpSpPr>
            <a:xfrm>
              <a:off x="7466662" y="2295214"/>
              <a:ext cx="386559" cy="1343519"/>
              <a:chOff x="5296685" y="2917398"/>
              <a:chExt cx="646678" cy="1979196"/>
            </a:xfrm>
          </p:grpSpPr>
          <p:sp>
            <p:nvSpPr>
              <p:cNvPr id="401" name="400 Forma libre"/>
              <p:cNvSpPr>
                <a:spLocks noChangeAspect="1"/>
              </p:cNvSpPr>
              <p:nvPr/>
            </p:nvSpPr>
            <p:spPr>
              <a:xfrm>
                <a:off x="5722891" y="3737455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sp>
            <p:nvSpPr>
              <p:cNvPr id="402" name="401 Forma libre"/>
              <p:cNvSpPr>
                <a:spLocks noChangeAspect="1"/>
              </p:cNvSpPr>
              <p:nvPr/>
            </p:nvSpPr>
            <p:spPr>
              <a:xfrm flipH="1">
                <a:off x="5722892" y="3707553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  <a:prstDash val="soli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cxnSp>
            <p:nvCxnSpPr>
              <p:cNvPr id="403" name="402 Conector angular"/>
              <p:cNvCxnSpPr>
                <a:cxnSpLocks noChangeAspect="1"/>
                <a:stCxn id="402" idx="0"/>
                <a:endCxn id="406" idx="5"/>
              </p:cNvCxnSpPr>
              <p:nvPr/>
            </p:nvCxnSpPr>
            <p:spPr>
              <a:xfrm rot="10800000">
                <a:off x="5470026" y="3523697"/>
                <a:ext cx="252867" cy="183857"/>
              </a:xfrm>
              <a:prstGeom prst="bentConnector2">
                <a:avLst/>
              </a:prstGeom>
              <a:ln w="38100">
                <a:solidFill>
                  <a:srgbClr val="003300"/>
                </a:solidFill>
              </a:ln>
              <a:effectLst>
                <a:glow rad="139700">
                  <a:schemeClr val="accent1">
                    <a:lumMod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4" name="403 Grupo"/>
              <p:cNvGrpSpPr>
                <a:grpSpLocks noChangeAspect="1"/>
              </p:cNvGrpSpPr>
              <p:nvPr/>
            </p:nvGrpSpPr>
            <p:grpSpPr>
              <a:xfrm rot="6551618">
                <a:off x="5216715" y="2997368"/>
                <a:ext cx="648072" cy="488131"/>
                <a:chOff x="5071293" y="2940735"/>
                <a:chExt cx="1062961" cy="825145"/>
              </a:xfrm>
              <a:solidFill>
                <a:schemeClr val="accent2">
                  <a:lumMod val="50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05" name="404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6" name="405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07" name="406 Grupo"/>
            <p:cNvGrpSpPr>
              <a:grpSpLocks noChangeAspect="1"/>
            </p:cNvGrpSpPr>
            <p:nvPr/>
          </p:nvGrpSpPr>
          <p:grpSpPr>
            <a:xfrm>
              <a:off x="7865617" y="2630272"/>
              <a:ext cx="254138" cy="929671"/>
              <a:chOff x="5296685" y="2917398"/>
              <a:chExt cx="646678" cy="1979196"/>
            </a:xfrm>
          </p:grpSpPr>
          <p:sp>
            <p:nvSpPr>
              <p:cNvPr id="408" name="407 Forma libre"/>
              <p:cNvSpPr>
                <a:spLocks noChangeAspect="1"/>
              </p:cNvSpPr>
              <p:nvPr/>
            </p:nvSpPr>
            <p:spPr>
              <a:xfrm>
                <a:off x="5722891" y="3737455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sp>
            <p:nvSpPr>
              <p:cNvPr id="409" name="408 Forma libre"/>
              <p:cNvSpPr>
                <a:spLocks noChangeAspect="1"/>
              </p:cNvSpPr>
              <p:nvPr/>
            </p:nvSpPr>
            <p:spPr>
              <a:xfrm flipH="1">
                <a:off x="5722892" y="3707553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  <a:prstDash val="soli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cxnSp>
            <p:nvCxnSpPr>
              <p:cNvPr id="410" name="409 Conector angular"/>
              <p:cNvCxnSpPr>
                <a:cxnSpLocks noChangeAspect="1"/>
                <a:stCxn id="409" idx="0"/>
                <a:endCxn id="413" idx="5"/>
              </p:cNvCxnSpPr>
              <p:nvPr/>
            </p:nvCxnSpPr>
            <p:spPr>
              <a:xfrm rot="10800000">
                <a:off x="5470026" y="3523697"/>
                <a:ext cx="252867" cy="183857"/>
              </a:xfrm>
              <a:prstGeom prst="bentConnector2">
                <a:avLst/>
              </a:prstGeom>
              <a:ln w="38100">
                <a:solidFill>
                  <a:srgbClr val="003300"/>
                </a:solidFill>
              </a:ln>
              <a:effectLst>
                <a:glow rad="139700">
                  <a:schemeClr val="accent1">
                    <a:lumMod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1" name="410 Grupo"/>
              <p:cNvGrpSpPr>
                <a:grpSpLocks noChangeAspect="1"/>
              </p:cNvGrpSpPr>
              <p:nvPr/>
            </p:nvGrpSpPr>
            <p:grpSpPr>
              <a:xfrm rot="6551618">
                <a:off x="5216715" y="2997368"/>
                <a:ext cx="648072" cy="488131"/>
                <a:chOff x="5071293" y="2940735"/>
                <a:chExt cx="1062961" cy="825145"/>
              </a:xfrm>
              <a:solidFill>
                <a:schemeClr val="accent2">
                  <a:lumMod val="50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12" name="411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3" name="412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14" name="413 Grupo"/>
            <p:cNvGrpSpPr>
              <a:grpSpLocks noChangeAspect="1"/>
            </p:cNvGrpSpPr>
            <p:nvPr/>
          </p:nvGrpSpPr>
          <p:grpSpPr>
            <a:xfrm>
              <a:off x="6629085" y="2733695"/>
              <a:ext cx="254138" cy="929671"/>
              <a:chOff x="5296685" y="2917398"/>
              <a:chExt cx="646678" cy="1979196"/>
            </a:xfrm>
          </p:grpSpPr>
          <p:sp>
            <p:nvSpPr>
              <p:cNvPr id="415" name="414 Forma libre"/>
              <p:cNvSpPr>
                <a:spLocks noChangeAspect="1"/>
              </p:cNvSpPr>
              <p:nvPr/>
            </p:nvSpPr>
            <p:spPr>
              <a:xfrm>
                <a:off x="5722891" y="3737455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sp>
            <p:nvSpPr>
              <p:cNvPr id="416" name="415 Forma libre"/>
              <p:cNvSpPr>
                <a:spLocks noChangeAspect="1"/>
              </p:cNvSpPr>
              <p:nvPr/>
            </p:nvSpPr>
            <p:spPr>
              <a:xfrm flipH="1">
                <a:off x="5722892" y="3707553"/>
                <a:ext cx="220471" cy="1159139"/>
              </a:xfrm>
              <a:custGeom>
                <a:avLst/>
                <a:gdLst>
                  <a:gd name="connsiteX0" fmla="*/ 411752 w 411752"/>
                  <a:gd name="connsiteY0" fmla="*/ 0 h 1569720"/>
                  <a:gd name="connsiteX1" fmla="*/ 272 w 411752"/>
                  <a:gd name="connsiteY1" fmla="*/ 266700 h 1569720"/>
                  <a:gd name="connsiteX2" fmla="*/ 343172 w 411752"/>
                  <a:gd name="connsiteY2" fmla="*/ 601980 h 1569720"/>
                  <a:gd name="connsiteX3" fmla="*/ 15512 w 411752"/>
                  <a:gd name="connsiteY3" fmla="*/ 929640 h 1569720"/>
                  <a:gd name="connsiteX4" fmla="*/ 396512 w 411752"/>
                  <a:gd name="connsiteY4" fmla="*/ 1181100 h 1569720"/>
                  <a:gd name="connsiteX5" fmla="*/ 129812 w 411752"/>
                  <a:gd name="connsiteY5" fmla="*/ 1569720 h 156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752" h="1569720">
                    <a:moveTo>
                      <a:pt x="411752" y="0"/>
                    </a:moveTo>
                    <a:cubicBezTo>
                      <a:pt x="211727" y="83185"/>
                      <a:pt x="11702" y="166370"/>
                      <a:pt x="272" y="266700"/>
                    </a:cubicBezTo>
                    <a:cubicBezTo>
                      <a:pt x="-11158" y="367030"/>
                      <a:pt x="340632" y="491490"/>
                      <a:pt x="343172" y="601980"/>
                    </a:cubicBezTo>
                    <a:cubicBezTo>
                      <a:pt x="345712" y="712470"/>
                      <a:pt x="6622" y="833120"/>
                      <a:pt x="15512" y="929640"/>
                    </a:cubicBezTo>
                    <a:cubicBezTo>
                      <a:pt x="24402" y="1026160"/>
                      <a:pt x="377462" y="1074420"/>
                      <a:pt x="396512" y="1181100"/>
                    </a:cubicBezTo>
                    <a:cubicBezTo>
                      <a:pt x="415562" y="1287780"/>
                      <a:pt x="272687" y="1428750"/>
                      <a:pt x="129812" y="1569720"/>
                    </a:cubicBezTo>
                  </a:path>
                </a:pathLst>
              </a:custGeom>
              <a:noFill/>
              <a:ln w="38100">
                <a:solidFill>
                  <a:srgbClr val="002060"/>
                </a:solidFill>
                <a:prstDash val="solid"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n>
                    <a:solidFill>
                      <a:srgbClr val="002060"/>
                    </a:solidFill>
                  </a:ln>
                </a:endParaRPr>
              </a:p>
            </p:txBody>
          </p:sp>
          <p:cxnSp>
            <p:nvCxnSpPr>
              <p:cNvPr id="417" name="416 Conector angular"/>
              <p:cNvCxnSpPr>
                <a:cxnSpLocks noChangeAspect="1"/>
                <a:stCxn id="416" idx="0"/>
                <a:endCxn id="420" idx="5"/>
              </p:cNvCxnSpPr>
              <p:nvPr/>
            </p:nvCxnSpPr>
            <p:spPr>
              <a:xfrm rot="10800000">
                <a:off x="5470026" y="3523697"/>
                <a:ext cx="252867" cy="183857"/>
              </a:xfrm>
              <a:prstGeom prst="bentConnector2">
                <a:avLst/>
              </a:prstGeom>
              <a:ln w="38100">
                <a:solidFill>
                  <a:srgbClr val="003300"/>
                </a:solidFill>
              </a:ln>
              <a:effectLst>
                <a:glow rad="139700">
                  <a:schemeClr val="accent1">
                    <a:lumMod val="50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8" name="417 Grupo"/>
              <p:cNvGrpSpPr>
                <a:grpSpLocks noChangeAspect="1"/>
              </p:cNvGrpSpPr>
              <p:nvPr/>
            </p:nvGrpSpPr>
            <p:grpSpPr>
              <a:xfrm rot="6551618">
                <a:off x="5216715" y="2997368"/>
                <a:ext cx="648072" cy="488131"/>
                <a:chOff x="5071293" y="2940735"/>
                <a:chExt cx="1062961" cy="825145"/>
              </a:xfrm>
              <a:solidFill>
                <a:schemeClr val="accent2">
                  <a:lumMod val="50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19" name="418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0" name="419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2" name="1 Grupo"/>
          <p:cNvGrpSpPr/>
          <p:nvPr/>
        </p:nvGrpSpPr>
        <p:grpSpPr>
          <a:xfrm>
            <a:off x="3574795" y="2352808"/>
            <a:ext cx="1815492" cy="1358380"/>
            <a:chOff x="3574795" y="2231761"/>
            <a:chExt cx="1815492" cy="1948999"/>
          </a:xfrm>
        </p:grpSpPr>
        <p:grpSp>
          <p:nvGrpSpPr>
            <p:cNvPr id="421" name="420 Grupo"/>
            <p:cNvGrpSpPr/>
            <p:nvPr/>
          </p:nvGrpSpPr>
          <p:grpSpPr>
            <a:xfrm>
              <a:off x="3574795" y="2258230"/>
              <a:ext cx="1815492" cy="1922530"/>
              <a:chOff x="1402287" y="836711"/>
              <a:chExt cx="1815492" cy="1922530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2" name="Text Box 123"/>
              <p:cNvSpPr txBox="1">
                <a:spLocks noChangeArrowheads="1"/>
              </p:cNvSpPr>
              <p:nvPr/>
            </p:nvSpPr>
            <p:spPr bwMode="auto">
              <a:xfrm>
                <a:off x="1435100" y="2146300"/>
                <a:ext cx="1265238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/>
                  <a:t>DNA microarray</a:t>
                </a:r>
                <a:endParaRPr lang="en-GB" sz="1200"/>
              </a:p>
            </p:txBody>
          </p:sp>
          <p:sp>
            <p:nvSpPr>
              <p:cNvPr id="423" name="Text Box 128"/>
              <p:cNvSpPr txBox="1">
                <a:spLocks noChangeArrowheads="1"/>
              </p:cNvSpPr>
              <p:nvPr/>
            </p:nvSpPr>
            <p:spPr bwMode="auto">
              <a:xfrm>
                <a:off x="2335213" y="1557338"/>
                <a:ext cx="268287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 i="1"/>
                  <a:t>b</a:t>
                </a:r>
                <a:endParaRPr lang="en-GB" sz="1200" i="1"/>
              </a:p>
            </p:txBody>
          </p:sp>
          <p:sp>
            <p:nvSpPr>
              <p:cNvPr id="424" name="Oval 36"/>
              <p:cNvSpPr>
                <a:spLocks noChangeAspect="1" noChangeArrowheads="1"/>
              </p:cNvSpPr>
              <p:nvPr/>
            </p:nvSpPr>
            <p:spPr bwMode="auto">
              <a:xfrm>
                <a:off x="1402287" y="836711"/>
                <a:ext cx="1815492" cy="1922530"/>
              </a:xfrm>
              <a:prstGeom prst="ellipse">
                <a:avLst/>
              </a:prstGeom>
              <a:solidFill>
                <a:srgbClr val="99CCFF"/>
              </a:solidFill>
              <a:ln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0000" dist="23000" dir="5400000" rotWithShape="0">
                  <a:srgbClr val="000000">
                    <a:alpha val="35000"/>
                  </a:srgbClr>
                </a:outerShdw>
                <a:reflection blurRad="6350" stA="50000" endA="300" endPos="550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powder">
                <a:bevelT prst="convex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25" name="424 Forma libre"/>
              <p:cNvSpPr/>
              <p:nvPr/>
            </p:nvSpPr>
            <p:spPr>
              <a:xfrm>
                <a:off x="1474442" y="925713"/>
                <a:ext cx="1672618" cy="1111885"/>
              </a:xfrm>
              <a:custGeom>
                <a:avLst/>
                <a:gdLst>
                  <a:gd name="connsiteX0" fmla="*/ 64798 w 1672618"/>
                  <a:gd name="connsiteY0" fmla="*/ 666867 h 1111885"/>
                  <a:gd name="connsiteX1" fmla="*/ 377218 w 1672618"/>
                  <a:gd name="connsiteY1" fmla="*/ 781167 h 1111885"/>
                  <a:gd name="connsiteX2" fmla="*/ 506758 w 1672618"/>
                  <a:gd name="connsiteY2" fmla="*/ 461127 h 1111885"/>
                  <a:gd name="connsiteX3" fmla="*/ 872518 w 1672618"/>
                  <a:gd name="connsiteY3" fmla="*/ 560187 h 1111885"/>
                  <a:gd name="connsiteX4" fmla="*/ 918238 w 1672618"/>
                  <a:gd name="connsiteY4" fmla="*/ 270627 h 1111885"/>
                  <a:gd name="connsiteX5" fmla="*/ 499138 w 1672618"/>
                  <a:gd name="connsiteY5" fmla="*/ 301107 h 1111885"/>
                  <a:gd name="connsiteX6" fmla="*/ 628678 w 1672618"/>
                  <a:gd name="connsiteY6" fmla="*/ 842127 h 1111885"/>
                  <a:gd name="connsiteX7" fmla="*/ 1276378 w 1672618"/>
                  <a:gd name="connsiteY7" fmla="*/ 537327 h 1111885"/>
                  <a:gd name="connsiteX8" fmla="*/ 1093498 w 1672618"/>
                  <a:gd name="connsiteY8" fmla="*/ 285867 h 1111885"/>
                  <a:gd name="connsiteX9" fmla="*/ 773458 w 1672618"/>
                  <a:gd name="connsiteY9" fmla="*/ 964047 h 1111885"/>
                  <a:gd name="connsiteX10" fmla="*/ 262918 w 1672618"/>
                  <a:gd name="connsiteY10" fmla="*/ 1032627 h 1111885"/>
                  <a:gd name="connsiteX11" fmla="*/ 377218 w 1672618"/>
                  <a:gd name="connsiteY11" fmla="*/ 354447 h 1111885"/>
                  <a:gd name="connsiteX12" fmla="*/ 1154458 w 1672618"/>
                  <a:gd name="connsiteY12" fmla="*/ 125847 h 1111885"/>
                  <a:gd name="connsiteX13" fmla="*/ 1040158 w 1672618"/>
                  <a:gd name="connsiteY13" fmla="*/ 994527 h 1111885"/>
                  <a:gd name="connsiteX14" fmla="*/ 1573558 w 1672618"/>
                  <a:gd name="connsiteY14" fmla="*/ 941187 h 1111885"/>
                  <a:gd name="connsiteX15" fmla="*/ 1398298 w 1672618"/>
                  <a:gd name="connsiteY15" fmla="*/ 346827 h 1111885"/>
                  <a:gd name="connsiteX16" fmla="*/ 102898 w 1672618"/>
                  <a:gd name="connsiteY16" fmla="*/ 1070727 h 1111885"/>
                  <a:gd name="connsiteX17" fmla="*/ 133378 w 1672618"/>
                  <a:gd name="connsiteY17" fmla="*/ 453507 h 1111885"/>
                  <a:gd name="connsiteX18" fmla="*/ 552478 w 1672618"/>
                  <a:gd name="connsiteY18" fmla="*/ 64887 h 1111885"/>
                  <a:gd name="connsiteX19" fmla="*/ 781078 w 1672618"/>
                  <a:gd name="connsiteY19" fmla="*/ 499227 h 1111885"/>
                  <a:gd name="connsiteX20" fmla="*/ 1002058 w 1672618"/>
                  <a:gd name="connsiteY20" fmla="*/ 1108827 h 1111885"/>
                  <a:gd name="connsiteX21" fmla="*/ 1383058 w 1672618"/>
                  <a:gd name="connsiteY21" fmla="*/ 712587 h 1111885"/>
                  <a:gd name="connsiteX22" fmla="*/ 1337338 w 1672618"/>
                  <a:gd name="connsiteY22" fmla="*/ 217287 h 1111885"/>
                  <a:gd name="connsiteX23" fmla="*/ 826798 w 1672618"/>
                  <a:gd name="connsiteY23" fmla="*/ 11547 h 1111885"/>
                  <a:gd name="connsiteX24" fmla="*/ 636298 w 1672618"/>
                  <a:gd name="connsiteY24" fmla="*/ 537327 h 1111885"/>
                  <a:gd name="connsiteX25" fmla="*/ 1436398 w 1672618"/>
                  <a:gd name="connsiteY25" fmla="*/ 956427 h 1111885"/>
                  <a:gd name="connsiteX26" fmla="*/ 1672618 w 1672618"/>
                  <a:gd name="connsiteY26" fmla="*/ 804027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72618" h="1111885">
                    <a:moveTo>
                      <a:pt x="64798" y="666867"/>
                    </a:moveTo>
                    <a:cubicBezTo>
                      <a:pt x="184178" y="741162"/>
                      <a:pt x="303558" y="815457"/>
                      <a:pt x="377218" y="781167"/>
                    </a:cubicBezTo>
                    <a:cubicBezTo>
                      <a:pt x="450878" y="746877"/>
                      <a:pt x="424208" y="497957"/>
                      <a:pt x="506758" y="461127"/>
                    </a:cubicBezTo>
                    <a:cubicBezTo>
                      <a:pt x="589308" y="424297"/>
                      <a:pt x="803938" y="591937"/>
                      <a:pt x="872518" y="560187"/>
                    </a:cubicBezTo>
                    <a:cubicBezTo>
                      <a:pt x="941098" y="528437"/>
                      <a:pt x="980468" y="313807"/>
                      <a:pt x="918238" y="270627"/>
                    </a:cubicBezTo>
                    <a:cubicBezTo>
                      <a:pt x="856008" y="227447"/>
                      <a:pt x="547398" y="205857"/>
                      <a:pt x="499138" y="301107"/>
                    </a:cubicBezTo>
                    <a:cubicBezTo>
                      <a:pt x="450878" y="396357"/>
                      <a:pt x="499138" y="802757"/>
                      <a:pt x="628678" y="842127"/>
                    </a:cubicBezTo>
                    <a:cubicBezTo>
                      <a:pt x="758218" y="881497"/>
                      <a:pt x="1198908" y="630037"/>
                      <a:pt x="1276378" y="537327"/>
                    </a:cubicBezTo>
                    <a:cubicBezTo>
                      <a:pt x="1353848" y="444617"/>
                      <a:pt x="1177318" y="214747"/>
                      <a:pt x="1093498" y="285867"/>
                    </a:cubicBezTo>
                    <a:cubicBezTo>
                      <a:pt x="1009678" y="356987"/>
                      <a:pt x="911888" y="839587"/>
                      <a:pt x="773458" y="964047"/>
                    </a:cubicBezTo>
                    <a:cubicBezTo>
                      <a:pt x="635028" y="1088507"/>
                      <a:pt x="328958" y="1134227"/>
                      <a:pt x="262918" y="1032627"/>
                    </a:cubicBezTo>
                    <a:cubicBezTo>
                      <a:pt x="196878" y="931027"/>
                      <a:pt x="228628" y="505577"/>
                      <a:pt x="377218" y="354447"/>
                    </a:cubicBezTo>
                    <a:cubicBezTo>
                      <a:pt x="525808" y="203317"/>
                      <a:pt x="1043968" y="19167"/>
                      <a:pt x="1154458" y="125847"/>
                    </a:cubicBezTo>
                    <a:cubicBezTo>
                      <a:pt x="1264948" y="232527"/>
                      <a:pt x="970308" y="858637"/>
                      <a:pt x="1040158" y="994527"/>
                    </a:cubicBezTo>
                    <a:cubicBezTo>
                      <a:pt x="1110008" y="1130417"/>
                      <a:pt x="1513868" y="1049137"/>
                      <a:pt x="1573558" y="941187"/>
                    </a:cubicBezTo>
                    <a:cubicBezTo>
                      <a:pt x="1633248" y="833237"/>
                      <a:pt x="1643408" y="325237"/>
                      <a:pt x="1398298" y="346827"/>
                    </a:cubicBezTo>
                    <a:cubicBezTo>
                      <a:pt x="1153188" y="368417"/>
                      <a:pt x="313718" y="1052947"/>
                      <a:pt x="102898" y="1070727"/>
                    </a:cubicBezTo>
                    <a:cubicBezTo>
                      <a:pt x="-107922" y="1088507"/>
                      <a:pt x="58448" y="621147"/>
                      <a:pt x="133378" y="453507"/>
                    </a:cubicBezTo>
                    <a:cubicBezTo>
                      <a:pt x="208308" y="285867"/>
                      <a:pt x="444528" y="57267"/>
                      <a:pt x="552478" y="64887"/>
                    </a:cubicBezTo>
                    <a:cubicBezTo>
                      <a:pt x="660428" y="72507"/>
                      <a:pt x="706148" y="325237"/>
                      <a:pt x="781078" y="499227"/>
                    </a:cubicBezTo>
                    <a:cubicBezTo>
                      <a:pt x="856008" y="673217"/>
                      <a:pt x="901728" y="1073267"/>
                      <a:pt x="1002058" y="1108827"/>
                    </a:cubicBezTo>
                    <a:cubicBezTo>
                      <a:pt x="1102388" y="1144387"/>
                      <a:pt x="1327178" y="861177"/>
                      <a:pt x="1383058" y="712587"/>
                    </a:cubicBezTo>
                    <a:cubicBezTo>
                      <a:pt x="1438938" y="563997"/>
                      <a:pt x="1430048" y="334127"/>
                      <a:pt x="1337338" y="217287"/>
                    </a:cubicBezTo>
                    <a:cubicBezTo>
                      <a:pt x="1244628" y="100447"/>
                      <a:pt x="943638" y="-41793"/>
                      <a:pt x="826798" y="11547"/>
                    </a:cubicBezTo>
                    <a:cubicBezTo>
                      <a:pt x="709958" y="64887"/>
                      <a:pt x="534698" y="379847"/>
                      <a:pt x="636298" y="537327"/>
                    </a:cubicBezTo>
                    <a:cubicBezTo>
                      <a:pt x="737898" y="694807"/>
                      <a:pt x="1263678" y="911977"/>
                      <a:pt x="1436398" y="956427"/>
                    </a:cubicBezTo>
                    <a:cubicBezTo>
                      <a:pt x="1609118" y="1000877"/>
                      <a:pt x="1640868" y="902452"/>
                      <a:pt x="1672618" y="804027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6" name="425 Elipse"/>
              <p:cNvSpPr>
                <a:spLocks noChangeAspect="1"/>
              </p:cNvSpPr>
              <p:nvPr/>
            </p:nvSpPr>
            <p:spPr>
              <a:xfrm>
                <a:off x="2516189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7" name="426 Elipse"/>
              <p:cNvSpPr>
                <a:spLocks noChangeAspect="1"/>
              </p:cNvSpPr>
              <p:nvPr/>
            </p:nvSpPr>
            <p:spPr>
              <a:xfrm>
                <a:off x="2668589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8" name="427 Elipse"/>
              <p:cNvSpPr>
                <a:spLocks noChangeAspect="1"/>
              </p:cNvSpPr>
              <p:nvPr/>
            </p:nvSpPr>
            <p:spPr>
              <a:xfrm>
                <a:off x="2123730" y="16455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9" name="428 Elipse"/>
              <p:cNvSpPr>
                <a:spLocks noChangeAspect="1"/>
              </p:cNvSpPr>
              <p:nvPr/>
            </p:nvSpPr>
            <p:spPr>
              <a:xfrm>
                <a:off x="2276130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0" name="429 Elipse"/>
              <p:cNvSpPr>
                <a:spLocks noChangeAspect="1"/>
              </p:cNvSpPr>
              <p:nvPr/>
            </p:nvSpPr>
            <p:spPr>
              <a:xfrm>
                <a:off x="1763690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1" name="430 Elipse"/>
              <p:cNvSpPr>
                <a:spLocks noChangeAspect="1"/>
              </p:cNvSpPr>
              <p:nvPr/>
            </p:nvSpPr>
            <p:spPr>
              <a:xfrm>
                <a:off x="1907706" y="178524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2" name="431 Elipse"/>
              <p:cNvSpPr>
                <a:spLocks noChangeAspect="1"/>
              </p:cNvSpPr>
              <p:nvPr/>
            </p:nvSpPr>
            <p:spPr>
              <a:xfrm>
                <a:off x="1501947" y="191683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3" name="432 Elipse"/>
              <p:cNvSpPr>
                <a:spLocks noChangeAspect="1"/>
              </p:cNvSpPr>
              <p:nvPr/>
            </p:nvSpPr>
            <p:spPr>
              <a:xfrm>
                <a:off x="1717971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4" name="433 Elipse"/>
              <p:cNvSpPr>
                <a:spLocks noChangeAspect="1"/>
              </p:cNvSpPr>
              <p:nvPr/>
            </p:nvSpPr>
            <p:spPr>
              <a:xfrm>
                <a:off x="2206787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5" name="434 Elipse"/>
              <p:cNvSpPr>
                <a:spLocks noChangeAspect="1"/>
              </p:cNvSpPr>
              <p:nvPr/>
            </p:nvSpPr>
            <p:spPr>
              <a:xfrm>
                <a:off x="2350803" y="15692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6" name="435 Elipse"/>
              <p:cNvSpPr>
                <a:spLocks noChangeAspect="1"/>
              </p:cNvSpPr>
              <p:nvPr/>
            </p:nvSpPr>
            <p:spPr>
              <a:xfrm>
                <a:off x="2726083" y="17216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7" name="436 Elipse"/>
              <p:cNvSpPr>
                <a:spLocks noChangeAspect="1"/>
              </p:cNvSpPr>
              <p:nvPr/>
            </p:nvSpPr>
            <p:spPr>
              <a:xfrm>
                <a:off x="3014115" y="184482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8" name="437 Elipse"/>
              <p:cNvSpPr>
                <a:spLocks noChangeAspect="1"/>
              </p:cNvSpPr>
              <p:nvPr/>
            </p:nvSpPr>
            <p:spPr>
              <a:xfrm>
                <a:off x="2359187" y="9163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9" name="438 Elipse"/>
              <p:cNvSpPr>
                <a:spLocks noChangeAspect="1"/>
              </p:cNvSpPr>
              <p:nvPr/>
            </p:nvSpPr>
            <p:spPr>
              <a:xfrm>
                <a:off x="2663130" y="10687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0" name="439 Elipse"/>
              <p:cNvSpPr>
                <a:spLocks noChangeAspect="1"/>
              </p:cNvSpPr>
              <p:nvPr/>
            </p:nvSpPr>
            <p:spPr>
              <a:xfrm>
                <a:off x="2815530" y="129299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1" name="440 Elipse"/>
              <p:cNvSpPr>
                <a:spLocks noChangeAspect="1"/>
              </p:cNvSpPr>
              <p:nvPr/>
            </p:nvSpPr>
            <p:spPr>
              <a:xfrm>
                <a:off x="2375098" y="1797046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45" name="444 Forma libre"/>
            <p:cNvSpPr>
              <a:spLocks noChangeAspect="1"/>
            </p:cNvSpPr>
            <p:nvPr/>
          </p:nvSpPr>
          <p:spPr>
            <a:xfrm>
              <a:off x="4074754" y="2875836"/>
              <a:ext cx="131789" cy="69288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46" name="445 Forma libre"/>
            <p:cNvSpPr>
              <a:spLocks noChangeAspect="1"/>
            </p:cNvSpPr>
            <p:nvPr/>
          </p:nvSpPr>
          <p:spPr>
            <a:xfrm flipH="1">
              <a:off x="4074755" y="2857962"/>
              <a:ext cx="131789" cy="69288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448" name="447 Grupo"/>
            <p:cNvGrpSpPr>
              <a:grpSpLocks noChangeAspect="1"/>
            </p:cNvGrpSpPr>
            <p:nvPr/>
          </p:nvGrpSpPr>
          <p:grpSpPr>
            <a:xfrm rot="6551618">
              <a:off x="3772182" y="2433440"/>
              <a:ext cx="387393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49" name="448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0" name="449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52" name="451 Forma libre"/>
            <p:cNvSpPr>
              <a:spLocks noChangeAspect="1"/>
            </p:cNvSpPr>
            <p:nvPr/>
          </p:nvSpPr>
          <p:spPr>
            <a:xfrm>
              <a:off x="4420884" y="2814902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53" name="452 Forma libre"/>
            <p:cNvSpPr>
              <a:spLocks noChangeAspect="1"/>
            </p:cNvSpPr>
            <p:nvPr/>
          </p:nvSpPr>
          <p:spPr>
            <a:xfrm flipH="1">
              <a:off x="4420885" y="2794603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455" name="454 Grupo"/>
            <p:cNvGrpSpPr>
              <a:grpSpLocks noChangeAspect="1"/>
            </p:cNvGrpSpPr>
            <p:nvPr/>
          </p:nvGrpSpPr>
          <p:grpSpPr>
            <a:xfrm rot="6551618">
              <a:off x="4013549" y="2377839"/>
              <a:ext cx="439925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56" name="455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7" name="456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59" name="458 Forma libre"/>
            <p:cNvSpPr>
              <a:spLocks noChangeAspect="1"/>
            </p:cNvSpPr>
            <p:nvPr/>
          </p:nvSpPr>
          <p:spPr>
            <a:xfrm>
              <a:off x="4754405" y="2862277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60" name="459 Forma libre"/>
            <p:cNvSpPr>
              <a:spLocks noChangeAspect="1"/>
            </p:cNvSpPr>
            <p:nvPr/>
          </p:nvSpPr>
          <p:spPr>
            <a:xfrm flipH="1">
              <a:off x="4754406" y="2841978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462" name="461 Grupo"/>
            <p:cNvGrpSpPr>
              <a:grpSpLocks noChangeAspect="1"/>
            </p:cNvGrpSpPr>
            <p:nvPr/>
          </p:nvGrpSpPr>
          <p:grpSpPr>
            <a:xfrm rot="6551618">
              <a:off x="4358451" y="2305831"/>
              <a:ext cx="439925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63" name="462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4" name="463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66" name="465 Forma libre"/>
            <p:cNvSpPr>
              <a:spLocks noChangeAspect="1"/>
            </p:cNvSpPr>
            <p:nvPr/>
          </p:nvSpPr>
          <p:spPr>
            <a:xfrm>
              <a:off x="5066086" y="3025861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67" name="466 Forma libre"/>
            <p:cNvSpPr>
              <a:spLocks noChangeAspect="1"/>
            </p:cNvSpPr>
            <p:nvPr/>
          </p:nvSpPr>
          <p:spPr>
            <a:xfrm flipH="1">
              <a:off x="5066086" y="3011816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469" name="468 Grupo"/>
            <p:cNvGrpSpPr>
              <a:grpSpLocks noChangeAspect="1"/>
            </p:cNvGrpSpPr>
            <p:nvPr/>
          </p:nvGrpSpPr>
          <p:grpSpPr>
            <a:xfrm rot="6551618">
              <a:off x="4716773" y="2491412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70" name="469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1" name="470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73" name="472 Forma libre"/>
            <p:cNvSpPr>
              <a:spLocks noChangeAspect="1"/>
            </p:cNvSpPr>
            <p:nvPr/>
          </p:nvSpPr>
          <p:spPr>
            <a:xfrm>
              <a:off x="3829554" y="3129284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474" name="473 Forma libre"/>
            <p:cNvSpPr>
              <a:spLocks noChangeAspect="1"/>
            </p:cNvSpPr>
            <p:nvPr/>
          </p:nvSpPr>
          <p:spPr>
            <a:xfrm flipH="1">
              <a:off x="3829554" y="3115239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476" name="475 Grupo"/>
            <p:cNvGrpSpPr>
              <a:grpSpLocks noChangeAspect="1"/>
            </p:cNvGrpSpPr>
            <p:nvPr/>
          </p:nvGrpSpPr>
          <p:grpSpPr>
            <a:xfrm rot="6551618">
              <a:off x="3636653" y="2807723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77" name="476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8" name="477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0" name="489 Grupo"/>
            <p:cNvGrpSpPr>
              <a:grpSpLocks noChangeAspect="1"/>
            </p:cNvGrpSpPr>
            <p:nvPr/>
          </p:nvGrpSpPr>
          <p:grpSpPr>
            <a:xfrm rot="6551618">
              <a:off x="4939580" y="2644909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491" name="490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2" name="491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606" name="605 Grupo"/>
          <p:cNvGrpSpPr/>
          <p:nvPr/>
        </p:nvGrpSpPr>
        <p:grpSpPr>
          <a:xfrm>
            <a:off x="528636" y="2530766"/>
            <a:ext cx="1815492" cy="1166131"/>
            <a:chOff x="528636" y="2581410"/>
            <a:chExt cx="1815492" cy="1948999"/>
          </a:xfrm>
        </p:grpSpPr>
        <p:grpSp>
          <p:nvGrpSpPr>
            <p:cNvPr id="547" name="546 Grupo"/>
            <p:cNvGrpSpPr/>
            <p:nvPr/>
          </p:nvGrpSpPr>
          <p:grpSpPr>
            <a:xfrm>
              <a:off x="528636" y="2607879"/>
              <a:ext cx="1815492" cy="1922530"/>
              <a:chOff x="1402287" y="836711"/>
              <a:chExt cx="1815492" cy="1922530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578" name="Text Box 123"/>
              <p:cNvSpPr txBox="1">
                <a:spLocks noChangeArrowheads="1"/>
              </p:cNvSpPr>
              <p:nvPr/>
            </p:nvSpPr>
            <p:spPr bwMode="auto">
              <a:xfrm>
                <a:off x="1435100" y="2146300"/>
                <a:ext cx="1265238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/>
                  <a:t>DNA microarray</a:t>
                </a:r>
                <a:endParaRPr lang="en-GB" sz="1200"/>
              </a:p>
            </p:txBody>
          </p:sp>
          <p:sp>
            <p:nvSpPr>
              <p:cNvPr id="579" name="Text Box 128"/>
              <p:cNvSpPr txBox="1">
                <a:spLocks noChangeArrowheads="1"/>
              </p:cNvSpPr>
              <p:nvPr/>
            </p:nvSpPr>
            <p:spPr bwMode="auto">
              <a:xfrm>
                <a:off x="2335213" y="1557338"/>
                <a:ext cx="268287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 i="1"/>
                  <a:t>b</a:t>
                </a:r>
                <a:endParaRPr lang="en-GB" sz="1200" i="1"/>
              </a:p>
            </p:txBody>
          </p:sp>
          <p:sp>
            <p:nvSpPr>
              <p:cNvPr id="580" name="Oval 36"/>
              <p:cNvSpPr>
                <a:spLocks noChangeAspect="1" noChangeArrowheads="1"/>
              </p:cNvSpPr>
              <p:nvPr/>
            </p:nvSpPr>
            <p:spPr bwMode="auto">
              <a:xfrm>
                <a:off x="1402287" y="836711"/>
                <a:ext cx="1815492" cy="1922530"/>
              </a:xfrm>
              <a:prstGeom prst="ellipse">
                <a:avLst/>
              </a:prstGeom>
              <a:solidFill>
                <a:srgbClr val="99CCFF"/>
              </a:solidFill>
              <a:ln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0000" dist="23000" dir="5400000" rotWithShape="0">
                  <a:srgbClr val="000000">
                    <a:alpha val="35000"/>
                  </a:srgbClr>
                </a:outerShdw>
                <a:reflection blurRad="6350" stA="50000" endA="300" endPos="550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powder">
                <a:bevelT prst="convex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581" name="580 Forma libre"/>
              <p:cNvSpPr/>
              <p:nvPr/>
            </p:nvSpPr>
            <p:spPr>
              <a:xfrm>
                <a:off x="1474442" y="925713"/>
                <a:ext cx="1672618" cy="1111885"/>
              </a:xfrm>
              <a:custGeom>
                <a:avLst/>
                <a:gdLst>
                  <a:gd name="connsiteX0" fmla="*/ 64798 w 1672618"/>
                  <a:gd name="connsiteY0" fmla="*/ 666867 h 1111885"/>
                  <a:gd name="connsiteX1" fmla="*/ 377218 w 1672618"/>
                  <a:gd name="connsiteY1" fmla="*/ 781167 h 1111885"/>
                  <a:gd name="connsiteX2" fmla="*/ 506758 w 1672618"/>
                  <a:gd name="connsiteY2" fmla="*/ 461127 h 1111885"/>
                  <a:gd name="connsiteX3" fmla="*/ 872518 w 1672618"/>
                  <a:gd name="connsiteY3" fmla="*/ 560187 h 1111885"/>
                  <a:gd name="connsiteX4" fmla="*/ 918238 w 1672618"/>
                  <a:gd name="connsiteY4" fmla="*/ 270627 h 1111885"/>
                  <a:gd name="connsiteX5" fmla="*/ 499138 w 1672618"/>
                  <a:gd name="connsiteY5" fmla="*/ 301107 h 1111885"/>
                  <a:gd name="connsiteX6" fmla="*/ 628678 w 1672618"/>
                  <a:gd name="connsiteY6" fmla="*/ 842127 h 1111885"/>
                  <a:gd name="connsiteX7" fmla="*/ 1276378 w 1672618"/>
                  <a:gd name="connsiteY7" fmla="*/ 537327 h 1111885"/>
                  <a:gd name="connsiteX8" fmla="*/ 1093498 w 1672618"/>
                  <a:gd name="connsiteY8" fmla="*/ 285867 h 1111885"/>
                  <a:gd name="connsiteX9" fmla="*/ 773458 w 1672618"/>
                  <a:gd name="connsiteY9" fmla="*/ 964047 h 1111885"/>
                  <a:gd name="connsiteX10" fmla="*/ 262918 w 1672618"/>
                  <a:gd name="connsiteY10" fmla="*/ 1032627 h 1111885"/>
                  <a:gd name="connsiteX11" fmla="*/ 377218 w 1672618"/>
                  <a:gd name="connsiteY11" fmla="*/ 354447 h 1111885"/>
                  <a:gd name="connsiteX12" fmla="*/ 1154458 w 1672618"/>
                  <a:gd name="connsiteY12" fmla="*/ 125847 h 1111885"/>
                  <a:gd name="connsiteX13" fmla="*/ 1040158 w 1672618"/>
                  <a:gd name="connsiteY13" fmla="*/ 994527 h 1111885"/>
                  <a:gd name="connsiteX14" fmla="*/ 1573558 w 1672618"/>
                  <a:gd name="connsiteY14" fmla="*/ 941187 h 1111885"/>
                  <a:gd name="connsiteX15" fmla="*/ 1398298 w 1672618"/>
                  <a:gd name="connsiteY15" fmla="*/ 346827 h 1111885"/>
                  <a:gd name="connsiteX16" fmla="*/ 102898 w 1672618"/>
                  <a:gd name="connsiteY16" fmla="*/ 1070727 h 1111885"/>
                  <a:gd name="connsiteX17" fmla="*/ 133378 w 1672618"/>
                  <a:gd name="connsiteY17" fmla="*/ 453507 h 1111885"/>
                  <a:gd name="connsiteX18" fmla="*/ 552478 w 1672618"/>
                  <a:gd name="connsiteY18" fmla="*/ 64887 h 1111885"/>
                  <a:gd name="connsiteX19" fmla="*/ 781078 w 1672618"/>
                  <a:gd name="connsiteY19" fmla="*/ 499227 h 1111885"/>
                  <a:gd name="connsiteX20" fmla="*/ 1002058 w 1672618"/>
                  <a:gd name="connsiteY20" fmla="*/ 1108827 h 1111885"/>
                  <a:gd name="connsiteX21" fmla="*/ 1383058 w 1672618"/>
                  <a:gd name="connsiteY21" fmla="*/ 712587 h 1111885"/>
                  <a:gd name="connsiteX22" fmla="*/ 1337338 w 1672618"/>
                  <a:gd name="connsiteY22" fmla="*/ 217287 h 1111885"/>
                  <a:gd name="connsiteX23" fmla="*/ 826798 w 1672618"/>
                  <a:gd name="connsiteY23" fmla="*/ 11547 h 1111885"/>
                  <a:gd name="connsiteX24" fmla="*/ 636298 w 1672618"/>
                  <a:gd name="connsiteY24" fmla="*/ 537327 h 1111885"/>
                  <a:gd name="connsiteX25" fmla="*/ 1436398 w 1672618"/>
                  <a:gd name="connsiteY25" fmla="*/ 956427 h 1111885"/>
                  <a:gd name="connsiteX26" fmla="*/ 1672618 w 1672618"/>
                  <a:gd name="connsiteY26" fmla="*/ 804027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72618" h="1111885">
                    <a:moveTo>
                      <a:pt x="64798" y="666867"/>
                    </a:moveTo>
                    <a:cubicBezTo>
                      <a:pt x="184178" y="741162"/>
                      <a:pt x="303558" y="815457"/>
                      <a:pt x="377218" y="781167"/>
                    </a:cubicBezTo>
                    <a:cubicBezTo>
                      <a:pt x="450878" y="746877"/>
                      <a:pt x="424208" y="497957"/>
                      <a:pt x="506758" y="461127"/>
                    </a:cubicBezTo>
                    <a:cubicBezTo>
                      <a:pt x="589308" y="424297"/>
                      <a:pt x="803938" y="591937"/>
                      <a:pt x="872518" y="560187"/>
                    </a:cubicBezTo>
                    <a:cubicBezTo>
                      <a:pt x="941098" y="528437"/>
                      <a:pt x="980468" y="313807"/>
                      <a:pt x="918238" y="270627"/>
                    </a:cubicBezTo>
                    <a:cubicBezTo>
                      <a:pt x="856008" y="227447"/>
                      <a:pt x="547398" y="205857"/>
                      <a:pt x="499138" y="301107"/>
                    </a:cubicBezTo>
                    <a:cubicBezTo>
                      <a:pt x="450878" y="396357"/>
                      <a:pt x="499138" y="802757"/>
                      <a:pt x="628678" y="842127"/>
                    </a:cubicBezTo>
                    <a:cubicBezTo>
                      <a:pt x="758218" y="881497"/>
                      <a:pt x="1198908" y="630037"/>
                      <a:pt x="1276378" y="537327"/>
                    </a:cubicBezTo>
                    <a:cubicBezTo>
                      <a:pt x="1353848" y="444617"/>
                      <a:pt x="1177318" y="214747"/>
                      <a:pt x="1093498" y="285867"/>
                    </a:cubicBezTo>
                    <a:cubicBezTo>
                      <a:pt x="1009678" y="356987"/>
                      <a:pt x="911888" y="839587"/>
                      <a:pt x="773458" y="964047"/>
                    </a:cubicBezTo>
                    <a:cubicBezTo>
                      <a:pt x="635028" y="1088507"/>
                      <a:pt x="328958" y="1134227"/>
                      <a:pt x="262918" y="1032627"/>
                    </a:cubicBezTo>
                    <a:cubicBezTo>
                      <a:pt x="196878" y="931027"/>
                      <a:pt x="228628" y="505577"/>
                      <a:pt x="377218" y="354447"/>
                    </a:cubicBezTo>
                    <a:cubicBezTo>
                      <a:pt x="525808" y="203317"/>
                      <a:pt x="1043968" y="19167"/>
                      <a:pt x="1154458" y="125847"/>
                    </a:cubicBezTo>
                    <a:cubicBezTo>
                      <a:pt x="1264948" y="232527"/>
                      <a:pt x="970308" y="858637"/>
                      <a:pt x="1040158" y="994527"/>
                    </a:cubicBezTo>
                    <a:cubicBezTo>
                      <a:pt x="1110008" y="1130417"/>
                      <a:pt x="1513868" y="1049137"/>
                      <a:pt x="1573558" y="941187"/>
                    </a:cubicBezTo>
                    <a:cubicBezTo>
                      <a:pt x="1633248" y="833237"/>
                      <a:pt x="1643408" y="325237"/>
                      <a:pt x="1398298" y="346827"/>
                    </a:cubicBezTo>
                    <a:cubicBezTo>
                      <a:pt x="1153188" y="368417"/>
                      <a:pt x="313718" y="1052947"/>
                      <a:pt x="102898" y="1070727"/>
                    </a:cubicBezTo>
                    <a:cubicBezTo>
                      <a:pt x="-107922" y="1088507"/>
                      <a:pt x="58448" y="621147"/>
                      <a:pt x="133378" y="453507"/>
                    </a:cubicBezTo>
                    <a:cubicBezTo>
                      <a:pt x="208308" y="285867"/>
                      <a:pt x="444528" y="57267"/>
                      <a:pt x="552478" y="64887"/>
                    </a:cubicBezTo>
                    <a:cubicBezTo>
                      <a:pt x="660428" y="72507"/>
                      <a:pt x="706148" y="325237"/>
                      <a:pt x="781078" y="499227"/>
                    </a:cubicBezTo>
                    <a:cubicBezTo>
                      <a:pt x="856008" y="673217"/>
                      <a:pt x="901728" y="1073267"/>
                      <a:pt x="1002058" y="1108827"/>
                    </a:cubicBezTo>
                    <a:cubicBezTo>
                      <a:pt x="1102388" y="1144387"/>
                      <a:pt x="1327178" y="861177"/>
                      <a:pt x="1383058" y="712587"/>
                    </a:cubicBezTo>
                    <a:cubicBezTo>
                      <a:pt x="1438938" y="563997"/>
                      <a:pt x="1430048" y="334127"/>
                      <a:pt x="1337338" y="217287"/>
                    </a:cubicBezTo>
                    <a:cubicBezTo>
                      <a:pt x="1244628" y="100447"/>
                      <a:pt x="943638" y="-41793"/>
                      <a:pt x="826798" y="11547"/>
                    </a:cubicBezTo>
                    <a:cubicBezTo>
                      <a:pt x="709958" y="64887"/>
                      <a:pt x="534698" y="379847"/>
                      <a:pt x="636298" y="537327"/>
                    </a:cubicBezTo>
                    <a:cubicBezTo>
                      <a:pt x="737898" y="694807"/>
                      <a:pt x="1263678" y="911977"/>
                      <a:pt x="1436398" y="956427"/>
                    </a:cubicBezTo>
                    <a:cubicBezTo>
                      <a:pt x="1609118" y="1000877"/>
                      <a:pt x="1640868" y="902452"/>
                      <a:pt x="1672618" y="804027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2" name="581 Elipse"/>
              <p:cNvSpPr>
                <a:spLocks noChangeAspect="1"/>
              </p:cNvSpPr>
              <p:nvPr/>
            </p:nvSpPr>
            <p:spPr>
              <a:xfrm>
                <a:off x="2516189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3" name="582 Elipse"/>
              <p:cNvSpPr>
                <a:spLocks noChangeAspect="1"/>
              </p:cNvSpPr>
              <p:nvPr/>
            </p:nvSpPr>
            <p:spPr>
              <a:xfrm>
                <a:off x="2668589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4" name="583 Elipse"/>
              <p:cNvSpPr>
                <a:spLocks noChangeAspect="1"/>
              </p:cNvSpPr>
              <p:nvPr/>
            </p:nvSpPr>
            <p:spPr>
              <a:xfrm>
                <a:off x="2123730" y="16455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5" name="584 Elipse"/>
              <p:cNvSpPr>
                <a:spLocks noChangeAspect="1"/>
              </p:cNvSpPr>
              <p:nvPr/>
            </p:nvSpPr>
            <p:spPr>
              <a:xfrm>
                <a:off x="2276130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6" name="585 Elipse"/>
              <p:cNvSpPr>
                <a:spLocks noChangeAspect="1"/>
              </p:cNvSpPr>
              <p:nvPr/>
            </p:nvSpPr>
            <p:spPr>
              <a:xfrm>
                <a:off x="1763690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7" name="586 Elipse"/>
              <p:cNvSpPr>
                <a:spLocks noChangeAspect="1"/>
              </p:cNvSpPr>
              <p:nvPr/>
            </p:nvSpPr>
            <p:spPr>
              <a:xfrm>
                <a:off x="1907706" y="178524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8" name="587 Elipse"/>
              <p:cNvSpPr>
                <a:spLocks noChangeAspect="1"/>
              </p:cNvSpPr>
              <p:nvPr/>
            </p:nvSpPr>
            <p:spPr>
              <a:xfrm>
                <a:off x="1501947" y="191683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9" name="588 Elipse"/>
              <p:cNvSpPr>
                <a:spLocks noChangeAspect="1"/>
              </p:cNvSpPr>
              <p:nvPr/>
            </p:nvSpPr>
            <p:spPr>
              <a:xfrm>
                <a:off x="1717971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0" name="589 Elipse"/>
              <p:cNvSpPr>
                <a:spLocks noChangeAspect="1"/>
              </p:cNvSpPr>
              <p:nvPr/>
            </p:nvSpPr>
            <p:spPr>
              <a:xfrm>
                <a:off x="2206787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1" name="590 Elipse"/>
              <p:cNvSpPr>
                <a:spLocks noChangeAspect="1"/>
              </p:cNvSpPr>
              <p:nvPr/>
            </p:nvSpPr>
            <p:spPr>
              <a:xfrm>
                <a:off x="2350803" y="15692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2" name="591 Elipse"/>
              <p:cNvSpPr>
                <a:spLocks noChangeAspect="1"/>
              </p:cNvSpPr>
              <p:nvPr/>
            </p:nvSpPr>
            <p:spPr>
              <a:xfrm>
                <a:off x="2726083" y="17216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3" name="592 Elipse"/>
              <p:cNvSpPr>
                <a:spLocks noChangeAspect="1"/>
              </p:cNvSpPr>
              <p:nvPr/>
            </p:nvSpPr>
            <p:spPr>
              <a:xfrm>
                <a:off x="3014115" y="184482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4" name="593 Elipse"/>
              <p:cNvSpPr>
                <a:spLocks noChangeAspect="1"/>
              </p:cNvSpPr>
              <p:nvPr/>
            </p:nvSpPr>
            <p:spPr>
              <a:xfrm>
                <a:off x="2359187" y="9163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5" name="594 Elipse"/>
              <p:cNvSpPr>
                <a:spLocks noChangeAspect="1"/>
              </p:cNvSpPr>
              <p:nvPr/>
            </p:nvSpPr>
            <p:spPr>
              <a:xfrm>
                <a:off x="2663130" y="10687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6" name="595 Elipse"/>
              <p:cNvSpPr>
                <a:spLocks noChangeAspect="1"/>
              </p:cNvSpPr>
              <p:nvPr/>
            </p:nvSpPr>
            <p:spPr>
              <a:xfrm>
                <a:off x="2815530" y="129299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7" name="596 Elipse"/>
              <p:cNvSpPr>
                <a:spLocks noChangeAspect="1"/>
              </p:cNvSpPr>
              <p:nvPr/>
            </p:nvSpPr>
            <p:spPr>
              <a:xfrm>
                <a:off x="2375098" y="1797046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0" name="549 Forma libre"/>
            <p:cNvSpPr>
              <a:spLocks noChangeAspect="1"/>
            </p:cNvSpPr>
            <p:nvPr/>
          </p:nvSpPr>
          <p:spPr>
            <a:xfrm>
              <a:off x="1028595" y="3225485"/>
              <a:ext cx="131789" cy="69288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51" name="550 Forma libre"/>
            <p:cNvSpPr>
              <a:spLocks noChangeAspect="1"/>
            </p:cNvSpPr>
            <p:nvPr/>
          </p:nvSpPr>
          <p:spPr>
            <a:xfrm flipH="1">
              <a:off x="1028596" y="3207611"/>
              <a:ext cx="131789" cy="69288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552" name="551 Grupo"/>
            <p:cNvGrpSpPr>
              <a:grpSpLocks noChangeAspect="1"/>
            </p:cNvGrpSpPr>
            <p:nvPr/>
          </p:nvGrpSpPr>
          <p:grpSpPr>
            <a:xfrm rot="6551618">
              <a:off x="726023" y="2783089"/>
              <a:ext cx="387393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76" name="575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7" name="576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3" name="552 Forma libre"/>
            <p:cNvSpPr>
              <a:spLocks noChangeAspect="1"/>
            </p:cNvSpPr>
            <p:nvPr/>
          </p:nvSpPr>
          <p:spPr>
            <a:xfrm>
              <a:off x="1374725" y="3164551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54" name="553 Forma libre"/>
            <p:cNvSpPr>
              <a:spLocks noChangeAspect="1"/>
            </p:cNvSpPr>
            <p:nvPr/>
          </p:nvSpPr>
          <p:spPr>
            <a:xfrm flipH="1">
              <a:off x="1374726" y="3144252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555" name="554 Grupo"/>
            <p:cNvGrpSpPr>
              <a:grpSpLocks noChangeAspect="1"/>
            </p:cNvGrpSpPr>
            <p:nvPr/>
          </p:nvGrpSpPr>
          <p:grpSpPr>
            <a:xfrm rot="6551618">
              <a:off x="967390" y="2727488"/>
              <a:ext cx="439925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74" name="573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5" name="574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6" name="555 Forma libre"/>
            <p:cNvSpPr>
              <a:spLocks noChangeAspect="1"/>
            </p:cNvSpPr>
            <p:nvPr/>
          </p:nvSpPr>
          <p:spPr>
            <a:xfrm>
              <a:off x="1708246" y="3211926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57" name="556 Forma libre"/>
            <p:cNvSpPr>
              <a:spLocks noChangeAspect="1"/>
            </p:cNvSpPr>
            <p:nvPr/>
          </p:nvSpPr>
          <p:spPr>
            <a:xfrm flipH="1">
              <a:off x="1708247" y="3191627"/>
              <a:ext cx="131789" cy="786847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558" name="557 Grupo"/>
            <p:cNvGrpSpPr>
              <a:grpSpLocks noChangeAspect="1"/>
            </p:cNvGrpSpPr>
            <p:nvPr/>
          </p:nvGrpSpPr>
          <p:grpSpPr>
            <a:xfrm rot="6551618">
              <a:off x="1312292" y="2655480"/>
              <a:ext cx="439925" cy="291786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72" name="571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3" name="572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9" name="558 Forma libre"/>
            <p:cNvSpPr>
              <a:spLocks noChangeAspect="1"/>
            </p:cNvSpPr>
            <p:nvPr/>
          </p:nvSpPr>
          <p:spPr>
            <a:xfrm>
              <a:off x="2019927" y="3375510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60" name="559 Forma libre"/>
            <p:cNvSpPr>
              <a:spLocks noChangeAspect="1"/>
            </p:cNvSpPr>
            <p:nvPr/>
          </p:nvSpPr>
          <p:spPr>
            <a:xfrm flipH="1">
              <a:off x="2019927" y="3361465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561" name="560 Grupo"/>
            <p:cNvGrpSpPr>
              <a:grpSpLocks noChangeAspect="1"/>
            </p:cNvGrpSpPr>
            <p:nvPr/>
          </p:nvGrpSpPr>
          <p:grpSpPr>
            <a:xfrm rot="6551618">
              <a:off x="1670614" y="2841061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70" name="569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1" name="570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62" name="561 Forma libre"/>
            <p:cNvSpPr>
              <a:spLocks noChangeAspect="1"/>
            </p:cNvSpPr>
            <p:nvPr/>
          </p:nvSpPr>
          <p:spPr>
            <a:xfrm>
              <a:off x="783395" y="3478933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63" name="562 Forma libre"/>
            <p:cNvSpPr>
              <a:spLocks noChangeAspect="1"/>
            </p:cNvSpPr>
            <p:nvPr/>
          </p:nvSpPr>
          <p:spPr>
            <a:xfrm flipH="1">
              <a:off x="783395" y="3464888"/>
              <a:ext cx="86643" cy="544473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grpSp>
          <p:nvGrpSpPr>
            <p:cNvPr id="564" name="563 Grupo"/>
            <p:cNvGrpSpPr>
              <a:grpSpLocks noChangeAspect="1"/>
            </p:cNvGrpSpPr>
            <p:nvPr/>
          </p:nvGrpSpPr>
          <p:grpSpPr>
            <a:xfrm rot="6551618">
              <a:off x="590494" y="3157372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68" name="567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9" name="568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5" name="564 Grupo"/>
            <p:cNvGrpSpPr>
              <a:grpSpLocks noChangeAspect="1"/>
            </p:cNvGrpSpPr>
            <p:nvPr/>
          </p:nvGrpSpPr>
          <p:grpSpPr>
            <a:xfrm rot="6551618">
              <a:off x="1893421" y="2994558"/>
              <a:ext cx="304413" cy="1918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66" name="565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7" name="566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" name="AutoShape 66" descr="Dark upward diagonal"/>
          <p:cNvSpPr>
            <a:spLocks noChangeArrowheads="1"/>
          </p:cNvSpPr>
          <p:nvPr/>
        </p:nvSpPr>
        <p:spPr bwMode="auto">
          <a:xfrm>
            <a:off x="323528" y="701214"/>
            <a:ext cx="2316162" cy="727075"/>
          </a:xfrm>
          <a:prstGeom prst="cube">
            <a:avLst>
              <a:gd name="adj" fmla="val 92014"/>
            </a:avLst>
          </a:prstGeom>
          <a:pattFill prst="dkUpDiag">
            <a:fgClr>
              <a:srgbClr val="C0C0C0"/>
            </a:fgClr>
            <a:bgClr>
              <a:srgbClr val="FFFFFF"/>
            </a:bgClr>
          </a:pattFill>
          <a:ln w="635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endParaRPr lang="en-GB">
              <a:solidFill>
                <a:srgbClr val="C00000"/>
              </a:solidFill>
            </a:endParaRPr>
          </a:p>
        </p:txBody>
      </p:sp>
      <p:sp>
        <p:nvSpPr>
          <p:cNvPr id="74" name="73 Forma libre"/>
          <p:cNvSpPr/>
          <p:nvPr/>
        </p:nvSpPr>
        <p:spPr>
          <a:xfrm>
            <a:off x="673290" y="951265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75" name="74 Forma libre"/>
          <p:cNvSpPr/>
          <p:nvPr/>
        </p:nvSpPr>
        <p:spPr>
          <a:xfrm>
            <a:off x="749177" y="933014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76" name="75 Forma libre"/>
          <p:cNvSpPr/>
          <p:nvPr/>
        </p:nvSpPr>
        <p:spPr>
          <a:xfrm>
            <a:off x="713177" y="1005054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77" name="76 Forma libre"/>
          <p:cNvSpPr/>
          <p:nvPr/>
        </p:nvSpPr>
        <p:spPr>
          <a:xfrm>
            <a:off x="887222" y="750481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33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78" name="77 Forma libre"/>
          <p:cNvSpPr/>
          <p:nvPr/>
        </p:nvSpPr>
        <p:spPr>
          <a:xfrm>
            <a:off x="963109" y="732230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33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79" name="78 Forma libre"/>
          <p:cNvSpPr/>
          <p:nvPr/>
        </p:nvSpPr>
        <p:spPr>
          <a:xfrm>
            <a:off x="1141346" y="519217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80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0" name="79 Forma libre"/>
          <p:cNvSpPr/>
          <p:nvPr/>
        </p:nvSpPr>
        <p:spPr>
          <a:xfrm>
            <a:off x="1217233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80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1" name="80 Forma libre"/>
          <p:cNvSpPr/>
          <p:nvPr/>
        </p:nvSpPr>
        <p:spPr>
          <a:xfrm>
            <a:off x="929201" y="788998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33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2" name="81 Forma libre"/>
          <p:cNvSpPr/>
          <p:nvPr/>
        </p:nvSpPr>
        <p:spPr>
          <a:xfrm>
            <a:off x="1091885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80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3" name="82 Forma libre"/>
          <p:cNvSpPr/>
          <p:nvPr/>
        </p:nvSpPr>
        <p:spPr>
          <a:xfrm>
            <a:off x="1641974" y="519217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660066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4" name="83 Forma libre"/>
          <p:cNvSpPr/>
          <p:nvPr/>
        </p:nvSpPr>
        <p:spPr>
          <a:xfrm>
            <a:off x="1717861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660066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5" name="84 Forma libre"/>
          <p:cNvSpPr/>
          <p:nvPr/>
        </p:nvSpPr>
        <p:spPr>
          <a:xfrm>
            <a:off x="1592513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660066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6" name="85 Forma libre"/>
          <p:cNvSpPr/>
          <p:nvPr/>
        </p:nvSpPr>
        <p:spPr>
          <a:xfrm>
            <a:off x="1461950" y="735241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00F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7" name="86 Forma libre"/>
          <p:cNvSpPr/>
          <p:nvPr/>
        </p:nvSpPr>
        <p:spPr>
          <a:xfrm>
            <a:off x="1537837" y="716990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00F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8" name="87 Forma libre"/>
          <p:cNvSpPr/>
          <p:nvPr/>
        </p:nvSpPr>
        <p:spPr>
          <a:xfrm>
            <a:off x="1412489" y="716990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00F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89" name="88 Forma libre"/>
          <p:cNvSpPr/>
          <p:nvPr/>
        </p:nvSpPr>
        <p:spPr>
          <a:xfrm>
            <a:off x="1230686" y="93304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CC66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0" name="89 Forma libre"/>
          <p:cNvSpPr/>
          <p:nvPr/>
        </p:nvSpPr>
        <p:spPr>
          <a:xfrm>
            <a:off x="1306573" y="914795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CC66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1" name="90 Forma libre"/>
          <p:cNvSpPr/>
          <p:nvPr/>
        </p:nvSpPr>
        <p:spPr>
          <a:xfrm>
            <a:off x="1181225" y="914795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CC66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2" name="91 Forma libre"/>
          <p:cNvSpPr/>
          <p:nvPr/>
        </p:nvSpPr>
        <p:spPr>
          <a:xfrm>
            <a:off x="1717410" y="951265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8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3" name="92 Forma libre"/>
          <p:cNvSpPr/>
          <p:nvPr/>
        </p:nvSpPr>
        <p:spPr>
          <a:xfrm>
            <a:off x="1793297" y="933014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8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4" name="93 Forma libre"/>
          <p:cNvSpPr/>
          <p:nvPr/>
        </p:nvSpPr>
        <p:spPr>
          <a:xfrm>
            <a:off x="1667949" y="933014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8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5" name="94 Forma libre"/>
          <p:cNvSpPr/>
          <p:nvPr/>
        </p:nvSpPr>
        <p:spPr>
          <a:xfrm>
            <a:off x="1948674" y="735241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66CC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6" name="95 Forma libre"/>
          <p:cNvSpPr/>
          <p:nvPr/>
        </p:nvSpPr>
        <p:spPr>
          <a:xfrm>
            <a:off x="2024561" y="716990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66CC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7" name="96 Forma libre"/>
          <p:cNvSpPr/>
          <p:nvPr/>
        </p:nvSpPr>
        <p:spPr>
          <a:xfrm>
            <a:off x="1899213" y="716990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0066CC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8" name="97 Forma libre"/>
          <p:cNvSpPr/>
          <p:nvPr/>
        </p:nvSpPr>
        <p:spPr>
          <a:xfrm>
            <a:off x="2206226" y="519217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9933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99" name="98 Forma libre"/>
          <p:cNvSpPr/>
          <p:nvPr/>
        </p:nvSpPr>
        <p:spPr>
          <a:xfrm>
            <a:off x="2282113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9933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100" name="99 Forma libre"/>
          <p:cNvSpPr/>
          <p:nvPr/>
        </p:nvSpPr>
        <p:spPr>
          <a:xfrm>
            <a:off x="2156765" y="500966"/>
            <a:ext cx="36000" cy="288000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9933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grpSp>
        <p:nvGrpSpPr>
          <p:cNvPr id="349" name="348 Grupo"/>
          <p:cNvGrpSpPr/>
          <p:nvPr/>
        </p:nvGrpSpPr>
        <p:grpSpPr>
          <a:xfrm>
            <a:off x="5724128" y="699627"/>
            <a:ext cx="2316162" cy="728662"/>
            <a:chOff x="488156" y="2539901"/>
            <a:chExt cx="2316162" cy="728662"/>
          </a:xfrm>
        </p:grpSpPr>
        <p:sp>
          <p:nvSpPr>
            <p:cNvPr id="350" name="AutoShape 66" descr="Dark upward diagonal"/>
            <p:cNvSpPr>
              <a:spLocks noChangeArrowheads="1"/>
            </p:cNvSpPr>
            <p:nvPr/>
          </p:nvSpPr>
          <p:spPr bwMode="auto">
            <a:xfrm>
              <a:off x="488156" y="2541488"/>
              <a:ext cx="2316162" cy="727075"/>
            </a:xfrm>
            <a:prstGeom prst="cube">
              <a:avLst>
                <a:gd name="adj" fmla="val 92014"/>
              </a:avLst>
            </a:prstGeom>
            <a:pattFill prst="dkUpDiag">
              <a:fgClr>
                <a:srgbClr val="C0C0C0"/>
              </a:fgClr>
              <a:bgClr>
                <a:srgbClr val="FFFFFF"/>
              </a:bgClr>
            </a:pattFill>
            <a:ln w="635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C00000"/>
                </a:solidFill>
              </a:endParaRPr>
            </a:p>
          </p:txBody>
        </p:sp>
        <p:grpSp>
          <p:nvGrpSpPr>
            <p:cNvPr id="351" name="Group 75"/>
            <p:cNvGrpSpPr>
              <a:grpSpLocks/>
            </p:cNvGrpSpPr>
            <p:nvPr/>
          </p:nvGrpSpPr>
          <p:grpSpPr bwMode="auto">
            <a:xfrm>
              <a:off x="759618" y="2549426"/>
              <a:ext cx="709612" cy="682625"/>
              <a:chOff x="5786" y="3472"/>
              <a:chExt cx="991" cy="1015"/>
            </a:xfrm>
          </p:grpSpPr>
          <p:grpSp>
            <p:nvGrpSpPr>
              <p:cNvPr id="372" name="Group 76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379" name="Oval 77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80" name="AutoShape 78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73" name="Group 79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377" name="Oval 80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78" name="AutoShape 81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74" name="Group 82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375" name="Oval 83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76" name="AutoShape 84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352" name="Group 126"/>
            <p:cNvGrpSpPr>
              <a:grpSpLocks/>
            </p:cNvGrpSpPr>
            <p:nvPr/>
          </p:nvGrpSpPr>
          <p:grpSpPr bwMode="auto">
            <a:xfrm>
              <a:off x="1796256" y="2555776"/>
              <a:ext cx="709612" cy="682625"/>
              <a:chOff x="5786" y="3472"/>
              <a:chExt cx="991" cy="1015"/>
            </a:xfrm>
          </p:grpSpPr>
          <p:grpSp>
            <p:nvGrpSpPr>
              <p:cNvPr id="363" name="Group 12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370" name="Oval 12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71" name="AutoShape 12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64" name="Group 13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368" name="Oval 13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69" name="AutoShape 13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65" name="Group 13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366" name="Oval 13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67" name="AutoShape 13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353" name="Group 116"/>
            <p:cNvGrpSpPr>
              <a:grpSpLocks/>
            </p:cNvGrpSpPr>
            <p:nvPr/>
          </p:nvGrpSpPr>
          <p:grpSpPr bwMode="auto">
            <a:xfrm>
              <a:off x="1278731" y="2539901"/>
              <a:ext cx="709612" cy="682625"/>
              <a:chOff x="5786" y="3472"/>
              <a:chExt cx="991" cy="1015"/>
            </a:xfrm>
          </p:grpSpPr>
          <p:grpSp>
            <p:nvGrpSpPr>
              <p:cNvPr id="354" name="Group 11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361" name="Oval 11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62" name="AutoShape 11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55" name="Group 12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359" name="Oval 12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60" name="AutoShape 12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356" name="Group 12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357" name="Oval 12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58" name="AutoShape 12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</p:grpSp>
      <p:sp>
        <p:nvSpPr>
          <p:cNvPr id="125" name="AutoShape 66" descr="Dark upward diagonal"/>
          <p:cNvSpPr>
            <a:spLocks noChangeArrowheads="1"/>
          </p:cNvSpPr>
          <p:nvPr/>
        </p:nvSpPr>
        <p:spPr bwMode="auto">
          <a:xfrm>
            <a:off x="3178794" y="701214"/>
            <a:ext cx="2316162" cy="727075"/>
          </a:xfrm>
          <a:prstGeom prst="cube">
            <a:avLst>
              <a:gd name="adj" fmla="val 92014"/>
            </a:avLst>
          </a:prstGeom>
          <a:pattFill prst="dkUpDiag">
            <a:fgClr>
              <a:srgbClr val="C0C0C0"/>
            </a:fgClr>
            <a:bgClr>
              <a:srgbClr val="FFFFFF"/>
            </a:bgClr>
          </a:pattFill>
          <a:ln w="6350">
            <a:solidFill>
              <a:srgbClr val="808080"/>
            </a:solidFill>
            <a:miter lim="800000"/>
            <a:headEnd/>
            <a:tailEnd/>
          </a:ln>
        </p:spPr>
        <p:txBody>
          <a:bodyPr/>
          <a:lstStyle/>
          <a:p>
            <a:endParaRPr lang="en-GB">
              <a:solidFill>
                <a:srgbClr val="C00000"/>
              </a:solidFill>
            </a:endParaRPr>
          </a:p>
        </p:txBody>
      </p:sp>
      <p:grpSp>
        <p:nvGrpSpPr>
          <p:cNvPr id="174" name="173 Grupo"/>
          <p:cNvGrpSpPr>
            <a:grpSpLocks noChangeAspect="1"/>
          </p:cNvGrpSpPr>
          <p:nvPr/>
        </p:nvGrpSpPr>
        <p:grpSpPr>
          <a:xfrm>
            <a:off x="3347949" y="610521"/>
            <a:ext cx="216000" cy="661081"/>
            <a:chOff x="5296685" y="2917398"/>
            <a:chExt cx="646678" cy="1979196"/>
          </a:xfrm>
        </p:grpSpPr>
        <p:sp>
          <p:nvSpPr>
            <p:cNvPr id="168" name="167 Forma libre"/>
            <p:cNvSpPr>
              <a:spLocks noChangeAspect="1"/>
            </p:cNvSpPr>
            <p:nvPr/>
          </p:nvSpPr>
          <p:spPr>
            <a:xfrm>
              <a:off x="5722891" y="3737455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169" name="168 Forma libre"/>
            <p:cNvSpPr>
              <a:spLocks noChangeAspect="1"/>
            </p:cNvSpPr>
            <p:nvPr/>
          </p:nvSpPr>
          <p:spPr>
            <a:xfrm flipH="1">
              <a:off x="5722892" y="3707553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170" name="169 Conector angular"/>
            <p:cNvCxnSpPr>
              <a:cxnSpLocks noChangeAspect="1"/>
              <a:stCxn id="169" idx="0"/>
              <a:endCxn id="173" idx="5"/>
            </p:cNvCxnSpPr>
            <p:nvPr/>
          </p:nvCxnSpPr>
          <p:spPr>
            <a:xfrm rot="10800000">
              <a:off x="5470026" y="3523697"/>
              <a:ext cx="252867" cy="183857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170 Grupo"/>
            <p:cNvGrpSpPr>
              <a:grpSpLocks noChangeAspect="1"/>
            </p:cNvGrpSpPr>
            <p:nvPr/>
          </p:nvGrpSpPr>
          <p:grpSpPr>
            <a:xfrm rot="6551618">
              <a:off x="5216715" y="2997368"/>
              <a:ext cx="648072" cy="4881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172" name="171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3" name="172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0" name="209 Grupo"/>
          <p:cNvGrpSpPr>
            <a:grpSpLocks noChangeAspect="1"/>
          </p:cNvGrpSpPr>
          <p:nvPr/>
        </p:nvGrpSpPr>
        <p:grpSpPr>
          <a:xfrm>
            <a:off x="3577703" y="370787"/>
            <a:ext cx="216000" cy="661081"/>
            <a:chOff x="7305515" y="1244415"/>
            <a:chExt cx="646678" cy="1979196"/>
          </a:xfrm>
        </p:grpSpPr>
        <p:sp>
          <p:nvSpPr>
            <p:cNvPr id="211" name="210 Forma libre"/>
            <p:cNvSpPr/>
            <p:nvPr/>
          </p:nvSpPr>
          <p:spPr>
            <a:xfrm>
              <a:off x="7731721" y="2064472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12" name="211 Forma libre"/>
            <p:cNvSpPr/>
            <p:nvPr/>
          </p:nvSpPr>
          <p:spPr>
            <a:xfrm flipH="1">
              <a:off x="7731722" y="2034570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13" name="212 Conector angular"/>
            <p:cNvCxnSpPr>
              <a:stCxn id="212" idx="0"/>
              <a:endCxn id="216" idx="5"/>
            </p:cNvCxnSpPr>
            <p:nvPr/>
          </p:nvCxnSpPr>
          <p:spPr>
            <a:xfrm rot="10800000">
              <a:off x="7478856" y="1850714"/>
              <a:ext cx="252867" cy="183857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213 Grupo"/>
            <p:cNvGrpSpPr/>
            <p:nvPr/>
          </p:nvGrpSpPr>
          <p:grpSpPr>
            <a:xfrm rot="6551618">
              <a:off x="7225545" y="1324385"/>
              <a:ext cx="648072" cy="488131"/>
              <a:chOff x="5071293" y="2940735"/>
              <a:chExt cx="1062961" cy="825145"/>
            </a:xfrm>
            <a:solidFill>
              <a:srgbClr val="0033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15" name="214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6" name="215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7" name="216 Grupo"/>
          <p:cNvGrpSpPr>
            <a:grpSpLocks noChangeAspect="1"/>
          </p:cNvGrpSpPr>
          <p:nvPr/>
        </p:nvGrpSpPr>
        <p:grpSpPr>
          <a:xfrm>
            <a:off x="3698219" y="369952"/>
            <a:ext cx="216000" cy="661081"/>
            <a:chOff x="7305515" y="1244415"/>
            <a:chExt cx="646678" cy="1979196"/>
          </a:xfrm>
        </p:grpSpPr>
        <p:sp>
          <p:nvSpPr>
            <p:cNvPr id="218" name="217 Forma libre"/>
            <p:cNvSpPr/>
            <p:nvPr/>
          </p:nvSpPr>
          <p:spPr>
            <a:xfrm>
              <a:off x="7731721" y="2064472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19" name="218 Forma libre"/>
            <p:cNvSpPr/>
            <p:nvPr/>
          </p:nvSpPr>
          <p:spPr>
            <a:xfrm flipH="1">
              <a:off x="7731722" y="2034570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20" name="219 Conector angular"/>
            <p:cNvCxnSpPr>
              <a:stCxn id="219" idx="0"/>
              <a:endCxn id="223" idx="5"/>
            </p:cNvCxnSpPr>
            <p:nvPr/>
          </p:nvCxnSpPr>
          <p:spPr>
            <a:xfrm rot="10800000">
              <a:off x="7478856" y="1850714"/>
              <a:ext cx="252867" cy="183857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1" name="220 Grupo"/>
            <p:cNvGrpSpPr/>
            <p:nvPr/>
          </p:nvGrpSpPr>
          <p:grpSpPr>
            <a:xfrm rot="6551618">
              <a:off x="7225545" y="1324385"/>
              <a:ext cx="648072" cy="488131"/>
              <a:chOff x="5071293" y="2940735"/>
              <a:chExt cx="1062961" cy="825145"/>
            </a:xfrm>
            <a:solidFill>
              <a:srgbClr val="0033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221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3" name="222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64" name="263 Grupo"/>
          <p:cNvGrpSpPr/>
          <p:nvPr/>
        </p:nvGrpSpPr>
        <p:grpSpPr>
          <a:xfrm>
            <a:off x="4138288" y="357581"/>
            <a:ext cx="336516" cy="661916"/>
            <a:chOff x="5743663" y="3827376"/>
            <a:chExt cx="336516" cy="661916"/>
          </a:xfrm>
        </p:grpSpPr>
        <p:sp>
          <p:nvSpPr>
            <p:cNvPr id="239" name="238 Forma libre"/>
            <p:cNvSpPr/>
            <p:nvPr/>
          </p:nvSpPr>
          <p:spPr>
            <a:xfrm>
              <a:off x="5886022" y="4102122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40" name="239 Forma libre"/>
            <p:cNvSpPr/>
            <p:nvPr/>
          </p:nvSpPr>
          <p:spPr>
            <a:xfrm flipH="1">
              <a:off x="5886022" y="4092135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41" name="240 Conector angular"/>
            <p:cNvCxnSpPr>
              <a:stCxn id="240" idx="0"/>
              <a:endCxn id="244" idx="5"/>
            </p:cNvCxnSpPr>
            <p:nvPr/>
          </p:nvCxnSpPr>
          <p:spPr>
            <a:xfrm rot="10800000">
              <a:off x="5801561" y="4030724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241 Grupo"/>
            <p:cNvGrpSpPr/>
            <p:nvPr/>
          </p:nvGrpSpPr>
          <p:grpSpPr>
            <a:xfrm rot="6551618">
              <a:off x="5716952" y="3854922"/>
              <a:ext cx="216466" cy="163043"/>
              <a:chOff x="5071293" y="2940735"/>
              <a:chExt cx="1062961" cy="825145"/>
            </a:xfrm>
            <a:solidFill>
              <a:srgbClr val="FF00FF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43" name="242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4" name="243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45" name="244 Forma libre"/>
            <p:cNvSpPr/>
            <p:nvPr/>
          </p:nvSpPr>
          <p:spPr>
            <a:xfrm>
              <a:off x="6006538" y="4101287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46" name="245 Forma libre"/>
            <p:cNvSpPr/>
            <p:nvPr/>
          </p:nvSpPr>
          <p:spPr>
            <a:xfrm flipH="1">
              <a:off x="6006538" y="4091300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FF00FF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47" name="246 Conector angular"/>
            <p:cNvCxnSpPr>
              <a:stCxn id="246" idx="0"/>
              <a:endCxn id="250" idx="5"/>
            </p:cNvCxnSpPr>
            <p:nvPr/>
          </p:nvCxnSpPr>
          <p:spPr>
            <a:xfrm rot="10800000">
              <a:off x="5922077" y="4029889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" name="247 Grupo"/>
            <p:cNvGrpSpPr/>
            <p:nvPr/>
          </p:nvGrpSpPr>
          <p:grpSpPr>
            <a:xfrm rot="6551618">
              <a:off x="5837468" y="3854087"/>
              <a:ext cx="216466" cy="163043"/>
              <a:chOff x="5071293" y="2940735"/>
              <a:chExt cx="1062961" cy="825145"/>
            </a:xfrm>
            <a:solidFill>
              <a:srgbClr val="FF00FF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49" name="248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0" name="249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77" name="276 Grupo"/>
          <p:cNvGrpSpPr/>
          <p:nvPr/>
        </p:nvGrpSpPr>
        <p:grpSpPr>
          <a:xfrm>
            <a:off x="3911690" y="591988"/>
            <a:ext cx="336516" cy="661916"/>
            <a:chOff x="7096126" y="4155325"/>
            <a:chExt cx="336516" cy="661916"/>
          </a:xfrm>
        </p:grpSpPr>
        <p:sp>
          <p:nvSpPr>
            <p:cNvPr id="252" name="251 Forma libre"/>
            <p:cNvSpPr/>
            <p:nvPr/>
          </p:nvSpPr>
          <p:spPr>
            <a:xfrm>
              <a:off x="7238485" y="4430071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CC66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53" name="252 Forma libre"/>
            <p:cNvSpPr/>
            <p:nvPr/>
          </p:nvSpPr>
          <p:spPr>
            <a:xfrm flipH="1">
              <a:off x="7238485" y="4420084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CC66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54" name="253 Conector angular"/>
            <p:cNvCxnSpPr>
              <a:stCxn id="253" idx="0"/>
              <a:endCxn id="257" idx="5"/>
            </p:cNvCxnSpPr>
            <p:nvPr/>
          </p:nvCxnSpPr>
          <p:spPr>
            <a:xfrm rot="10800000">
              <a:off x="7154024" y="4358673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5" name="254 Grupo"/>
            <p:cNvGrpSpPr/>
            <p:nvPr/>
          </p:nvGrpSpPr>
          <p:grpSpPr>
            <a:xfrm rot="6551618">
              <a:off x="7069415" y="4182871"/>
              <a:ext cx="216466" cy="163043"/>
              <a:chOff x="5071293" y="2940735"/>
              <a:chExt cx="1062961" cy="825145"/>
            </a:xfrm>
            <a:solidFill>
              <a:srgbClr val="CC66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56" name="255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7" name="256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58" name="257 Forma libre"/>
            <p:cNvSpPr/>
            <p:nvPr/>
          </p:nvSpPr>
          <p:spPr>
            <a:xfrm>
              <a:off x="7359001" y="4429236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CC66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59" name="258 Forma libre"/>
            <p:cNvSpPr/>
            <p:nvPr/>
          </p:nvSpPr>
          <p:spPr>
            <a:xfrm flipH="1">
              <a:off x="7359001" y="4419249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CC66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60" name="259 Conector angular"/>
            <p:cNvCxnSpPr>
              <a:stCxn id="259" idx="0"/>
              <a:endCxn id="263" idx="5"/>
            </p:cNvCxnSpPr>
            <p:nvPr/>
          </p:nvCxnSpPr>
          <p:spPr>
            <a:xfrm rot="10800000">
              <a:off x="7274540" y="4357838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1" name="260 Grupo"/>
            <p:cNvGrpSpPr/>
            <p:nvPr/>
          </p:nvGrpSpPr>
          <p:grpSpPr>
            <a:xfrm rot="6551618">
              <a:off x="7189931" y="4182036"/>
              <a:ext cx="216466" cy="163043"/>
              <a:chOff x="5071293" y="2940735"/>
              <a:chExt cx="1062961" cy="825145"/>
            </a:xfrm>
            <a:solidFill>
              <a:srgbClr val="CC66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62" name="261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3" name="262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90" name="289 Grupo"/>
          <p:cNvGrpSpPr/>
          <p:nvPr/>
        </p:nvGrpSpPr>
        <p:grpSpPr>
          <a:xfrm>
            <a:off x="4473334" y="581166"/>
            <a:ext cx="336516" cy="661916"/>
            <a:chOff x="7076721" y="4517771"/>
            <a:chExt cx="336516" cy="661916"/>
          </a:xfrm>
        </p:grpSpPr>
        <p:sp>
          <p:nvSpPr>
            <p:cNvPr id="278" name="277 Forma libre"/>
            <p:cNvSpPr/>
            <p:nvPr/>
          </p:nvSpPr>
          <p:spPr>
            <a:xfrm>
              <a:off x="7219080" y="4792517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8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79" name="278 Forma libre"/>
            <p:cNvSpPr/>
            <p:nvPr/>
          </p:nvSpPr>
          <p:spPr>
            <a:xfrm flipH="1">
              <a:off x="7219080" y="4782530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80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80" name="279 Conector angular"/>
            <p:cNvCxnSpPr>
              <a:stCxn id="279" idx="0"/>
              <a:endCxn id="283" idx="5"/>
            </p:cNvCxnSpPr>
            <p:nvPr/>
          </p:nvCxnSpPr>
          <p:spPr>
            <a:xfrm rot="10800000">
              <a:off x="7134619" y="4721119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1" name="280 Grupo"/>
            <p:cNvGrpSpPr/>
            <p:nvPr/>
          </p:nvGrpSpPr>
          <p:grpSpPr>
            <a:xfrm rot="6551618">
              <a:off x="7050010" y="4545317"/>
              <a:ext cx="216466" cy="163043"/>
              <a:chOff x="5071293" y="2940735"/>
              <a:chExt cx="1062961" cy="825145"/>
            </a:xfrm>
            <a:solidFill>
              <a:srgbClr val="0080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82" name="281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3" name="282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84" name="283 Forma libre"/>
            <p:cNvSpPr/>
            <p:nvPr/>
          </p:nvSpPr>
          <p:spPr>
            <a:xfrm>
              <a:off x="7339596" y="4791682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8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285" name="284 Forma libre"/>
            <p:cNvSpPr/>
            <p:nvPr/>
          </p:nvSpPr>
          <p:spPr>
            <a:xfrm flipH="1">
              <a:off x="7339596" y="4781695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800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286" name="285 Conector angular"/>
            <p:cNvCxnSpPr>
              <a:stCxn id="285" idx="0"/>
              <a:endCxn id="289" idx="5"/>
            </p:cNvCxnSpPr>
            <p:nvPr/>
          </p:nvCxnSpPr>
          <p:spPr>
            <a:xfrm rot="10800000">
              <a:off x="7255135" y="4720284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7" name="286 Grupo"/>
            <p:cNvGrpSpPr/>
            <p:nvPr/>
          </p:nvGrpSpPr>
          <p:grpSpPr>
            <a:xfrm rot="6551618">
              <a:off x="7170526" y="4544482"/>
              <a:ext cx="216466" cy="163043"/>
              <a:chOff x="5071293" y="2940735"/>
              <a:chExt cx="1062961" cy="825145"/>
            </a:xfrm>
            <a:solidFill>
              <a:srgbClr val="00800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288" name="287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9" name="288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16" name="315 Grupo"/>
          <p:cNvGrpSpPr/>
          <p:nvPr/>
        </p:nvGrpSpPr>
        <p:grpSpPr>
          <a:xfrm>
            <a:off x="4699054" y="382557"/>
            <a:ext cx="336516" cy="661916"/>
            <a:chOff x="7374743" y="4593134"/>
            <a:chExt cx="336516" cy="661916"/>
          </a:xfrm>
        </p:grpSpPr>
        <p:sp>
          <p:nvSpPr>
            <p:cNvPr id="304" name="303 Forma libre"/>
            <p:cNvSpPr/>
            <p:nvPr/>
          </p:nvSpPr>
          <p:spPr>
            <a:xfrm>
              <a:off x="7517102" y="4867880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305" name="304 Forma libre"/>
            <p:cNvSpPr/>
            <p:nvPr/>
          </p:nvSpPr>
          <p:spPr>
            <a:xfrm flipH="1">
              <a:off x="7517102" y="4857893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306" name="305 Conector angular"/>
            <p:cNvCxnSpPr>
              <a:stCxn id="305" idx="0"/>
              <a:endCxn id="309" idx="5"/>
            </p:cNvCxnSpPr>
            <p:nvPr/>
          </p:nvCxnSpPr>
          <p:spPr>
            <a:xfrm rot="10800000">
              <a:off x="7432641" y="4796482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7" name="306 Grupo"/>
            <p:cNvGrpSpPr/>
            <p:nvPr/>
          </p:nvGrpSpPr>
          <p:grpSpPr>
            <a:xfrm rot="6551618">
              <a:off x="7348032" y="4620680"/>
              <a:ext cx="216466" cy="163043"/>
              <a:chOff x="5071293" y="2940735"/>
              <a:chExt cx="1062961" cy="825145"/>
            </a:xfrm>
            <a:solidFill>
              <a:srgbClr val="0070C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308" name="307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9" name="308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0" name="309 Forma libre"/>
            <p:cNvSpPr/>
            <p:nvPr/>
          </p:nvSpPr>
          <p:spPr>
            <a:xfrm>
              <a:off x="7637618" y="4867045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311" name="310 Forma libre"/>
            <p:cNvSpPr/>
            <p:nvPr/>
          </p:nvSpPr>
          <p:spPr>
            <a:xfrm flipH="1">
              <a:off x="7637618" y="4857058"/>
              <a:ext cx="73641" cy="387170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312" name="311 Conector angular"/>
            <p:cNvCxnSpPr>
              <a:stCxn id="311" idx="0"/>
              <a:endCxn id="315" idx="5"/>
            </p:cNvCxnSpPr>
            <p:nvPr/>
          </p:nvCxnSpPr>
          <p:spPr>
            <a:xfrm rot="10800000">
              <a:off x="7553157" y="4795647"/>
              <a:ext cx="84461" cy="61411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3" name="312 Grupo"/>
            <p:cNvGrpSpPr/>
            <p:nvPr/>
          </p:nvGrpSpPr>
          <p:grpSpPr>
            <a:xfrm rot="6551618">
              <a:off x="7468548" y="4619845"/>
              <a:ext cx="216466" cy="163043"/>
              <a:chOff x="5071293" y="2940735"/>
              <a:chExt cx="1062961" cy="825145"/>
            </a:xfrm>
            <a:solidFill>
              <a:srgbClr val="0070C0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314" name="313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5" name="314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86" name="385 Grupo"/>
          <p:cNvGrpSpPr>
            <a:grpSpLocks noChangeAspect="1"/>
          </p:cNvGrpSpPr>
          <p:nvPr/>
        </p:nvGrpSpPr>
        <p:grpSpPr>
          <a:xfrm>
            <a:off x="3450246" y="635410"/>
            <a:ext cx="216000" cy="661081"/>
            <a:chOff x="5296685" y="2917398"/>
            <a:chExt cx="646678" cy="1979196"/>
          </a:xfrm>
        </p:grpSpPr>
        <p:sp>
          <p:nvSpPr>
            <p:cNvPr id="387" name="386 Forma libre"/>
            <p:cNvSpPr>
              <a:spLocks noChangeAspect="1"/>
            </p:cNvSpPr>
            <p:nvPr/>
          </p:nvSpPr>
          <p:spPr>
            <a:xfrm>
              <a:off x="5722891" y="3737455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388" name="387 Forma libre"/>
            <p:cNvSpPr>
              <a:spLocks noChangeAspect="1"/>
            </p:cNvSpPr>
            <p:nvPr/>
          </p:nvSpPr>
          <p:spPr>
            <a:xfrm flipH="1">
              <a:off x="5722892" y="3707553"/>
              <a:ext cx="220471" cy="1159139"/>
            </a:xfrm>
            <a:custGeom>
              <a:avLst/>
              <a:gdLst>
                <a:gd name="connsiteX0" fmla="*/ 411752 w 411752"/>
                <a:gd name="connsiteY0" fmla="*/ 0 h 1569720"/>
                <a:gd name="connsiteX1" fmla="*/ 272 w 411752"/>
                <a:gd name="connsiteY1" fmla="*/ 266700 h 1569720"/>
                <a:gd name="connsiteX2" fmla="*/ 343172 w 411752"/>
                <a:gd name="connsiteY2" fmla="*/ 601980 h 1569720"/>
                <a:gd name="connsiteX3" fmla="*/ 15512 w 411752"/>
                <a:gd name="connsiteY3" fmla="*/ 929640 h 1569720"/>
                <a:gd name="connsiteX4" fmla="*/ 396512 w 411752"/>
                <a:gd name="connsiteY4" fmla="*/ 1181100 h 1569720"/>
                <a:gd name="connsiteX5" fmla="*/ 129812 w 411752"/>
                <a:gd name="connsiteY5" fmla="*/ 1569720 h 156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752" h="1569720">
                  <a:moveTo>
                    <a:pt x="411752" y="0"/>
                  </a:moveTo>
                  <a:cubicBezTo>
                    <a:pt x="211727" y="83185"/>
                    <a:pt x="11702" y="166370"/>
                    <a:pt x="272" y="266700"/>
                  </a:cubicBezTo>
                  <a:cubicBezTo>
                    <a:pt x="-11158" y="367030"/>
                    <a:pt x="340632" y="491490"/>
                    <a:pt x="343172" y="601980"/>
                  </a:cubicBezTo>
                  <a:cubicBezTo>
                    <a:pt x="345712" y="712470"/>
                    <a:pt x="6622" y="833120"/>
                    <a:pt x="15512" y="929640"/>
                  </a:cubicBezTo>
                  <a:cubicBezTo>
                    <a:pt x="24402" y="1026160"/>
                    <a:pt x="377462" y="1074420"/>
                    <a:pt x="396512" y="1181100"/>
                  </a:cubicBezTo>
                  <a:cubicBezTo>
                    <a:pt x="415562" y="1287780"/>
                    <a:pt x="272687" y="1428750"/>
                    <a:pt x="129812" y="1569720"/>
                  </a:cubicBezTo>
                </a:path>
              </a:pathLst>
            </a:custGeom>
            <a:noFill/>
            <a:ln w="38100">
              <a:solidFill>
                <a:srgbClr val="002060"/>
              </a:solidFill>
              <a:prstDash val="soli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002060"/>
                  </a:solidFill>
                </a:ln>
              </a:endParaRPr>
            </a:p>
          </p:txBody>
        </p:sp>
        <p:cxnSp>
          <p:nvCxnSpPr>
            <p:cNvPr id="389" name="388 Conector angular"/>
            <p:cNvCxnSpPr>
              <a:cxnSpLocks noChangeAspect="1"/>
              <a:stCxn id="388" idx="0"/>
              <a:endCxn id="392" idx="5"/>
            </p:cNvCxnSpPr>
            <p:nvPr/>
          </p:nvCxnSpPr>
          <p:spPr>
            <a:xfrm rot="10800000">
              <a:off x="5470026" y="3523697"/>
              <a:ext cx="252867" cy="183857"/>
            </a:xfrm>
            <a:prstGeom prst="bentConnector2">
              <a:avLst/>
            </a:prstGeom>
            <a:ln w="38100">
              <a:solidFill>
                <a:srgbClr val="003300"/>
              </a:solidFill>
            </a:ln>
            <a:effectLst>
              <a:glow rad="1397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0" name="389 Grupo"/>
            <p:cNvGrpSpPr>
              <a:grpSpLocks noChangeAspect="1"/>
            </p:cNvGrpSpPr>
            <p:nvPr/>
          </p:nvGrpSpPr>
          <p:grpSpPr>
            <a:xfrm rot="6551618">
              <a:off x="5216715" y="2997368"/>
              <a:ext cx="648072" cy="488131"/>
              <a:chOff x="5071293" y="2940735"/>
              <a:chExt cx="1062961" cy="825145"/>
            </a:xfrm>
            <a:solidFill>
              <a:schemeClr val="accent2">
                <a:lumMod val="50000"/>
              </a:schemeClr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391" name="390 Hexágono"/>
              <p:cNvSpPr/>
              <p:nvPr/>
            </p:nvSpPr>
            <p:spPr>
              <a:xfrm>
                <a:off x="5071293" y="2940735"/>
                <a:ext cx="648072" cy="606012"/>
              </a:xfrm>
              <a:prstGeom prst="hex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2" name="391 Pentágono regular"/>
              <p:cNvSpPr/>
              <p:nvPr/>
            </p:nvSpPr>
            <p:spPr>
              <a:xfrm rot="20029115">
                <a:off x="5576345" y="3221786"/>
                <a:ext cx="557909" cy="544094"/>
              </a:xfrm>
              <a:prstGeom prst="pentagon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1" name="Rectangle 38" descr="Dark upward diagonal"/>
          <p:cNvSpPr>
            <a:spLocks noChangeArrowheads="1"/>
          </p:cNvSpPr>
          <p:nvPr/>
        </p:nvSpPr>
        <p:spPr bwMode="auto">
          <a:xfrm>
            <a:off x="5976683" y="3306703"/>
            <a:ext cx="2956658" cy="6447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2" name="Rectangle 39"/>
          <p:cNvSpPr>
            <a:spLocks noChangeArrowheads="1"/>
          </p:cNvSpPr>
          <p:nvPr/>
        </p:nvSpPr>
        <p:spPr bwMode="auto">
          <a:xfrm>
            <a:off x="5959353" y="3307981"/>
            <a:ext cx="2951379" cy="137907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endParaRPr lang="en-GB"/>
          </a:p>
        </p:txBody>
      </p:sp>
      <p:cxnSp>
        <p:nvCxnSpPr>
          <p:cNvPr id="483" name="482 Conector recto de flecha"/>
          <p:cNvCxnSpPr/>
          <p:nvPr/>
        </p:nvCxnSpPr>
        <p:spPr>
          <a:xfrm flipV="1">
            <a:off x="2570251" y="1052442"/>
            <a:ext cx="416295" cy="12309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381 Conector recto"/>
          <p:cNvCxnSpPr/>
          <p:nvPr/>
        </p:nvCxnSpPr>
        <p:spPr>
          <a:xfrm flipH="1">
            <a:off x="6597876" y="1197407"/>
            <a:ext cx="494404" cy="1602268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485 Conector recto de flecha"/>
          <p:cNvCxnSpPr/>
          <p:nvPr/>
        </p:nvCxnSpPr>
        <p:spPr>
          <a:xfrm flipV="1">
            <a:off x="5383545" y="1059338"/>
            <a:ext cx="416295" cy="12309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486 Conector recto de flecha"/>
          <p:cNvCxnSpPr/>
          <p:nvPr/>
        </p:nvCxnSpPr>
        <p:spPr>
          <a:xfrm flipH="1" flipV="1">
            <a:off x="5624238" y="2743531"/>
            <a:ext cx="610515" cy="18256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Rectangle 38" descr="Dark upward diagonal"/>
          <p:cNvSpPr>
            <a:spLocks noChangeArrowheads="1"/>
          </p:cNvSpPr>
          <p:nvPr/>
        </p:nvSpPr>
        <p:spPr bwMode="auto">
          <a:xfrm>
            <a:off x="3031519" y="3317094"/>
            <a:ext cx="2870475" cy="6447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43" name="Rectangle 39"/>
          <p:cNvSpPr>
            <a:spLocks noChangeArrowheads="1"/>
          </p:cNvSpPr>
          <p:nvPr/>
        </p:nvSpPr>
        <p:spPr bwMode="auto">
          <a:xfrm>
            <a:off x="3015301" y="3318372"/>
            <a:ext cx="2886693" cy="93587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endParaRPr lang="en-GB"/>
          </a:p>
        </p:txBody>
      </p:sp>
      <p:sp>
        <p:nvSpPr>
          <p:cNvPr id="548" name="Rectangle 38" descr="Dark upward diagonal"/>
          <p:cNvSpPr>
            <a:spLocks noChangeArrowheads="1"/>
          </p:cNvSpPr>
          <p:nvPr/>
        </p:nvSpPr>
        <p:spPr bwMode="auto">
          <a:xfrm>
            <a:off x="-14640" y="3340200"/>
            <a:ext cx="2870475" cy="6447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49" name="Rectangle 39"/>
          <p:cNvSpPr>
            <a:spLocks noChangeArrowheads="1"/>
          </p:cNvSpPr>
          <p:nvPr/>
        </p:nvSpPr>
        <p:spPr bwMode="auto">
          <a:xfrm>
            <a:off x="-30858" y="3341478"/>
            <a:ext cx="2886693" cy="93587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endParaRPr lang="en-GB"/>
          </a:p>
        </p:txBody>
      </p:sp>
      <p:cxnSp>
        <p:nvCxnSpPr>
          <p:cNvPr id="383" name="382 Conector recto"/>
          <p:cNvCxnSpPr/>
          <p:nvPr/>
        </p:nvCxnSpPr>
        <p:spPr>
          <a:xfrm>
            <a:off x="7302793" y="1197407"/>
            <a:ext cx="983801" cy="160710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599 Conector recto de flecha"/>
          <p:cNvCxnSpPr/>
          <p:nvPr/>
        </p:nvCxnSpPr>
        <p:spPr>
          <a:xfrm flipH="1" flipV="1">
            <a:off x="2639690" y="2740019"/>
            <a:ext cx="610515" cy="18256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600 Elipse"/>
          <p:cNvSpPr/>
          <p:nvPr/>
        </p:nvSpPr>
        <p:spPr>
          <a:xfrm>
            <a:off x="2570251" y="1268760"/>
            <a:ext cx="285584" cy="3185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602" name="601 Elipse"/>
          <p:cNvSpPr/>
          <p:nvPr/>
        </p:nvSpPr>
        <p:spPr>
          <a:xfrm>
            <a:off x="5222520" y="1268760"/>
            <a:ext cx="285584" cy="3185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603" name="602 Elipse"/>
          <p:cNvSpPr/>
          <p:nvPr/>
        </p:nvSpPr>
        <p:spPr>
          <a:xfrm>
            <a:off x="5852798" y="2204864"/>
            <a:ext cx="285584" cy="3185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04" name="603 Elipse"/>
          <p:cNvSpPr/>
          <p:nvPr/>
        </p:nvSpPr>
        <p:spPr>
          <a:xfrm>
            <a:off x="2905538" y="2246713"/>
            <a:ext cx="285584" cy="3185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</a:p>
        </p:txBody>
      </p:sp>
      <p:grpSp>
        <p:nvGrpSpPr>
          <p:cNvPr id="607" name="Group 36"/>
          <p:cNvGrpSpPr>
            <a:grpSpLocks/>
          </p:cNvGrpSpPr>
          <p:nvPr/>
        </p:nvGrpSpPr>
        <p:grpSpPr bwMode="auto">
          <a:xfrm>
            <a:off x="439263" y="4344969"/>
            <a:ext cx="1766963" cy="1493321"/>
            <a:chOff x="2062" y="1253"/>
            <a:chExt cx="1589" cy="1587"/>
          </a:xfrm>
        </p:grpSpPr>
        <p:pic>
          <p:nvPicPr>
            <p:cNvPr id="608" name="Picture 37"/>
            <p:cNvPicPr preferRelativeResize="0">
              <a:picLocks noChangeArrowheads="1"/>
            </p:cNvPicPr>
            <p:nvPr/>
          </p:nvPicPr>
          <p:blipFill>
            <a:blip r:embed="rId2">
              <a:lum bright="12000" contrast="3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28" r="22241" b="18961"/>
            <a:stretch>
              <a:fillRect/>
            </a:stretch>
          </p:blipFill>
          <p:spPr bwMode="auto">
            <a:xfrm>
              <a:off x="2064" y="1253"/>
              <a:ext cx="1587" cy="1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09" name="Group 38"/>
            <p:cNvGrpSpPr>
              <a:grpSpLocks/>
            </p:cNvGrpSpPr>
            <p:nvPr/>
          </p:nvGrpSpPr>
          <p:grpSpPr bwMode="auto">
            <a:xfrm>
              <a:off x="2062" y="2577"/>
              <a:ext cx="635" cy="252"/>
              <a:chOff x="249" y="3177"/>
              <a:chExt cx="635" cy="252"/>
            </a:xfrm>
          </p:grpSpPr>
          <p:grpSp>
            <p:nvGrpSpPr>
              <p:cNvPr id="610" name="Group 39"/>
              <p:cNvGrpSpPr>
                <a:grpSpLocks/>
              </p:cNvGrpSpPr>
              <p:nvPr/>
            </p:nvGrpSpPr>
            <p:grpSpPr bwMode="auto">
              <a:xfrm>
                <a:off x="340" y="3339"/>
                <a:ext cx="454" cy="90"/>
                <a:chOff x="2426" y="3612"/>
                <a:chExt cx="1407" cy="95"/>
              </a:xfrm>
            </p:grpSpPr>
            <p:sp>
              <p:nvSpPr>
                <p:cNvPr id="612" name="Line 40"/>
                <p:cNvSpPr>
                  <a:spLocks noChangeShapeType="1"/>
                </p:cNvSpPr>
                <p:nvPr/>
              </p:nvSpPr>
              <p:spPr bwMode="auto">
                <a:xfrm>
                  <a:off x="2426" y="3660"/>
                  <a:ext cx="1406" cy="0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3" name="Line 41"/>
                <p:cNvSpPr>
                  <a:spLocks noChangeShapeType="1"/>
                </p:cNvSpPr>
                <p:nvPr/>
              </p:nvSpPr>
              <p:spPr bwMode="auto">
                <a:xfrm>
                  <a:off x="2426" y="3612"/>
                  <a:ext cx="0" cy="95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4" name="Line 42"/>
                <p:cNvSpPr>
                  <a:spLocks noChangeShapeType="1"/>
                </p:cNvSpPr>
                <p:nvPr/>
              </p:nvSpPr>
              <p:spPr bwMode="auto">
                <a:xfrm>
                  <a:off x="3833" y="3612"/>
                  <a:ext cx="0" cy="95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611" name="Text Box 43"/>
              <p:cNvSpPr txBox="1">
                <a:spLocks noChangeArrowheads="1"/>
              </p:cNvSpPr>
              <p:nvPr/>
            </p:nvSpPr>
            <p:spPr bwMode="auto">
              <a:xfrm>
                <a:off x="249" y="3177"/>
                <a:ext cx="635" cy="1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rgbClr val="FFFF66"/>
                        </a:gs>
                        <a:gs pos="100000">
                          <a:srgbClr val="FF0000"/>
                        </a:gs>
                      </a:gsLst>
                      <a:lin ang="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GB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rPr>
                  <a:t>100 </a:t>
                </a:r>
                <a:r>
                  <a:rPr kumimoji="1" lang="en-US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rPr>
                  <a:t>µ</a:t>
                </a:r>
                <a:r>
                  <a:rPr kumimoji="1" lang="en-GB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rPr>
                  <a:t>m</a:t>
                </a:r>
                <a:endParaRPr kumimoji="1" lang="en-US" sz="1200">
                  <a:solidFill>
                    <a:schemeClr val="bg1"/>
                  </a:solidFill>
                  <a:latin typeface="Comic Sans MS" pitchFamily="66" charset="0"/>
                  <a:ea typeface="MS PGothic" pitchFamily="34" charset="-128"/>
                </a:endParaRPr>
              </a:p>
            </p:txBody>
          </p:sp>
        </p:grpSp>
      </p:grpSp>
      <p:cxnSp>
        <p:nvCxnSpPr>
          <p:cNvPr id="618" name="617 Conector recto de flecha"/>
          <p:cNvCxnSpPr/>
          <p:nvPr/>
        </p:nvCxnSpPr>
        <p:spPr>
          <a:xfrm>
            <a:off x="1415793" y="3696897"/>
            <a:ext cx="10034" cy="576064"/>
          </a:xfrm>
          <a:prstGeom prst="straightConnector1">
            <a:avLst/>
          </a:prstGeom>
          <a:ln w="57150">
            <a:solidFill>
              <a:srgbClr val="800000"/>
            </a:solidFill>
            <a:tailEnd type="arrow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618 Elipse"/>
          <p:cNvSpPr/>
          <p:nvPr/>
        </p:nvSpPr>
        <p:spPr>
          <a:xfrm>
            <a:off x="1771631" y="3599982"/>
            <a:ext cx="285584" cy="3185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</a:t>
            </a:r>
          </a:p>
        </p:txBody>
      </p:sp>
      <p:grpSp>
        <p:nvGrpSpPr>
          <p:cNvPr id="623" name="622 Grupo"/>
          <p:cNvGrpSpPr/>
          <p:nvPr/>
        </p:nvGrpSpPr>
        <p:grpSpPr>
          <a:xfrm rot="19664255">
            <a:off x="206699" y="2609071"/>
            <a:ext cx="1171999" cy="239352"/>
            <a:chOff x="654142" y="2928113"/>
            <a:chExt cx="1839388" cy="313440"/>
          </a:xfrm>
        </p:grpSpPr>
        <p:sp>
          <p:nvSpPr>
            <p:cNvPr id="620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1" name="620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2" name="621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4" name="623 Grupo"/>
          <p:cNvGrpSpPr/>
          <p:nvPr/>
        </p:nvGrpSpPr>
        <p:grpSpPr>
          <a:xfrm rot="19664255">
            <a:off x="359099" y="2761471"/>
            <a:ext cx="1171999" cy="239352"/>
            <a:chOff x="654142" y="2928113"/>
            <a:chExt cx="1839388" cy="313440"/>
          </a:xfrm>
        </p:grpSpPr>
        <p:sp>
          <p:nvSpPr>
            <p:cNvPr id="625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6" name="625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7" name="626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8" name="627 Grupo"/>
          <p:cNvGrpSpPr/>
          <p:nvPr/>
        </p:nvGrpSpPr>
        <p:grpSpPr>
          <a:xfrm rot="20683932">
            <a:off x="359099" y="2761471"/>
            <a:ext cx="1171999" cy="239352"/>
            <a:chOff x="654142" y="2928113"/>
            <a:chExt cx="1839388" cy="313440"/>
          </a:xfrm>
        </p:grpSpPr>
        <p:sp>
          <p:nvSpPr>
            <p:cNvPr id="629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0" name="629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1" name="630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2" name="631 Grupo"/>
          <p:cNvGrpSpPr/>
          <p:nvPr/>
        </p:nvGrpSpPr>
        <p:grpSpPr>
          <a:xfrm rot="20683932">
            <a:off x="511499" y="2913871"/>
            <a:ext cx="1171999" cy="239352"/>
            <a:chOff x="654142" y="2928113"/>
            <a:chExt cx="1839388" cy="313440"/>
          </a:xfrm>
        </p:grpSpPr>
        <p:sp>
          <p:nvSpPr>
            <p:cNvPr id="633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4" name="633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5" name="634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6" name="635 Grupo"/>
          <p:cNvGrpSpPr/>
          <p:nvPr/>
        </p:nvGrpSpPr>
        <p:grpSpPr>
          <a:xfrm rot="1265398">
            <a:off x="854620" y="2540308"/>
            <a:ext cx="1171999" cy="239352"/>
            <a:chOff x="654142" y="2928113"/>
            <a:chExt cx="1839388" cy="313440"/>
          </a:xfrm>
        </p:grpSpPr>
        <p:sp>
          <p:nvSpPr>
            <p:cNvPr id="637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8" name="637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9" name="638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0" name="639 Grupo"/>
          <p:cNvGrpSpPr/>
          <p:nvPr/>
        </p:nvGrpSpPr>
        <p:grpSpPr>
          <a:xfrm rot="1265398">
            <a:off x="1007020" y="2692708"/>
            <a:ext cx="1171999" cy="239352"/>
            <a:chOff x="654142" y="2928113"/>
            <a:chExt cx="1839388" cy="313440"/>
          </a:xfrm>
        </p:grpSpPr>
        <p:sp>
          <p:nvSpPr>
            <p:cNvPr id="641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2" name="641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3" name="642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4" name="643 Grupo"/>
          <p:cNvGrpSpPr/>
          <p:nvPr/>
        </p:nvGrpSpPr>
        <p:grpSpPr>
          <a:xfrm rot="1331814">
            <a:off x="1227270" y="2601236"/>
            <a:ext cx="1171999" cy="239352"/>
            <a:chOff x="654142" y="2928113"/>
            <a:chExt cx="1839388" cy="313440"/>
          </a:xfrm>
        </p:grpSpPr>
        <p:sp>
          <p:nvSpPr>
            <p:cNvPr id="645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6" name="645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7" name="646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8" name="647 Grupo"/>
          <p:cNvGrpSpPr/>
          <p:nvPr/>
        </p:nvGrpSpPr>
        <p:grpSpPr>
          <a:xfrm rot="1331814">
            <a:off x="1379670" y="2753636"/>
            <a:ext cx="1171999" cy="239352"/>
            <a:chOff x="654142" y="2928113"/>
            <a:chExt cx="1839388" cy="313440"/>
          </a:xfrm>
        </p:grpSpPr>
        <p:sp>
          <p:nvSpPr>
            <p:cNvPr id="649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0" name="649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1" name="650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2" name="651 Grupo"/>
          <p:cNvGrpSpPr/>
          <p:nvPr/>
        </p:nvGrpSpPr>
        <p:grpSpPr>
          <a:xfrm rot="554679">
            <a:off x="846484" y="3005384"/>
            <a:ext cx="1171999" cy="239352"/>
            <a:chOff x="654142" y="2928113"/>
            <a:chExt cx="1839388" cy="313440"/>
          </a:xfrm>
        </p:grpSpPr>
        <p:sp>
          <p:nvSpPr>
            <p:cNvPr id="653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4" name="653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5" name="654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6" name="655 Grupo"/>
          <p:cNvGrpSpPr/>
          <p:nvPr/>
        </p:nvGrpSpPr>
        <p:grpSpPr>
          <a:xfrm rot="2120744">
            <a:off x="1670370" y="2968082"/>
            <a:ext cx="1171999" cy="239352"/>
            <a:chOff x="654142" y="2928113"/>
            <a:chExt cx="1839388" cy="313440"/>
          </a:xfrm>
        </p:grpSpPr>
        <p:sp>
          <p:nvSpPr>
            <p:cNvPr id="657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8" name="657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9" name="658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0" name="659 Grupo"/>
          <p:cNvGrpSpPr/>
          <p:nvPr/>
        </p:nvGrpSpPr>
        <p:grpSpPr>
          <a:xfrm rot="631281">
            <a:off x="1280411" y="3068374"/>
            <a:ext cx="1171999" cy="239352"/>
            <a:chOff x="654142" y="2928113"/>
            <a:chExt cx="1839388" cy="313440"/>
          </a:xfrm>
        </p:grpSpPr>
        <p:sp>
          <p:nvSpPr>
            <p:cNvPr id="661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2" name="661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3" name="662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4" name="663 Grupo"/>
          <p:cNvGrpSpPr/>
          <p:nvPr/>
        </p:nvGrpSpPr>
        <p:grpSpPr>
          <a:xfrm rot="21234562">
            <a:off x="205865" y="3014941"/>
            <a:ext cx="1171999" cy="239352"/>
            <a:chOff x="654142" y="2928113"/>
            <a:chExt cx="1839388" cy="313440"/>
          </a:xfrm>
        </p:grpSpPr>
        <p:sp>
          <p:nvSpPr>
            <p:cNvPr id="665" name="Freeform 1871"/>
            <p:cNvSpPr>
              <a:spLocks/>
            </p:cNvSpPr>
            <p:nvPr/>
          </p:nvSpPr>
          <p:spPr bwMode="auto">
            <a:xfrm rot="20805299">
              <a:off x="654142" y="2928113"/>
              <a:ext cx="1839388" cy="313440"/>
            </a:xfrm>
            <a:custGeom>
              <a:avLst/>
              <a:gdLst>
                <a:gd name="T0" fmla="*/ 2040 w 12079"/>
                <a:gd name="T1" fmla="*/ 1097 h 2681"/>
                <a:gd name="T2" fmla="*/ 2842 w 12079"/>
                <a:gd name="T3" fmla="*/ 1097 h 2681"/>
                <a:gd name="T4" fmla="*/ 5249 w 12079"/>
                <a:gd name="T5" fmla="*/ 180 h 2681"/>
                <a:gd name="T6" fmla="*/ 6051 w 12079"/>
                <a:gd name="T7" fmla="*/ 18 h 2681"/>
                <a:gd name="T8" fmla="*/ 5833 w 12079"/>
                <a:gd name="T9" fmla="*/ 233 h 2681"/>
                <a:gd name="T10" fmla="*/ 6270 w 12079"/>
                <a:gd name="T11" fmla="*/ 395 h 2681"/>
                <a:gd name="T12" fmla="*/ 6561 w 12079"/>
                <a:gd name="T13" fmla="*/ 233 h 2681"/>
                <a:gd name="T14" fmla="*/ 6416 w 12079"/>
                <a:gd name="T15" fmla="*/ 18 h 2681"/>
                <a:gd name="T16" fmla="*/ 7874 w 12079"/>
                <a:gd name="T17" fmla="*/ 288 h 2681"/>
                <a:gd name="T18" fmla="*/ 9333 w 12079"/>
                <a:gd name="T19" fmla="*/ 1097 h 2681"/>
                <a:gd name="T20" fmla="*/ 11958 w 12079"/>
                <a:gd name="T21" fmla="*/ 1421 h 2681"/>
                <a:gd name="T22" fmla="*/ 8604 w 12079"/>
                <a:gd name="T23" fmla="*/ 1529 h 2681"/>
                <a:gd name="T24" fmla="*/ 9698 w 12079"/>
                <a:gd name="T25" fmla="*/ 2663 h 2681"/>
                <a:gd name="T26" fmla="*/ 6270 w 12079"/>
                <a:gd name="T27" fmla="*/ 1638 h 2681"/>
                <a:gd name="T28" fmla="*/ 3863 w 12079"/>
                <a:gd name="T29" fmla="*/ 2123 h 2681"/>
                <a:gd name="T30" fmla="*/ 4228 w 12079"/>
                <a:gd name="T31" fmla="*/ 1529 h 2681"/>
                <a:gd name="T32" fmla="*/ 291 w 12079"/>
                <a:gd name="T33" fmla="*/ 1314 h 2681"/>
                <a:gd name="T34" fmla="*/ 2477 w 12079"/>
                <a:gd name="T35" fmla="*/ 1206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79" h="2681">
                  <a:moveTo>
                    <a:pt x="2040" y="1097"/>
                  </a:moveTo>
                  <a:cubicBezTo>
                    <a:pt x="2173" y="1173"/>
                    <a:pt x="2308" y="1250"/>
                    <a:pt x="2842" y="1097"/>
                  </a:cubicBezTo>
                  <a:cubicBezTo>
                    <a:pt x="3376" y="945"/>
                    <a:pt x="4714" y="359"/>
                    <a:pt x="5249" y="180"/>
                  </a:cubicBezTo>
                  <a:cubicBezTo>
                    <a:pt x="5784" y="0"/>
                    <a:pt x="5955" y="9"/>
                    <a:pt x="6051" y="18"/>
                  </a:cubicBezTo>
                  <a:cubicBezTo>
                    <a:pt x="6148" y="26"/>
                    <a:pt x="5796" y="170"/>
                    <a:pt x="5833" y="233"/>
                  </a:cubicBezTo>
                  <a:cubicBezTo>
                    <a:pt x="5870" y="296"/>
                    <a:pt x="6149" y="395"/>
                    <a:pt x="6270" y="395"/>
                  </a:cubicBezTo>
                  <a:cubicBezTo>
                    <a:pt x="6390" y="395"/>
                    <a:pt x="6537" y="296"/>
                    <a:pt x="6561" y="233"/>
                  </a:cubicBezTo>
                  <a:cubicBezTo>
                    <a:pt x="6585" y="170"/>
                    <a:pt x="6198" y="8"/>
                    <a:pt x="6416" y="18"/>
                  </a:cubicBezTo>
                  <a:cubicBezTo>
                    <a:pt x="6635" y="27"/>
                    <a:pt x="7389" y="108"/>
                    <a:pt x="7874" y="288"/>
                  </a:cubicBezTo>
                  <a:cubicBezTo>
                    <a:pt x="8360" y="468"/>
                    <a:pt x="8653" y="908"/>
                    <a:pt x="9333" y="1097"/>
                  </a:cubicBezTo>
                  <a:cubicBezTo>
                    <a:pt x="10013" y="1286"/>
                    <a:pt x="12079" y="1350"/>
                    <a:pt x="11958" y="1421"/>
                  </a:cubicBezTo>
                  <a:cubicBezTo>
                    <a:pt x="11838" y="1492"/>
                    <a:pt x="8981" y="1322"/>
                    <a:pt x="8604" y="1529"/>
                  </a:cubicBezTo>
                  <a:cubicBezTo>
                    <a:pt x="8228" y="1736"/>
                    <a:pt x="10087" y="2646"/>
                    <a:pt x="9698" y="2663"/>
                  </a:cubicBezTo>
                  <a:cubicBezTo>
                    <a:pt x="9309" y="2681"/>
                    <a:pt x="7243" y="1728"/>
                    <a:pt x="6270" y="1638"/>
                  </a:cubicBezTo>
                  <a:cubicBezTo>
                    <a:pt x="5297" y="1547"/>
                    <a:pt x="4204" y="2141"/>
                    <a:pt x="3863" y="2123"/>
                  </a:cubicBezTo>
                  <a:cubicBezTo>
                    <a:pt x="3522" y="2105"/>
                    <a:pt x="4823" y="1664"/>
                    <a:pt x="4228" y="1529"/>
                  </a:cubicBezTo>
                  <a:cubicBezTo>
                    <a:pt x="3633" y="1395"/>
                    <a:pt x="582" y="1367"/>
                    <a:pt x="291" y="1314"/>
                  </a:cubicBezTo>
                  <a:cubicBezTo>
                    <a:pt x="0" y="1260"/>
                    <a:pt x="1238" y="1233"/>
                    <a:pt x="2477" y="1206"/>
                  </a:cubicBezTo>
                </a:path>
              </a:pathLst>
            </a:custGeom>
            <a:solidFill>
              <a:srgbClr val="E9CEA3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6" name="665 Elipse"/>
            <p:cNvSpPr/>
            <p:nvPr/>
          </p:nvSpPr>
          <p:spPr>
            <a:xfrm rot="20459896">
              <a:off x="1360876" y="3049067"/>
              <a:ext cx="194961" cy="45719"/>
            </a:xfrm>
            <a:prstGeom prst="ellipse">
              <a:avLst/>
            </a:prstGeom>
            <a:ln>
              <a:solidFill>
                <a:schemeClr val="accent1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7" name="666 Elipse"/>
            <p:cNvSpPr/>
            <p:nvPr/>
          </p:nvSpPr>
          <p:spPr>
            <a:xfrm rot="20866241">
              <a:off x="1476356" y="2928372"/>
              <a:ext cx="194961" cy="45719"/>
            </a:xfrm>
            <a:prstGeom prst="ellipse">
              <a:avLst/>
            </a:prstGeom>
            <a:solidFill>
              <a:srgbClr val="EAD0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2 CuadroTexto"/>
          <p:cNvSpPr txBox="1"/>
          <p:nvPr/>
        </p:nvSpPr>
        <p:spPr>
          <a:xfrm>
            <a:off x="458525" y="1516142"/>
            <a:ext cx="1449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DNA microarray</a:t>
            </a:r>
            <a:endParaRPr lang="en-GB" sz="1400" dirty="0"/>
          </a:p>
        </p:txBody>
      </p:sp>
      <p:sp>
        <p:nvSpPr>
          <p:cNvPr id="454" name="453 Forma libre"/>
          <p:cNvSpPr>
            <a:spLocks noChangeAspect="1"/>
          </p:cNvSpPr>
          <p:nvPr/>
        </p:nvSpPr>
        <p:spPr>
          <a:xfrm flipH="1">
            <a:off x="6243127" y="4961534"/>
            <a:ext cx="204294" cy="1039619"/>
          </a:xfrm>
          <a:custGeom>
            <a:avLst/>
            <a:gdLst>
              <a:gd name="connsiteX0" fmla="*/ 411752 w 411752"/>
              <a:gd name="connsiteY0" fmla="*/ 0 h 1569720"/>
              <a:gd name="connsiteX1" fmla="*/ 272 w 411752"/>
              <a:gd name="connsiteY1" fmla="*/ 266700 h 1569720"/>
              <a:gd name="connsiteX2" fmla="*/ 343172 w 411752"/>
              <a:gd name="connsiteY2" fmla="*/ 601980 h 1569720"/>
              <a:gd name="connsiteX3" fmla="*/ 15512 w 411752"/>
              <a:gd name="connsiteY3" fmla="*/ 929640 h 1569720"/>
              <a:gd name="connsiteX4" fmla="*/ 396512 w 411752"/>
              <a:gd name="connsiteY4" fmla="*/ 1181100 h 1569720"/>
              <a:gd name="connsiteX5" fmla="*/ 129812 w 411752"/>
              <a:gd name="connsiteY5" fmla="*/ 156972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752" h="1569720">
                <a:moveTo>
                  <a:pt x="411752" y="0"/>
                </a:moveTo>
                <a:cubicBezTo>
                  <a:pt x="211727" y="83185"/>
                  <a:pt x="11702" y="166370"/>
                  <a:pt x="272" y="266700"/>
                </a:cubicBezTo>
                <a:cubicBezTo>
                  <a:pt x="-11158" y="367030"/>
                  <a:pt x="340632" y="491490"/>
                  <a:pt x="343172" y="601980"/>
                </a:cubicBezTo>
                <a:cubicBezTo>
                  <a:pt x="345712" y="712470"/>
                  <a:pt x="6622" y="833120"/>
                  <a:pt x="15512" y="929640"/>
                </a:cubicBezTo>
                <a:cubicBezTo>
                  <a:pt x="24402" y="1026160"/>
                  <a:pt x="377462" y="1074420"/>
                  <a:pt x="396512" y="1181100"/>
                </a:cubicBezTo>
                <a:cubicBezTo>
                  <a:pt x="415562" y="1287780"/>
                  <a:pt x="272687" y="1428750"/>
                  <a:pt x="129812" y="1569720"/>
                </a:cubicBezTo>
              </a:path>
            </a:pathLst>
          </a:custGeom>
          <a:noFill/>
          <a:ln w="38100">
            <a:solidFill>
              <a:srgbClr val="FF9933"/>
            </a:solidFill>
            <a:prstDash val="soli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</a:endParaRPr>
          </a:p>
        </p:txBody>
      </p:sp>
      <p:cxnSp>
        <p:nvCxnSpPr>
          <p:cNvPr id="458" name="457 Conector angular"/>
          <p:cNvCxnSpPr>
            <a:cxnSpLocks noChangeAspect="1"/>
            <a:stCxn id="454" idx="0"/>
            <a:endCxn id="468" idx="5"/>
          </p:cNvCxnSpPr>
          <p:nvPr/>
        </p:nvCxnSpPr>
        <p:spPr>
          <a:xfrm rot="10800000">
            <a:off x="6008815" y="4796636"/>
            <a:ext cx="234313" cy="164899"/>
          </a:xfrm>
          <a:prstGeom prst="bentConnector2">
            <a:avLst/>
          </a:prstGeom>
          <a:ln w="38100">
            <a:solidFill>
              <a:srgbClr val="003300"/>
            </a:solidFill>
          </a:ln>
          <a:effectLst>
            <a:glow rad="139700">
              <a:schemeClr val="accent1">
                <a:lumMod val="5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1" name="460 Grupo"/>
          <p:cNvGrpSpPr>
            <a:grpSpLocks noChangeAspect="1"/>
          </p:cNvGrpSpPr>
          <p:nvPr/>
        </p:nvGrpSpPr>
        <p:grpSpPr>
          <a:xfrm rot="6551618">
            <a:off x="5783726" y="4317320"/>
            <a:ext cx="581249" cy="452315"/>
            <a:chOff x="5071293" y="2940735"/>
            <a:chExt cx="1062961" cy="825145"/>
          </a:xfrm>
          <a:solidFill>
            <a:schemeClr val="accent2">
              <a:lumMod val="50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465" name="464 Hexágono"/>
            <p:cNvSpPr/>
            <p:nvPr/>
          </p:nvSpPr>
          <p:spPr>
            <a:xfrm>
              <a:off x="5071293" y="2940735"/>
              <a:ext cx="648072" cy="606012"/>
            </a:xfrm>
            <a:prstGeom prst="hexagon">
              <a:avLst/>
            </a:prstGeom>
            <a:grp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8" name="467 Pentágono regular"/>
            <p:cNvSpPr/>
            <p:nvPr/>
          </p:nvSpPr>
          <p:spPr>
            <a:xfrm rot="20029115">
              <a:off x="5576345" y="3221786"/>
              <a:ext cx="557909" cy="544094"/>
            </a:xfrm>
            <a:prstGeom prst="pentagon">
              <a:avLst/>
            </a:prstGeom>
            <a:grp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72" name="471 CuadroTexto"/>
          <p:cNvSpPr txBox="1"/>
          <p:nvPr/>
        </p:nvSpPr>
        <p:spPr>
          <a:xfrm>
            <a:off x="6798560" y="5110815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Encoding tag</a:t>
            </a:r>
            <a:endParaRPr lang="en-GB" sz="1400" dirty="0"/>
          </a:p>
        </p:txBody>
      </p:sp>
      <p:sp>
        <p:nvSpPr>
          <p:cNvPr id="475" name="474 CuadroTexto"/>
          <p:cNvSpPr txBox="1"/>
          <p:nvPr/>
        </p:nvSpPr>
        <p:spPr>
          <a:xfrm>
            <a:off x="4757234" y="4796636"/>
            <a:ext cx="1057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Cleavable linker</a:t>
            </a:r>
            <a:endParaRPr lang="en-GB" sz="1400" dirty="0"/>
          </a:p>
        </p:txBody>
      </p:sp>
      <p:sp>
        <p:nvSpPr>
          <p:cNvPr id="480" name="479 CuadroTexto"/>
          <p:cNvSpPr txBox="1"/>
          <p:nvPr/>
        </p:nvSpPr>
        <p:spPr>
          <a:xfrm>
            <a:off x="6376376" y="4203682"/>
            <a:ext cx="1393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Encoded small-molecule</a:t>
            </a:r>
            <a:endParaRPr lang="en-GB" sz="1400" dirty="0"/>
          </a:p>
        </p:txBody>
      </p:sp>
      <p:cxnSp>
        <p:nvCxnSpPr>
          <p:cNvPr id="11" name="10 Conector recto de flecha"/>
          <p:cNvCxnSpPr/>
          <p:nvPr/>
        </p:nvCxnSpPr>
        <p:spPr>
          <a:xfrm flipV="1">
            <a:off x="5624238" y="4961536"/>
            <a:ext cx="352445" cy="149279"/>
          </a:xfrm>
          <a:prstGeom prst="straightConnector1">
            <a:avLst/>
          </a:prstGeom>
          <a:ln w="28575">
            <a:solidFill>
              <a:srgbClr val="003300"/>
            </a:solidFill>
            <a:tailEnd type="arrow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>
            <a:endCxn id="480" idx="1"/>
          </p:cNvCxnSpPr>
          <p:nvPr/>
        </p:nvCxnSpPr>
        <p:spPr>
          <a:xfrm flipH="1">
            <a:off x="6376376" y="4465292"/>
            <a:ext cx="283436" cy="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>
            <a:stCxn id="472" idx="1"/>
          </p:cNvCxnSpPr>
          <p:nvPr/>
        </p:nvCxnSpPr>
        <p:spPr>
          <a:xfrm flipH="1">
            <a:off x="6383483" y="5264704"/>
            <a:ext cx="415077" cy="27576"/>
          </a:xfrm>
          <a:prstGeom prst="straightConnector1">
            <a:avLst/>
          </a:prstGeom>
          <a:ln w="38100">
            <a:solidFill>
              <a:srgbClr val="FF99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17 Grupo"/>
          <p:cNvGrpSpPr/>
          <p:nvPr/>
        </p:nvGrpSpPr>
        <p:grpSpPr>
          <a:xfrm>
            <a:off x="2713043" y="5038165"/>
            <a:ext cx="1885374" cy="681824"/>
            <a:chOff x="2410864" y="4941168"/>
            <a:chExt cx="2870475" cy="1581765"/>
          </a:xfrm>
        </p:grpSpPr>
        <p:grpSp>
          <p:nvGrpSpPr>
            <p:cNvPr id="482" name="481 Grupo"/>
            <p:cNvGrpSpPr/>
            <p:nvPr/>
          </p:nvGrpSpPr>
          <p:grpSpPr>
            <a:xfrm>
              <a:off x="2918051" y="4941168"/>
              <a:ext cx="1815492" cy="1418472"/>
              <a:chOff x="1402287" y="836711"/>
              <a:chExt cx="1815492" cy="1922530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84" name="Text Box 123"/>
              <p:cNvSpPr txBox="1">
                <a:spLocks noChangeArrowheads="1"/>
              </p:cNvSpPr>
              <p:nvPr/>
            </p:nvSpPr>
            <p:spPr bwMode="auto">
              <a:xfrm>
                <a:off x="1435100" y="2146300"/>
                <a:ext cx="1265238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/>
                  <a:t>DNA microarray</a:t>
                </a:r>
                <a:endParaRPr lang="en-GB" sz="1200"/>
              </a:p>
            </p:txBody>
          </p:sp>
          <p:sp>
            <p:nvSpPr>
              <p:cNvPr id="485" name="Text Box 128"/>
              <p:cNvSpPr txBox="1">
                <a:spLocks noChangeArrowheads="1"/>
              </p:cNvSpPr>
              <p:nvPr/>
            </p:nvSpPr>
            <p:spPr bwMode="auto">
              <a:xfrm>
                <a:off x="2335213" y="1557338"/>
                <a:ext cx="268287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 i="1"/>
                  <a:t>b</a:t>
                </a:r>
                <a:endParaRPr lang="en-GB" sz="1200" i="1"/>
              </a:p>
            </p:txBody>
          </p:sp>
          <p:sp>
            <p:nvSpPr>
              <p:cNvPr id="488" name="Oval 36"/>
              <p:cNvSpPr>
                <a:spLocks noChangeAspect="1" noChangeArrowheads="1"/>
              </p:cNvSpPr>
              <p:nvPr/>
            </p:nvSpPr>
            <p:spPr bwMode="auto">
              <a:xfrm>
                <a:off x="1402287" y="836711"/>
                <a:ext cx="1815492" cy="1922530"/>
              </a:xfrm>
              <a:prstGeom prst="ellipse">
                <a:avLst/>
              </a:prstGeom>
              <a:solidFill>
                <a:srgbClr val="99CCFF"/>
              </a:solidFill>
              <a:ln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0000" dist="23000" dir="5400000" rotWithShape="0">
                  <a:srgbClr val="000000">
                    <a:alpha val="35000"/>
                  </a:srgbClr>
                </a:outerShdw>
                <a:reflection blurRad="6350" stA="50000" endA="300" endPos="550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powder">
                <a:bevelT prst="convex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89" name="488 Forma libre"/>
              <p:cNvSpPr/>
              <p:nvPr/>
            </p:nvSpPr>
            <p:spPr>
              <a:xfrm>
                <a:off x="1474442" y="925713"/>
                <a:ext cx="1672618" cy="1111885"/>
              </a:xfrm>
              <a:custGeom>
                <a:avLst/>
                <a:gdLst>
                  <a:gd name="connsiteX0" fmla="*/ 64798 w 1672618"/>
                  <a:gd name="connsiteY0" fmla="*/ 666867 h 1111885"/>
                  <a:gd name="connsiteX1" fmla="*/ 377218 w 1672618"/>
                  <a:gd name="connsiteY1" fmla="*/ 781167 h 1111885"/>
                  <a:gd name="connsiteX2" fmla="*/ 506758 w 1672618"/>
                  <a:gd name="connsiteY2" fmla="*/ 461127 h 1111885"/>
                  <a:gd name="connsiteX3" fmla="*/ 872518 w 1672618"/>
                  <a:gd name="connsiteY3" fmla="*/ 560187 h 1111885"/>
                  <a:gd name="connsiteX4" fmla="*/ 918238 w 1672618"/>
                  <a:gd name="connsiteY4" fmla="*/ 270627 h 1111885"/>
                  <a:gd name="connsiteX5" fmla="*/ 499138 w 1672618"/>
                  <a:gd name="connsiteY5" fmla="*/ 301107 h 1111885"/>
                  <a:gd name="connsiteX6" fmla="*/ 628678 w 1672618"/>
                  <a:gd name="connsiteY6" fmla="*/ 842127 h 1111885"/>
                  <a:gd name="connsiteX7" fmla="*/ 1276378 w 1672618"/>
                  <a:gd name="connsiteY7" fmla="*/ 537327 h 1111885"/>
                  <a:gd name="connsiteX8" fmla="*/ 1093498 w 1672618"/>
                  <a:gd name="connsiteY8" fmla="*/ 285867 h 1111885"/>
                  <a:gd name="connsiteX9" fmla="*/ 773458 w 1672618"/>
                  <a:gd name="connsiteY9" fmla="*/ 964047 h 1111885"/>
                  <a:gd name="connsiteX10" fmla="*/ 262918 w 1672618"/>
                  <a:gd name="connsiteY10" fmla="*/ 1032627 h 1111885"/>
                  <a:gd name="connsiteX11" fmla="*/ 377218 w 1672618"/>
                  <a:gd name="connsiteY11" fmla="*/ 354447 h 1111885"/>
                  <a:gd name="connsiteX12" fmla="*/ 1154458 w 1672618"/>
                  <a:gd name="connsiteY12" fmla="*/ 125847 h 1111885"/>
                  <a:gd name="connsiteX13" fmla="*/ 1040158 w 1672618"/>
                  <a:gd name="connsiteY13" fmla="*/ 994527 h 1111885"/>
                  <a:gd name="connsiteX14" fmla="*/ 1573558 w 1672618"/>
                  <a:gd name="connsiteY14" fmla="*/ 941187 h 1111885"/>
                  <a:gd name="connsiteX15" fmla="*/ 1398298 w 1672618"/>
                  <a:gd name="connsiteY15" fmla="*/ 346827 h 1111885"/>
                  <a:gd name="connsiteX16" fmla="*/ 102898 w 1672618"/>
                  <a:gd name="connsiteY16" fmla="*/ 1070727 h 1111885"/>
                  <a:gd name="connsiteX17" fmla="*/ 133378 w 1672618"/>
                  <a:gd name="connsiteY17" fmla="*/ 453507 h 1111885"/>
                  <a:gd name="connsiteX18" fmla="*/ 552478 w 1672618"/>
                  <a:gd name="connsiteY18" fmla="*/ 64887 h 1111885"/>
                  <a:gd name="connsiteX19" fmla="*/ 781078 w 1672618"/>
                  <a:gd name="connsiteY19" fmla="*/ 499227 h 1111885"/>
                  <a:gd name="connsiteX20" fmla="*/ 1002058 w 1672618"/>
                  <a:gd name="connsiteY20" fmla="*/ 1108827 h 1111885"/>
                  <a:gd name="connsiteX21" fmla="*/ 1383058 w 1672618"/>
                  <a:gd name="connsiteY21" fmla="*/ 712587 h 1111885"/>
                  <a:gd name="connsiteX22" fmla="*/ 1337338 w 1672618"/>
                  <a:gd name="connsiteY22" fmla="*/ 217287 h 1111885"/>
                  <a:gd name="connsiteX23" fmla="*/ 826798 w 1672618"/>
                  <a:gd name="connsiteY23" fmla="*/ 11547 h 1111885"/>
                  <a:gd name="connsiteX24" fmla="*/ 636298 w 1672618"/>
                  <a:gd name="connsiteY24" fmla="*/ 537327 h 1111885"/>
                  <a:gd name="connsiteX25" fmla="*/ 1436398 w 1672618"/>
                  <a:gd name="connsiteY25" fmla="*/ 956427 h 1111885"/>
                  <a:gd name="connsiteX26" fmla="*/ 1672618 w 1672618"/>
                  <a:gd name="connsiteY26" fmla="*/ 804027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72618" h="1111885">
                    <a:moveTo>
                      <a:pt x="64798" y="666867"/>
                    </a:moveTo>
                    <a:cubicBezTo>
                      <a:pt x="184178" y="741162"/>
                      <a:pt x="303558" y="815457"/>
                      <a:pt x="377218" y="781167"/>
                    </a:cubicBezTo>
                    <a:cubicBezTo>
                      <a:pt x="450878" y="746877"/>
                      <a:pt x="424208" y="497957"/>
                      <a:pt x="506758" y="461127"/>
                    </a:cubicBezTo>
                    <a:cubicBezTo>
                      <a:pt x="589308" y="424297"/>
                      <a:pt x="803938" y="591937"/>
                      <a:pt x="872518" y="560187"/>
                    </a:cubicBezTo>
                    <a:cubicBezTo>
                      <a:pt x="941098" y="528437"/>
                      <a:pt x="980468" y="313807"/>
                      <a:pt x="918238" y="270627"/>
                    </a:cubicBezTo>
                    <a:cubicBezTo>
                      <a:pt x="856008" y="227447"/>
                      <a:pt x="547398" y="205857"/>
                      <a:pt x="499138" y="301107"/>
                    </a:cubicBezTo>
                    <a:cubicBezTo>
                      <a:pt x="450878" y="396357"/>
                      <a:pt x="499138" y="802757"/>
                      <a:pt x="628678" y="842127"/>
                    </a:cubicBezTo>
                    <a:cubicBezTo>
                      <a:pt x="758218" y="881497"/>
                      <a:pt x="1198908" y="630037"/>
                      <a:pt x="1276378" y="537327"/>
                    </a:cubicBezTo>
                    <a:cubicBezTo>
                      <a:pt x="1353848" y="444617"/>
                      <a:pt x="1177318" y="214747"/>
                      <a:pt x="1093498" y="285867"/>
                    </a:cubicBezTo>
                    <a:cubicBezTo>
                      <a:pt x="1009678" y="356987"/>
                      <a:pt x="911888" y="839587"/>
                      <a:pt x="773458" y="964047"/>
                    </a:cubicBezTo>
                    <a:cubicBezTo>
                      <a:pt x="635028" y="1088507"/>
                      <a:pt x="328958" y="1134227"/>
                      <a:pt x="262918" y="1032627"/>
                    </a:cubicBezTo>
                    <a:cubicBezTo>
                      <a:pt x="196878" y="931027"/>
                      <a:pt x="228628" y="505577"/>
                      <a:pt x="377218" y="354447"/>
                    </a:cubicBezTo>
                    <a:cubicBezTo>
                      <a:pt x="525808" y="203317"/>
                      <a:pt x="1043968" y="19167"/>
                      <a:pt x="1154458" y="125847"/>
                    </a:cubicBezTo>
                    <a:cubicBezTo>
                      <a:pt x="1264948" y="232527"/>
                      <a:pt x="970308" y="858637"/>
                      <a:pt x="1040158" y="994527"/>
                    </a:cubicBezTo>
                    <a:cubicBezTo>
                      <a:pt x="1110008" y="1130417"/>
                      <a:pt x="1513868" y="1049137"/>
                      <a:pt x="1573558" y="941187"/>
                    </a:cubicBezTo>
                    <a:cubicBezTo>
                      <a:pt x="1633248" y="833237"/>
                      <a:pt x="1643408" y="325237"/>
                      <a:pt x="1398298" y="346827"/>
                    </a:cubicBezTo>
                    <a:cubicBezTo>
                      <a:pt x="1153188" y="368417"/>
                      <a:pt x="313718" y="1052947"/>
                      <a:pt x="102898" y="1070727"/>
                    </a:cubicBezTo>
                    <a:cubicBezTo>
                      <a:pt x="-107922" y="1088507"/>
                      <a:pt x="58448" y="621147"/>
                      <a:pt x="133378" y="453507"/>
                    </a:cubicBezTo>
                    <a:cubicBezTo>
                      <a:pt x="208308" y="285867"/>
                      <a:pt x="444528" y="57267"/>
                      <a:pt x="552478" y="64887"/>
                    </a:cubicBezTo>
                    <a:cubicBezTo>
                      <a:pt x="660428" y="72507"/>
                      <a:pt x="706148" y="325237"/>
                      <a:pt x="781078" y="499227"/>
                    </a:cubicBezTo>
                    <a:cubicBezTo>
                      <a:pt x="856008" y="673217"/>
                      <a:pt x="901728" y="1073267"/>
                      <a:pt x="1002058" y="1108827"/>
                    </a:cubicBezTo>
                    <a:cubicBezTo>
                      <a:pt x="1102388" y="1144387"/>
                      <a:pt x="1327178" y="861177"/>
                      <a:pt x="1383058" y="712587"/>
                    </a:cubicBezTo>
                    <a:cubicBezTo>
                      <a:pt x="1438938" y="563997"/>
                      <a:pt x="1430048" y="334127"/>
                      <a:pt x="1337338" y="217287"/>
                    </a:cubicBezTo>
                    <a:cubicBezTo>
                      <a:pt x="1244628" y="100447"/>
                      <a:pt x="943638" y="-41793"/>
                      <a:pt x="826798" y="11547"/>
                    </a:cubicBezTo>
                    <a:cubicBezTo>
                      <a:pt x="709958" y="64887"/>
                      <a:pt x="534698" y="379847"/>
                      <a:pt x="636298" y="537327"/>
                    </a:cubicBezTo>
                    <a:cubicBezTo>
                      <a:pt x="737898" y="694807"/>
                      <a:pt x="1263678" y="911977"/>
                      <a:pt x="1436398" y="956427"/>
                    </a:cubicBezTo>
                    <a:cubicBezTo>
                      <a:pt x="1609118" y="1000877"/>
                      <a:pt x="1640868" y="902452"/>
                      <a:pt x="1672618" y="804027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3" name="492 Elipse"/>
              <p:cNvSpPr>
                <a:spLocks noChangeAspect="1"/>
              </p:cNvSpPr>
              <p:nvPr/>
            </p:nvSpPr>
            <p:spPr>
              <a:xfrm>
                <a:off x="2516189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4" name="493 Elipse"/>
              <p:cNvSpPr>
                <a:spLocks noChangeAspect="1"/>
              </p:cNvSpPr>
              <p:nvPr/>
            </p:nvSpPr>
            <p:spPr>
              <a:xfrm>
                <a:off x="2668589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5" name="494 Elipse"/>
              <p:cNvSpPr>
                <a:spLocks noChangeAspect="1"/>
              </p:cNvSpPr>
              <p:nvPr/>
            </p:nvSpPr>
            <p:spPr>
              <a:xfrm>
                <a:off x="2123730" y="16455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6" name="495 Elipse"/>
              <p:cNvSpPr>
                <a:spLocks noChangeAspect="1"/>
              </p:cNvSpPr>
              <p:nvPr/>
            </p:nvSpPr>
            <p:spPr>
              <a:xfrm>
                <a:off x="2276130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7" name="496 Elipse"/>
              <p:cNvSpPr>
                <a:spLocks noChangeAspect="1"/>
              </p:cNvSpPr>
              <p:nvPr/>
            </p:nvSpPr>
            <p:spPr>
              <a:xfrm>
                <a:off x="1763690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8" name="497 Elipse"/>
              <p:cNvSpPr>
                <a:spLocks noChangeAspect="1"/>
              </p:cNvSpPr>
              <p:nvPr/>
            </p:nvSpPr>
            <p:spPr>
              <a:xfrm>
                <a:off x="1907706" y="178524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9" name="498 Elipse"/>
              <p:cNvSpPr>
                <a:spLocks noChangeAspect="1"/>
              </p:cNvSpPr>
              <p:nvPr/>
            </p:nvSpPr>
            <p:spPr>
              <a:xfrm>
                <a:off x="1501947" y="191683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0" name="499 Elipse"/>
              <p:cNvSpPr>
                <a:spLocks noChangeAspect="1"/>
              </p:cNvSpPr>
              <p:nvPr/>
            </p:nvSpPr>
            <p:spPr>
              <a:xfrm>
                <a:off x="1717971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1" name="500 Elipse"/>
              <p:cNvSpPr>
                <a:spLocks noChangeAspect="1"/>
              </p:cNvSpPr>
              <p:nvPr/>
            </p:nvSpPr>
            <p:spPr>
              <a:xfrm>
                <a:off x="2206787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2" name="501 Elipse"/>
              <p:cNvSpPr>
                <a:spLocks noChangeAspect="1"/>
              </p:cNvSpPr>
              <p:nvPr/>
            </p:nvSpPr>
            <p:spPr>
              <a:xfrm>
                <a:off x="2350803" y="15692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3" name="502 Elipse"/>
              <p:cNvSpPr>
                <a:spLocks noChangeAspect="1"/>
              </p:cNvSpPr>
              <p:nvPr/>
            </p:nvSpPr>
            <p:spPr>
              <a:xfrm>
                <a:off x="2726083" y="17216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4" name="503 Elipse"/>
              <p:cNvSpPr>
                <a:spLocks noChangeAspect="1"/>
              </p:cNvSpPr>
              <p:nvPr/>
            </p:nvSpPr>
            <p:spPr>
              <a:xfrm>
                <a:off x="3014115" y="184482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5" name="504 Elipse"/>
              <p:cNvSpPr>
                <a:spLocks noChangeAspect="1"/>
              </p:cNvSpPr>
              <p:nvPr/>
            </p:nvSpPr>
            <p:spPr>
              <a:xfrm>
                <a:off x="2359187" y="9163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6" name="505 Elipse"/>
              <p:cNvSpPr>
                <a:spLocks noChangeAspect="1"/>
              </p:cNvSpPr>
              <p:nvPr/>
            </p:nvSpPr>
            <p:spPr>
              <a:xfrm>
                <a:off x="2663130" y="10687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7" name="506 Elipse"/>
              <p:cNvSpPr>
                <a:spLocks noChangeAspect="1"/>
              </p:cNvSpPr>
              <p:nvPr/>
            </p:nvSpPr>
            <p:spPr>
              <a:xfrm>
                <a:off x="2815530" y="129299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8" name="507 Elipse"/>
              <p:cNvSpPr>
                <a:spLocks noChangeAspect="1"/>
              </p:cNvSpPr>
              <p:nvPr/>
            </p:nvSpPr>
            <p:spPr>
              <a:xfrm>
                <a:off x="2375098" y="1797046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31" name="Rectangle 38" descr="Dark upward diagonal"/>
            <p:cNvSpPr>
              <a:spLocks noChangeArrowheads="1"/>
            </p:cNvSpPr>
            <p:nvPr/>
          </p:nvSpPr>
          <p:spPr bwMode="auto">
            <a:xfrm>
              <a:off x="2410864" y="5878204"/>
              <a:ext cx="2870475" cy="64472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532" name="531 CuadroTexto"/>
          <p:cNvSpPr txBox="1"/>
          <p:nvPr/>
        </p:nvSpPr>
        <p:spPr>
          <a:xfrm>
            <a:off x="2610759" y="4389563"/>
            <a:ext cx="120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Hydrogel</a:t>
            </a:r>
            <a:endParaRPr lang="en-GB" sz="1400" dirty="0"/>
          </a:p>
        </p:txBody>
      </p:sp>
      <p:sp>
        <p:nvSpPr>
          <p:cNvPr id="533" name="532 CuadroTexto"/>
          <p:cNvSpPr txBox="1"/>
          <p:nvPr/>
        </p:nvSpPr>
        <p:spPr>
          <a:xfrm>
            <a:off x="3707904" y="4544162"/>
            <a:ext cx="120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Catalyst</a:t>
            </a:r>
            <a:endParaRPr lang="en-GB" sz="1400" dirty="0"/>
          </a:p>
        </p:txBody>
      </p:sp>
      <p:cxnSp>
        <p:nvCxnSpPr>
          <p:cNvPr id="20" name="19 Conector recto de flecha"/>
          <p:cNvCxnSpPr/>
          <p:nvPr/>
        </p:nvCxnSpPr>
        <p:spPr>
          <a:xfrm flipH="1">
            <a:off x="3900778" y="4827646"/>
            <a:ext cx="258991" cy="283169"/>
          </a:xfrm>
          <a:prstGeom prst="straightConnector1">
            <a:avLst/>
          </a:prstGeom>
          <a:ln w="19050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533 Conector recto de flecha"/>
          <p:cNvCxnSpPr/>
          <p:nvPr/>
        </p:nvCxnSpPr>
        <p:spPr>
          <a:xfrm flipH="1">
            <a:off x="4119715" y="4879086"/>
            <a:ext cx="142039" cy="474959"/>
          </a:xfrm>
          <a:prstGeom prst="straightConnector1">
            <a:avLst/>
          </a:prstGeom>
          <a:ln w="19050">
            <a:solidFill>
              <a:srgbClr val="00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>
            <a:off x="3215100" y="4674091"/>
            <a:ext cx="213271" cy="287445"/>
          </a:xfrm>
          <a:prstGeom prst="straightConnector1">
            <a:avLst/>
          </a:prstGeom>
          <a:ln w="28575">
            <a:solidFill>
              <a:srgbClr val="4CA7A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534 CuadroTexto"/>
          <p:cNvSpPr txBox="1"/>
          <p:nvPr/>
        </p:nvSpPr>
        <p:spPr>
          <a:xfrm>
            <a:off x="153421" y="5899528"/>
            <a:ext cx="240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200" dirty="0" smtClean="0"/>
              <a:t>Cell-based phenotypic image taken by an </a:t>
            </a:r>
            <a:r>
              <a:rPr lang="en-GB" sz="1200" dirty="0" err="1" smtClean="0"/>
              <a:t>automatised</a:t>
            </a:r>
            <a:r>
              <a:rPr lang="en-GB" sz="1200" dirty="0" smtClean="0"/>
              <a:t> system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278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5 Grupo"/>
          <p:cNvGrpSpPr/>
          <p:nvPr/>
        </p:nvGrpSpPr>
        <p:grpSpPr>
          <a:xfrm>
            <a:off x="-2374272" y="1074203"/>
            <a:ext cx="9214663" cy="4994281"/>
            <a:chOff x="-108520" y="1052736"/>
            <a:chExt cx="9214663" cy="4994281"/>
          </a:xfrm>
        </p:grpSpPr>
        <p:grpSp>
          <p:nvGrpSpPr>
            <p:cNvPr id="4" name="3 Grupo"/>
            <p:cNvGrpSpPr/>
            <p:nvPr/>
          </p:nvGrpSpPr>
          <p:grpSpPr>
            <a:xfrm>
              <a:off x="-87624" y="1052736"/>
              <a:ext cx="9193767" cy="4994281"/>
              <a:chOff x="-87624" y="0"/>
              <a:chExt cx="9193767" cy="4994281"/>
            </a:xfrm>
          </p:grpSpPr>
          <p:grpSp>
            <p:nvGrpSpPr>
              <p:cNvPr id="313" name="312 Grupo"/>
              <p:cNvGrpSpPr/>
              <p:nvPr/>
            </p:nvGrpSpPr>
            <p:grpSpPr>
              <a:xfrm>
                <a:off x="-87624" y="0"/>
                <a:ext cx="9193767" cy="4994281"/>
                <a:chOff x="-87624" y="0"/>
                <a:chExt cx="9193767" cy="4994281"/>
              </a:xfrm>
            </p:grpSpPr>
            <p:grpSp>
              <p:nvGrpSpPr>
                <p:cNvPr id="311" name="310 Grupo"/>
                <p:cNvGrpSpPr/>
                <p:nvPr/>
              </p:nvGrpSpPr>
              <p:grpSpPr>
                <a:xfrm>
                  <a:off x="-87624" y="0"/>
                  <a:ext cx="9193767" cy="4994281"/>
                  <a:chOff x="-87624" y="0"/>
                  <a:chExt cx="9193767" cy="4994281"/>
                </a:xfrm>
              </p:grpSpPr>
              <p:grpSp>
                <p:nvGrpSpPr>
                  <p:cNvPr id="135" name="134 Grupo"/>
                  <p:cNvGrpSpPr/>
                  <p:nvPr/>
                </p:nvGrpSpPr>
                <p:grpSpPr>
                  <a:xfrm>
                    <a:off x="1041770" y="1870694"/>
                    <a:ext cx="216025" cy="685249"/>
                    <a:chOff x="1763688" y="1999754"/>
                    <a:chExt cx="573045" cy="1650463"/>
                  </a:xfrm>
                </p:grpSpPr>
                <p:sp>
                  <p:nvSpPr>
                    <p:cNvPr id="30" name="29 Forma libre"/>
                    <p:cNvSpPr/>
                    <p:nvPr/>
                  </p:nvSpPr>
                  <p:spPr>
                    <a:xfrm flipH="1">
                      <a:off x="2089157" y="2603158"/>
                      <a:ext cx="168363" cy="885174"/>
                    </a:xfrm>
                    <a:custGeom>
                      <a:avLst/>
                      <a:gdLst>
                        <a:gd name="connsiteX0" fmla="*/ 411752 w 411752"/>
                        <a:gd name="connsiteY0" fmla="*/ 0 h 1569720"/>
                        <a:gd name="connsiteX1" fmla="*/ 272 w 411752"/>
                        <a:gd name="connsiteY1" fmla="*/ 266700 h 1569720"/>
                        <a:gd name="connsiteX2" fmla="*/ 343172 w 411752"/>
                        <a:gd name="connsiteY2" fmla="*/ 601980 h 1569720"/>
                        <a:gd name="connsiteX3" fmla="*/ 15512 w 411752"/>
                        <a:gd name="connsiteY3" fmla="*/ 929640 h 1569720"/>
                        <a:gd name="connsiteX4" fmla="*/ 396512 w 411752"/>
                        <a:gd name="connsiteY4" fmla="*/ 1181100 h 1569720"/>
                        <a:gd name="connsiteX5" fmla="*/ 129812 w 411752"/>
                        <a:gd name="connsiteY5" fmla="*/ 1569720 h 15697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11752" h="1569720">
                          <a:moveTo>
                            <a:pt x="411752" y="0"/>
                          </a:moveTo>
                          <a:cubicBezTo>
                            <a:pt x="211727" y="83185"/>
                            <a:pt x="11702" y="166370"/>
                            <a:pt x="272" y="266700"/>
                          </a:cubicBezTo>
                          <a:cubicBezTo>
                            <a:pt x="-11158" y="367030"/>
                            <a:pt x="340632" y="491490"/>
                            <a:pt x="343172" y="601980"/>
                          </a:cubicBezTo>
                          <a:cubicBezTo>
                            <a:pt x="345712" y="712470"/>
                            <a:pt x="6622" y="833120"/>
                            <a:pt x="15512" y="929640"/>
                          </a:cubicBezTo>
                          <a:cubicBezTo>
                            <a:pt x="24402" y="1026160"/>
                            <a:pt x="377462" y="1074420"/>
                            <a:pt x="396512" y="1181100"/>
                          </a:cubicBezTo>
                          <a:cubicBezTo>
                            <a:pt x="415562" y="1287780"/>
                            <a:pt x="272687" y="1428750"/>
                            <a:pt x="129812" y="1569720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003300"/>
                      </a:solidFill>
                      <a:prstDash val="soli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>
                        <a:ln>
                          <a:solidFill>
                            <a:srgbClr val="002060"/>
                          </a:solidFill>
                        </a:ln>
                      </a:endParaRPr>
                    </a:p>
                  </p:txBody>
                </p:sp>
                <p:cxnSp>
                  <p:nvCxnSpPr>
                    <p:cNvPr id="31" name="30 Conector angular"/>
                    <p:cNvCxnSpPr>
                      <a:stCxn id="30" idx="0"/>
                      <a:endCxn id="34" idx="5"/>
                    </p:cNvCxnSpPr>
                    <p:nvPr/>
                  </p:nvCxnSpPr>
                  <p:spPr>
                    <a:xfrm rot="10800000">
                      <a:off x="1896056" y="2462755"/>
                      <a:ext cx="193100" cy="140402"/>
                    </a:xfrm>
                    <a:prstGeom prst="bentConnector2">
                      <a:avLst/>
                    </a:prstGeom>
                    <a:ln w="38100">
                      <a:solidFill>
                        <a:srgbClr val="003300"/>
                      </a:solidFill>
                    </a:ln>
                    <a:effectLst>
                      <a:glow rad="139700">
                        <a:schemeClr val="accent1">
                          <a:lumMod val="50000"/>
                          <a:alpha val="40000"/>
                        </a:schemeClr>
                      </a:glow>
                    </a:effectLst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2" name="31 Grupo"/>
                    <p:cNvGrpSpPr/>
                    <p:nvPr/>
                  </p:nvGrpSpPr>
                  <p:grpSpPr>
                    <a:xfrm rot="6551618">
                      <a:off x="1702618" y="2060824"/>
                      <a:ext cx="494900" cy="372760"/>
                      <a:chOff x="5071293" y="2940735"/>
                      <a:chExt cx="1062961" cy="825145"/>
                    </a:xfrm>
                    <a:solidFill>
                      <a:srgbClr val="003300"/>
                    </a:solidFill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</a:effectLst>
                  </p:grpSpPr>
                  <p:sp>
                    <p:nvSpPr>
                      <p:cNvPr id="33" name="32 Hexágono"/>
                      <p:cNvSpPr/>
                      <p:nvPr/>
                    </p:nvSpPr>
                    <p:spPr>
                      <a:xfrm>
                        <a:off x="5071293" y="2940735"/>
                        <a:ext cx="648072" cy="606012"/>
                      </a:xfrm>
                      <a:prstGeom prst="hex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4" name="33 Pentágono regular"/>
                      <p:cNvSpPr/>
                      <p:nvPr/>
                    </p:nvSpPr>
                    <p:spPr>
                      <a:xfrm rot="20029115">
                        <a:off x="5576345" y="3221786"/>
                        <a:ext cx="557909" cy="544094"/>
                      </a:xfrm>
                      <a:prstGeom prst="pent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sp>
                  <p:nvSpPr>
                    <p:cNvPr id="124" name="123 Elipse"/>
                    <p:cNvSpPr/>
                    <p:nvPr/>
                  </p:nvSpPr>
                  <p:spPr>
                    <a:xfrm>
                      <a:off x="2014130" y="3326446"/>
                      <a:ext cx="322603" cy="323771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36" name="135 Grupo"/>
                  <p:cNvGrpSpPr/>
                  <p:nvPr/>
                </p:nvGrpSpPr>
                <p:grpSpPr>
                  <a:xfrm>
                    <a:off x="1058456" y="2714847"/>
                    <a:ext cx="253760" cy="582642"/>
                    <a:chOff x="2733400" y="2470433"/>
                    <a:chExt cx="655133" cy="1723696"/>
                  </a:xfrm>
                </p:grpSpPr>
                <p:sp>
                  <p:nvSpPr>
                    <p:cNvPr id="37" name="36 Forma libre"/>
                    <p:cNvSpPr/>
                    <p:nvPr/>
                  </p:nvSpPr>
                  <p:spPr>
                    <a:xfrm flipH="1">
                      <a:off x="3058869" y="3073837"/>
                      <a:ext cx="168363" cy="885174"/>
                    </a:xfrm>
                    <a:custGeom>
                      <a:avLst/>
                      <a:gdLst>
                        <a:gd name="connsiteX0" fmla="*/ 411752 w 411752"/>
                        <a:gd name="connsiteY0" fmla="*/ 0 h 1569720"/>
                        <a:gd name="connsiteX1" fmla="*/ 272 w 411752"/>
                        <a:gd name="connsiteY1" fmla="*/ 266700 h 1569720"/>
                        <a:gd name="connsiteX2" fmla="*/ 343172 w 411752"/>
                        <a:gd name="connsiteY2" fmla="*/ 601980 h 1569720"/>
                        <a:gd name="connsiteX3" fmla="*/ 15512 w 411752"/>
                        <a:gd name="connsiteY3" fmla="*/ 929640 h 1569720"/>
                        <a:gd name="connsiteX4" fmla="*/ 396512 w 411752"/>
                        <a:gd name="connsiteY4" fmla="*/ 1181100 h 1569720"/>
                        <a:gd name="connsiteX5" fmla="*/ 129812 w 411752"/>
                        <a:gd name="connsiteY5" fmla="*/ 1569720 h 15697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11752" h="1569720">
                          <a:moveTo>
                            <a:pt x="411752" y="0"/>
                          </a:moveTo>
                          <a:cubicBezTo>
                            <a:pt x="211727" y="83185"/>
                            <a:pt x="11702" y="166370"/>
                            <a:pt x="272" y="266700"/>
                          </a:cubicBezTo>
                          <a:cubicBezTo>
                            <a:pt x="-11158" y="367030"/>
                            <a:pt x="340632" y="491490"/>
                            <a:pt x="343172" y="601980"/>
                          </a:cubicBezTo>
                          <a:cubicBezTo>
                            <a:pt x="345712" y="712470"/>
                            <a:pt x="6622" y="833120"/>
                            <a:pt x="15512" y="929640"/>
                          </a:cubicBezTo>
                          <a:cubicBezTo>
                            <a:pt x="24402" y="1026160"/>
                            <a:pt x="377462" y="1074420"/>
                            <a:pt x="396512" y="1181100"/>
                          </a:cubicBezTo>
                          <a:cubicBezTo>
                            <a:pt x="415562" y="1287780"/>
                            <a:pt x="272687" y="1428750"/>
                            <a:pt x="129812" y="1569720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003300"/>
                      </a:solidFill>
                      <a:prstDash val="soli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>
                        <a:ln>
                          <a:solidFill>
                            <a:srgbClr val="002060"/>
                          </a:solidFill>
                        </a:ln>
                      </a:endParaRPr>
                    </a:p>
                  </p:txBody>
                </p:sp>
                <p:cxnSp>
                  <p:nvCxnSpPr>
                    <p:cNvPr id="38" name="37 Conector angular"/>
                    <p:cNvCxnSpPr>
                      <a:stCxn id="37" idx="0"/>
                      <a:endCxn id="41" idx="5"/>
                    </p:cNvCxnSpPr>
                    <p:nvPr/>
                  </p:nvCxnSpPr>
                  <p:spPr>
                    <a:xfrm rot="10800000">
                      <a:off x="2865768" y="2933434"/>
                      <a:ext cx="193100" cy="140402"/>
                    </a:xfrm>
                    <a:prstGeom prst="bentConnector2">
                      <a:avLst/>
                    </a:prstGeom>
                    <a:ln w="38100">
                      <a:solidFill>
                        <a:srgbClr val="003300"/>
                      </a:solidFill>
                    </a:ln>
                    <a:effectLst>
                      <a:glow rad="139700">
                        <a:schemeClr val="accent1">
                          <a:lumMod val="50000"/>
                          <a:alpha val="40000"/>
                        </a:schemeClr>
                      </a:glow>
                    </a:effectLst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9" name="38 Grupo"/>
                    <p:cNvGrpSpPr/>
                    <p:nvPr/>
                  </p:nvGrpSpPr>
                  <p:grpSpPr>
                    <a:xfrm rot="6551618">
                      <a:off x="2672330" y="2531503"/>
                      <a:ext cx="494900" cy="372760"/>
                      <a:chOff x="5071293" y="2940735"/>
                      <a:chExt cx="1062961" cy="825145"/>
                    </a:xfrm>
                    <a:solidFill>
                      <a:srgbClr val="003300"/>
                    </a:solidFill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</a:effectLst>
                  </p:grpSpPr>
                  <p:sp>
                    <p:nvSpPr>
                      <p:cNvPr id="40" name="39 Hexágono"/>
                      <p:cNvSpPr/>
                      <p:nvPr/>
                    </p:nvSpPr>
                    <p:spPr>
                      <a:xfrm>
                        <a:off x="5071293" y="2940735"/>
                        <a:ext cx="648072" cy="606012"/>
                      </a:xfrm>
                      <a:prstGeom prst="hex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41" name="40 Pentágono regular"/>
                      <p:cNvSpPr/>
                      <p:nvPr/>
                    </p:nvSpPr>
                    <p:spPr>
                      <a:xfrm rot="20029115">
                        <a:off x="5576345" y="3221786"/>
                        <a:ext cx="557909" cy="544094"/>
                      </a:xfrm>
                      <a:prstGeom prst="pent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sp>
                  <p:nvSpPr>
                    <p:cNvPr id="125" name="124 Elipse"/>
                    <p:cNvSpPr/>
                    <p:nvPr/>
                  </p:nvSpPr>
                  <p:spPr>
                    <a:xfrm>
                      <a:off x="3065930" y="3870358"/>
                      <a:ext cx="322603" cy="323771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42" name="141 Grupo"/>
                  <p:cNvGrpSpPr/>
                  <p:nvPr/>
                </p:nvGrpSpPr>
                <p:grpSpPr>
                  <a:xfrm>
                    <a:off x="1302757" y="2602474"/>
                    <a:ext cx="214545" cy="506489"/>
                    <a:chOff x="6732242" y="3000039"/>
                    <a:chExt cx="629080" cy="1427442"/>
                  </a:xfrm>
                </p:grpSpPr>
                <p:sp>
                  <p:nvSpPr>
                    <p:cNvPr id="57" name="56 Forma libre"/>
                    <p:cNvSpPr/>
                    <p:nvPr/>
                  </p:nvSpPr>
                  <p:spPr>
                    <a:xfrm flipH="1">
                      <a:off x="7057711" y="3490105"/>
                      <a:ext cx="168363" cy="718913"/>
                    </a:xfrm>
                    <a:custGeom>
                      <a:avLst/>
                      <a:gdLst>
                        <a:gd name="connsiteX0" fmla="*/ 411752 w 411752"/>
                        <a:gd name="connsiteY0" fmla="*/ 0 h 1569720"/>
                        <a:gd name="connsiteX1" fmla="*/ 272 w 411752"/>
                        <a:gd name="connsiteY1" fmla="*/ 266700 h 1569720"/>
                        <a:gd name="connsiteX2" fmla="*/ 343172 w 411752"/>
                        <a:gd name="connsiteY2" fmla="*/ 601980 h 1569720"/>
                        <a:gd name="connsiteX3" fmla="*/ 15512 w 411752"/>
                        <a:gd name="connsiteY3" fmla="*/ 929640 h 1569720"/>
                        <a:gd name="connsiteX4" fmla="*/ 396512 w 411752"/>
                        <a:gd name="connsiteY4" fmla="*/ 1181100 h 1569720"/>
                        <a:gd name="connsiteX5" fmla="*/ 129812 w 411752"/>
                        <a:gd name="connsiteY5" fmla="*/ 1569720 h 15697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11752" h="1569720">
                          <a:moveTo>
                            <a:pt x="411752" y="0"/>
                          </a:moveTo>
                          <a:cubicBezTo>
                            <a:pt x="211727" y="83185"/>
                            <a:pt x="11702" y="166370"/>
                            <a:pt x="272" y="266700"/>
                          </a:cubicBezTo>
                          <a:cubicBezTo>
                            <a:pt x="-11158" y="367030"/>
                            <a:pt x="340632" y="491490"/>
                            <a:pt x="343172" y="601980"/>
                          </a:cubicBezTo>
                          <a:cubicBezTo>
                            <a:pt x="345712" y="712470"/>
                            <a:pt x="6622" y="833120"/>
                            <a:pt x="15512" y="929640"/>
                          </a:cubicBezTo>
                          <a:cubicBezTo>
                            <a:pt x="24402" y="1026160"/>
                            <a:pt x="377462" y="1074420"/>
                            <a:pt x="396512" y="1181100"/>
                          </a:cubicBezTo>
                          <a:cubicBezTo>
                            <a:pt x="415562" y="1287780"/>
                            <a:pt x="272687" y="1428750"/>
                            <a:pt x="129812" y="1569720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FF00FF"/>
                      </a:solidFill>
                      <a:prstDash val="soli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>
                        <a:ln>
                          <a:solidFill>
                            <a:srgbClr val="002060"/>
                          </a:solidFill>
                        </a:ln>
                      </a:endParaRPr>
                    </a:p>
                  </p:txBody>
                </p:sp>
                <p:cxnSp>
                  <p:nvCxnSpPr>
                    <p:cNvPr id="58" name="57 Conector angular"/>
                    <p:cNvCxnSpPr>
                      <a:stCxn id="57" idx="0"/>
                      <a:endCxn id="67" idx="5"/>
                    </p:cNvCxnSpPr>
                    <p:nvPr/>
                  </p:nvCxnSpPr>
                  <p:spPr>
                    <a:xfrm rot="10800000">
                      <a:off x="6864610" y="3376075"/>
                      <a:ext cx="193101" cy="114030"/>
                    </a:xfrm>
                    <a:prstGeom prst="bentConnector2">
                      <a:avLst/>
                    </a:prstGeom>
                    <a:ln w="38100">
                      <a:solidFill>
                        <a:srgbClr val="003300"/>
                      </a:solidFill>
                    </a:ln>
                    <a:effectLst>
                      <a:glow rad="139700">
                        <a:schemeClr val="accent1">
                          <a:lumMod val="50000"/>
                          <a:alpha val="40000"/>
                        </a:schemeClr>
                      </a:glow>
                    </a:effectLst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9" name="58 Grupo"/>
                    <p:cNvGrpSpPr/>
                    <p:nvPr/>
                  </p:nvGrpSpPr>
                  <p:grpSpPr>
                    <a:xfrm rot="6551618">
                      <a:off x="6717650" y="3014631"/>
                      <a:ext cx="401943" cy="372760"/>
                      <a:chOff x="5071293" y="2940735"/>
                      <a:chExt cx="1062961" cy="825145"/>
                    </a:xfrm>
                    <a:solidFill>
                      <a:srgbClr val="FF00FF"/>
                    </a:solidFill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</a:effectLst>
                  </p:grpSpPr>
                  <p:sp>
                    <p:nvSpPr>
                      <p:cNvPr id="66" name="65 Hexágono"/>
                      <p:cNvSpPr/>
                      <p:nvPr/>
                    </p:nvSpPr>
                    <p:spPr>
                      <a:xfrm>
                        <a:off x="5071293" y="2940735"/>
                        <a:ext cx="648072" cy="606012"/>
                      </a:xfrm>
                      <a:prstGeom prst="hex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67" name="66 Pentágono regular"/>
                      <p:cNvSpPr/>
                      <p:nvPr/>
                    </p:nvSpPr>
                    <p:spPr>
                      <a:xfrm rot="20029115">
                        <a:off x="5576345" y="3221786"/>
                        <a:ext cx="557909" cy="544094"/>
                      </a:xfrm>
                      <a:prstGeom prst="pent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sp>
                  <p:nvSpPr>
                    <p:cNvPr id="129" name="128 Elipse"/>
                    <p:cNvSpPr/>
                    <p:nvPr/>
                  </p:nvSpPr>
                  <p:spPr>
                    <a:xfrm>
                      <a:off x="7038719" y="4103710"/>
                      <a:ext cx="322603" cy="323771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41" name="140 Grupo"/>
                  <p:cNvGrpSpPr/>
                  <p:nvPr/>
                </p:nvGrpSpPr>
                <p:grpSpPr>
                  <a:xfrm>
                    <a:off x="1356359" y="2204052"/>
                    <a:ext cx="253760" cy="591354"/>
                    <a:chOff x="6057997" y="1490003"/>
                    <a:chExt cx="655133" cy="1450485"/>
                  </a:xfrm>
                </p:grpSpPr>
                <p:sp>
                  <p:nvSpPr>
                    <p:cNvPr id="83" name="82 Forma libre"/>
                    <p:cNvSpPr/>
                    <p:nvPr/>
                  </p:nvSpPr>
                  <p:spPr>
                    <a:xfrm flipH="1">
                      <a:off x="6383466" y="1980069"/>
                      <a:ext cx="168363" cy="718913"/>
                    </a:xfrm>
                    <a:custGeom>
                      <a:avLst/>
                      <a:gdLst>
                        <a:gd name="connsiteX0" fmla="*/ 411752 w 411752"/>
                        <a:gd name="connsiteY0" fmla="*/ 0 h 1569720"/>
                        <a:gd name="connsiteX1" fmla="*/ 272 w 411752"/>
                        <a:gd name="connsiteY1" fmla="*/ 266700 h 1569720"/>
                        <a:gd name="connsiteX2" fmla="*/ 343172 w 411752"/>
                        <a:gd name="connsiteY2" fmla="*/ 601980 h 1569720"/>
                        <a:gd name="connsiteX3" fmla="*/ 15512 w 411752"/>
                        <a:gd name="connsiteY3" fmla="*/ 929640 h 1569720"/>
                        <a:gd name="connsiteX4" fmla="*/ 396512 w 411752"/>
                        <a:gd name="connsiteY4" fmla="*/ 1181100 h 1569720"/>
                        <a:gd name="connsiteX5" fmla="*/ 129812 w 411752"/>
                        <a:gd name="connsiteY5" fmla="*/ 1569720 h 15697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11752" h="1569720">
                          <a:moveTo>
                            <a:pt x="411752" y="0"/>
                          </a:moveTo>
                          <a:cubicBezTo>
                            <a:pt x="211727" y="83185"/>
                            <a:pt x="11702" y="166370"/>
                            <a:pt x="272" y="266700"/>
                          </a:cubicBezTo>
                          <a:cubicBezTo>
                            <a:pt x="-11158" y="367030"/>
                            <a:pt x="340632" y="491490"/>
                            <a:pt x="343172" y="601980"/>
                          </a:cubicBezTo>
                          <a:cubicBezTo>
                            <a:pt x="345712" y="712470"/>
                            <a:pt x="6622" y="833120"/>
                            <a:pt x="15512" y="929640"/>
                          </a:cubicBezTo>
                          <a:cubicBezTo>
                            <a:pt x="24402" y="1026160"/>
                            <a:pt x="377462" y="1074420"/>
                            <a:pt x="396512" y="1181100"/>
                          </a:cubicBezTo>
                          <a:cubicBezTo>
                            <a:pt x="415562" y="1287780"/>
                            <a:pt x="272687" y="1428750"/>
                            <a:pt x="129812" y="1569720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008000"/>
                      </a:solidFill>
                      <a:prstDash val="soli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>
                        <a:ln>
                          <a:solidFill>
                            <a:srgbClr val="002060"/>
                          </a:solidFill>
                        </a:ln>
                      </a:endParaRPr>
                    </a:p>
                  </p:txBody>
                </p:sp>
                <p:cxnSp>
                  <p:nvCxnSpPr>
                    <p:cNvPr id="84" name="83 Conector angular"/>
                    <p:cNvCxnSpPr>
                      <a:stCxn id="83" idx="0"/>
                      <a:endCxn id="93" idx="5"/>
                    </p:cNvCxnSpPr>
                    <p:nvPr/>
                  </p:nvCxnSpPr>
                  <p:spPr>
                    <a:xfrm rot="10800000">
                      <a:off x="6190365" y="1866039"/>
                      <a:ext cx="193101" cy="114030"/>
                    </a:xfrm>
                    <a:prstGeom prst="bentConnector2">
                      <a:avLst/>
                    </a:prstGeom>
                    <a:ln w="38100">
                      <a:solidFill>
                        <a:srgbClr val="003300"/>
                      </a:solidFill>
                    </a:ln>
                    <a:effectLst>
                      <a:glow rad="139700">
                        <a:schemeClr val="accent1">
                          <a:lumMod val="50000"/>
                          <a:alpha val="40000"/>
                        </a:schemeClr>
                      </a:glow>
                    </a:effectLst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85" name="84 Grupo"/>
                    <p:cNvGrpSpPr/>
                    <p:nvPr/>
                  </p:nvGrpSpPr>
                  <p:grpSpPr>
                    <a:xfrm rot="6551618">
                      <a:off x="6043405" y="1504595"/>
                      <a:ext cx="401943" cy="372760"/>
                      <a:chOff x="5071293" y="2940735"/>
                      <a:chExt cx="1062961" cy="825145"/>
                    </a:xfrm>
                    <a:solidFill>
                      <a:srgbClr val="008000"/>
                    </a:solidFill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</a:effectLst>
                  </p:grpSpPr>
                  <p:sp>
                    <p:nvSpPr>
                      <p:cNvPr id="92" name="91 Hexágono"/>
                      <p:cNvSpPr/>
                      <p:nvPr/>
                    </p:nvSpPr>
                    <p:spPr>
                      <a:xfrm>
                        <a:off x="5071293" y="2940735"/>
                        <a:ext cx="648072" cy="606012"/>
                      </a:xfrm>
                      <a:prstGeom prst="hex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93" name="92 Pentágono regular"/>
                      <p:cNvSpPr/>
                      <p:nvPr/>
                    </p:nvSpPr>
                    <p:spPr>
                      <a:xfrm rot="20029115">
                        <a:off x="5576345" y="3221786"/>
                        <a:ext cx="557909" cy="544094"/>
                      </a:xfrm>
                      <a:prstGeom prst="pentagon">
                        <a:avLst/>
                      </a:prstGeom>
                      <a:grpFill/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sp>
                  <p:nvSpPr>
                    <p:cNvPr id="132" name="131 Elipse"/>
                    <p:cNvSpPr/>
                    <p:nvPr/>
                  </p:nvSpPr>
                  <p:spPr>
                    <a:xfrm>
                      <a:off x="6390527" y="2616717"/>
                      <a:ext cx="322603" cy="323771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cxnSp>
                <p:nvCxnSpPr>
                  <p:cNvPr id="145" name="144 Conector recto de flecha"/>
                  <p:cNvCxnSpPr/>
                  <p:nvPr/>
                </p:nvCxnSpPr>
                <p:spPr>
                  <a:xfrm flipV="1">
                    <a:off x="1986816" y="2616720"/>
                    <a:ext cx="1728192" cy="22056"/>
                  </a:xfrm>
                  <a:prstGeom prst="straightConnector1">
                    <a:avLst/>
                  </a:prstGeom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78" name="177 Grupo"/>
                  <p:cNvGrpSpPr/>
                  <p:nvPr/>
                </p:nvGrpSpPr>
                <p:grpSpPr>
                  <a:xfrm>
                    <a:off x="2297634" y="2097918"/>
                    <a:ext cx="432048" cy="469980"/>
                    <a:chOff x="2483768" y="363790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46" name="145 Elipse"/>
                    <p:cNvSpPr/>
                    <p:nvPr/>
                  </p:nvSpPr>
                  <p:spPr>
                    <a:xfrm>
                      <a:off x="2483768" y="363790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7" name="146 Elipse"/>
                    <p:cNvSpPr/>
                    <p:nvPr/>
                  </p:nvSpPr>
                  <p:spPr>
                    <a:xfrm>
                      <a:off x="2915816" y="516250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77" name="176 Grupo"/>
                  <p:cNvGrpSpPr/>
                  <p:nvPr/>
                </p:nvGrpSpPr>
                <p:grpSpPr>
                  <a:xfrm>
                    <a:off x="2427248" y="2737035"/>
                    <a:ext cx="504056" cy="451013"/>
                    <a:chOff x="2420144" y="1213446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49" name="148 Elipse"/>
                    <p:cNvSpPr/>
                    <p:nvPr/>
                  </p:nvSpPr>
                  <p:spPr>
                    <a:xfrm>
                      <a:off x="2420144" y="1213446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0" name="149 Elipse"/>
                    <p:cNvSpPr/>
                    <p:nvPr/>
                  </p:nvSpPr>
                  <p:spPr>
                    <a:xfrm>
                      <a:off x="2852192" y="1365906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163" name="162 CuadroTexto"/>
                  <p:cNvSpPr txBox="1"/>
                  <p:nvPr/>
                </p:nvSpPr>
                <p:spPr>
                  <a:xfrm>
                    <a:off x="400376" y="3358456"/>
                    <a:ext cx="1896673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1200" dirty="0" smtClean="0"/>
                      <a:t>Encoded chemical library</a:t>
                    </a:r>
                  </a:p>
                  <a:p>
                    <a:pPr algn="ctr"/>
                    <a:r>
                      <a:rPr lang="en-GB" sz="1200" dirty="0" smtClean="0"/>
                      <a:t>(10,000 members)</a:t>
                    </a:r>
                    <a:endParaRPr lang="en-GB" sz="1200" dirty="0"/>
                  </a:p>
                </p:txBody>
              </p:sp>
              <p:sp>
                <p:nvSpPr>
                  <p:cNvPr id="164" name="163 CuadroTexto"/>
                  <p:cNvSpPr txBox="1"/>
                  <p:nvPr/>
                </p:nvSpPr>
                <p:spPr>
                  <a:xfrm>
                    <a:off x="2280646" y="1740817"/>
                    <a:ext cx="133402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1200" dirty="0" smtClean="0"/>
                      <a:t>Suspension cells</a:t>
                    </a:r>
                    <a:endParaRPr lang="en-GB" sz="1200" dirty="0"/>
                  </a:p>
                </p:txBody>
              </p:sp>
              <p:sp>
                <p:nvSpPr>
                  <p:cNvPr id="165" name="164 Elipse"/>
                  <p:cNvSpPr/>
                  <p:nvPr/>
                </p:nvSpPr>
                <p:spPr>
                  <a:xfrm>
                    <a:off x="4083384" y="1866727"/>
                    <a:ext cx="720080" cy="651881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6" name="165 Elipse"/>
                  <p:cNvSpPr/>
                  <p:nvPr/>
                </p:nvSpPr>
                <p:spPr>
                  <a:xfrm>
                    <a:off x="4515432" y="2075495"/>
                    <a:ext cx="144016" cy="117172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8" name="167 Forma libre"/>
                  <p:cNvSpPr/>
                  <p:nvPr/>
                </p:nvSpPr>
                <p:spPr>
                  <a:xfrm flipH="1">
                    <a:off x="4348294" y="2135952"/>
                    <a:ext cx="62271" cy="238479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  <a:prstDash val="solid"/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grpSp>
                <p:nvGrpSpPr>
                  <p:cNvPr id="170" name="169 Grupo"/>
                  <p:cNvGrpSpPr/>
                  <p:nvPr/>
                </p:nvGrpSpPr>
                <p:grpSpPr>
                  <a:xfrm rot="6551618">
                    <a:off x="4313535" y="1926473"/>
                    <a:ext cx="133334" cy="137870"/>
                    <a:chOff x="5071293" y="2940735"/>
                    <a:chExt cx="1062961" cy="825145"/>
                  </a:xfrm>
                  <a:solidFill>
                    <a:srgbClr val="003300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72" name="171 Hexágono"/>
                    <p:cNvSpPr/>
                    <p:nvPr/>
                  </p:nvSpPr>
                  <p:spPr>
                    <a:xfrm>
                      <a:off x="5071293" y="2940735"/>
                      <a:ext cx="648072" cy="606012"/>
                    </a:xfrm>
                    <a:prstGeom prst="hex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73" name="172 Pentágono regular"/>
                    <p:cNvSpPr/>
                    <p:nvPr/>
                  </p:nvSpPr>
                  <p:spPr>
                    <a:xfrm rot="20029115">
                      <a:off x="5576345" y="3221786"/>
                      <a:ext cx="557909" cy="544094"/>
                    </a:xfrm>
                    <a:prstGeom prst="pent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171" name="170 Elipse"/>
                  <p:cNvSpPr/>
                  <p:nvPr/>
                </p:nvSpPr>
                <p:spPr>
                  <a:xfrm>
                    <a:off x="4320544" y="2330817"/>
                    <a:ext cx="119319" cy="87229"/>
                  </a:xfrm>
                  <a:prstGeom prst="ellipse">
                    <a:avLst/>
                  </a:prstGeom>
                  <a:solidFill>
                    <a:srgbClr val="800000"/>
                  </a:solidFill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76" name="175 Grupo"/>
                  <p:cNvGrpSpPr/>
                  <p:nvPr/>
                </p:nvGrpSpPr>
                <p:grpSpPr>
                  <a:xfrm>
                    <a:off x="2968684" y="2661076"/>
                    <a:ext cx="504056" cy="447888"/>
                    <a:chOff x="2961580" y="1137486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74" name="173 Elipse"/>
                    <p:cNvSpPr/>
                    <p:nvPr/>
                  </p:nvSpPr>
                  <p:spPr>
                    <a:xfrm>
                      <a:off x="2961580" y="1137486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75" name="174 Elipse"/>
                    <p:cNvSpPr/>
                    <p:nvPr/>
                  </p:nvSpPr>
                  <p:spPr>
                    <a:xfrm>
                      <a:off x="3393628" y="1289946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79" name="178 Grupo"/>
                  <p:cNvGrpSpPr/>
                  <p:nvPr/>
                </p:nvGrpSpPr>
                <p:grpSpPr>
                  <a:xfrm>
                    <a:off x="2643273" y="2093769"/>
                    <a:ext cx="432048" cy="469980"/>
                    <a:chOff x="2483768" y="363790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0" name="179 Elipse"/>
                    <p:cNvSpPr/>
                    <p:nvPr/>
                  </p:nvSpPr>
                  <p:spPr>
                    <a:xfrm>
                      <a:off x="2483768" y="363790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1" name="180 Elipse"/>
                    <p:cNvSpPr/>
                    <p:nvPr/>
                  </p:nvSpPr>
                  <p:spPr>
                    <a:xfrm>
                      <a:off x="2915816" y="516250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2" name="181 Grupo"/>
                  <p:cNvGrpSpPr/>
                  <p:nvPr/>
                </p:nvGrpSpPr>
                <p:grpSpPr>
                  <a:xfrm>
                    <a:off x="3098107" y="2093769"/>
                    <a:ext cx="432048" cy="469980"/>
                    <a:chOff x="2483768" y="363790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3" name="182 Elipse"/>
                    <p:cNvSpPr/>
                    <p:nvPr/>
                  </p:nvSpPr>
                  <p:spPr>
                    <a:xfrm>
                      <a:off x="2483768" y="363790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4" name="183 Elipse"/>
                    <p:cNvSpPr/>
                    <p:nvPr/>
                  </p:nvSpPr>
                  <p:spPr>
                    <a:xfrm>
                      <a:off x="2915816" y="516250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5" name="184 Grupo"/>
                  <p:cNvGrpSpPr/>
                  <p:nvPr/>
                </p:nvGrpSpPr>
                <p:grpSpPr>
                  <a:xfrm>
                    <a:off x="2011559" y="2648060"/>
                    <a:ext cx="432048" cy="469980"/>
                    <a:chOff x="2483768" y="363790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6" name="185 Elipse"/>
                    <p:cNvSpPr/>
                    <p:nvPr/>
                  </p:nvSpPr>
                  <p:spPr>
                    <a:xfrm>
                      <a:off x="2483768" y="363790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7" name="186 Elipse"/>
                    <p:cNvSpPr/>
                    <p:nvPr/>
                  </p:nvSpPr>
                  <p:spPr>
                    <a:xfrm>
                      <a:off x="2915816" y="516250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8" name="187 Grupo"/>
                  <p:cNvGrpSpPr/>
                  <p:nvPr/>
                </p:nvGrpSpPr>
                <p:grpSpPr>
                  <a:xfrm>
                    <a:off x="2794387" y="2904629"/>
                    <a:ext cx="432048" cy="469980"/>
                    <a:chOff x="2483768" y="363790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9" name="188 Elipse"/>
                    <p:cNvSpPr/>
                    <p:nvPr/>
                  </p:nvSpPr>
                  <p:spPr>
                    <a:xfrm>
                      <a:off x="2483768" y="363790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0" name="189 Elipse"/>
                    <p:cNvSpPr/>
                    <p:nvPr/>
                  </p:nvSpPr>
                  <p:spPr>
                    <a:xfrm>
                      <a:off x="2915816" y="516250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191" name="190 Elipse"/>
                  <p:cNvSpPr/>
                  <p:nvPr/>
                </p:nvSpPr>
                <p:spPr>
                  <a:xfrm>
                    <a:off x="3859024" y="2572516"/>
                    <a:ext cx="720080" cy="651881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2" name="191 Elipse"/>
                  <p:cNvSpPr/>
                  <p:nvPr/>
                </p:nvSpPr>
                <p:spPr>
                  <a:xfrm>
                    <a:off x="4291072" y="2781284"/>
                    <a:ext cx="144016" cy="117172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3" name="192 Forma libre"/>
                  <p:cNvSpPr/>
                  <p:nvPr/>
                </p:nvSpPr>
                <p:spPr>
                  <a:xfrm flipH="1">
                    <a:off x="4123934" y="2841741"/>
                    <a:ext cx="62271" cy="238479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  <a:prstDash val="solid"/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grpSp>
                <p:nvGrpSpPr>
                  <p:cNvPr id="194" name="193 Grupo"/>
                  <p:cNvGrpSpPr/>
                  <p:nvPr/>
                </p:nvGrpSpPr>
                <p:grpSpPr>
                  <a:xfrm rot="6551618">
                    <a:off x="4217728" y="2632262"/>
                    <a:ext cx="133334" cy="137870"/>
                    <a:chOff x="5071293" y="2940735"/>
                    <a:chExt cx="1062961" cy="825145"/>
                  </a:xfrm>
                  <a:solidFill>
                    <a:srgbClr val="FF00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95" name="194 Hexágono"/>
                    <p:cNvSpPr/>
                    <p:nvPr/>
                  </p:nvSpPr>
                  <p:spPr>
                    <a:xfrm>
                      <a:off x="5071293" y="2940735"/>
                      <a:ext cx="648072" cy="606012"/>
                    </a:xfrm>
                    <a:prstGeom prst="hex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6" name="195 Pentágono regular"/>
                    <p:cNvSpPr/>
                    <p:nvPr/>
                  </p:nvSpPr>
                  <p:spPr>
                    <a:xfrm rot="20029115">
                      <a:off x="5576345" y="3221786"/>
                      <a:ext cx="557909" cy="544094"/>
                    </a:xfrm>
                    <a:prstGeom prst="pent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197" name="196 Elipse"/>
                  <p:cNvSpPr/>
                  <p:nvPr/>
                </p:nvSpPr>
                <p:spPr>
                  <a:xfrm>
                    <a:off x="4096184" y="3036606"/>
                    <a:ext cx="119319" cy="87229"/>
                  </a:xfrm>
                  <a:prstGeom prst="ellipse">
                    <a:avLst/>
                  </a:prstGeom>
                  <a:solidFill>
                    <a:srgbClr val="800000"/>
                  </a:solidFill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200" name="199 Conector recto de flecha"/>
                  <p:cNvCxnSpPr/>
                  <p:nvPr/>
                </p:nvCxnSpPr>
                <p:spPr>
                  <a:xfrm flipV="1">
                    <a:off x="4675080" y="2605692"/>
                    <a:ext cx="1200168" cy="11028"/>
                  </a:xfrm>
                  <a:prstGeom prst="straightConnector1">
                    <a:avLst/>
                  </a:prstGeom>
                  <a:ln w="38100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2" name="201 CuadroTexto"/>
                  <p:cNvSpPr txBox="1"/>
                  <p:nvPr/>
                </p:nvSpPr>
                <p:spPr>
                  <a:xfrm>
                    <a:off x="4762677" y="2144277"/>
                    <a:ext cx="132859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200" dirty="0" err="1" smtClean="0"/>
                      <a:t>Immunostaining</a:t>
                    </a:r>
                    <a:r>
                      <a:rPr lang="en-GB" sz="1200" dirty="0" smtClean="0"/>
                      <a:t> &amp; FACS</a:t>
                    </a:r>
                    <a:endParaRPr lang="en-GB" sz="1200" dirty="0"/>
                  </a:p>
                </p:txBody>
              </p:sp>
              <p:sp>
                <p:nvSpPr>
                  <p:cNvPr id="204" name="203 Disco magnético"/>
                  <p:cNvSpPr/>
                  <p:nvPr/>
                </p:nvSpPr>
                <p:spPr>
                  <a:xfrm>
                    <a:off x="6378127" y="1427671"/>
                    <a:ext cx="648072" cy="1279672"/>
                  </a:xfrm>
                  <a:prstGeom prst="flowChartMagneticDisk">
                    <a:avLst/>
                  </a:prstGeom>
                  <a:solidFill>
                    <a:schemeClr val="bg1"/>
                  </a:solidFill>
                  <a:ln>
                    <a:solidFill>
                      <a:schemeClr val="tx2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212" name="211 Grupo"/>
                  <p:cNvGrpSpPr/>
                  <p:nvPr/>
                </p:nvGrpSpPr>
                <p:grpSpPr>
                  <a:xfrm>
                    <a:off x="6437114" y="2171035"/>
                    <a:ext cx="504097" cy="476182"/>
                    <a:chOff x="6172132" y="1970591"/>
                    <a:chExt cx="720080" cy="651881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05" name="204 Elipse"/>
                    <p:cNvSpPr/>
                    <p:nvPr/>
                  </p:nvSpPr>
                  <p:spPr>
                    <a:xfrm>
                      <a:off x="6172132" y="1970591"/>
                      <a:ext cx="720080" cy="651881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1">
                          <a:lumMod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6" name="205 Elipse"/>
                    <p:cNvSpPr/>
                    <p:nvPr/>
                  </p:nvSpPr>
                  <p:spPr>
                    <a:xfrm>
                      <a:off x="6604180" y="2179359"/>
                      <a:ext cx="144016" cy="117172"/>
                    </a:xfrm>
                    <a:prstGeom prst="ellipse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7" name="206 Forma libre"/>
                    <p:cNvSpPr/>
                    <p:nvPr/>
                  </p:nvSpPr>
                  <p:spPr>
                    <a:xfrm flipH="1">
                      <a:off x="6437042" y="2239816"/>
                      <a:ext cx="62271" cy="238479"/>
                    </a:xfrm>
                    <a:custGeom>
                      <a:avLst/>
                      <a:gdLst>
                        <a:gd name="connsiteX0" fmla="*/ 411752 w 411752"/>
                        <a:gd name="connsiteY0" fmla="*/ 0 h 1569720"/>
                        <a:gd name="connsiteX1" fmla="*/ 272 w 411752"/>
                        <a:gd name="connsiteY1" fmla="*/ 266700 h 1569720"/>
                        <a:gd name="connsiteX2" fmla="*/ 343172 w 411752"/>
                        <a:gd name="connsiteY2" fmla="*/ 601980 h 1569720"/>
                        <a:gd name="connsiteX3" fmla="*/ 15512 w 411752"/>
                        <a:gd name="connsiteY3" fmla="*/ 929640 h 1569720"/>
                        <a:gd name="connsiteX4" fmla="*/ 396512 w 411752"/>
                        <a:gd name="connsiteY4" fmla="*/ 1181100 h 1569720"/>
                        <a:gd name="connsiteX5" fmla="*/ 129812 w 411752"/>
                        <a:gd name="connsiteY5" fmla="*/ 1569720 h 15697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11752" h="1569720">
                          <a:moveTo>
                            <a:pt x="411752" y="0"/>
                          </a:moveTo>
                          <a:cubicBezTo>
                            <a:pt x="211727" y="83185"/>
                            <a:pt x="11702" y="166370"/>
                            <a:pt x="272" y="266700"/>
                          </a:cubicBezTo>
                          <a:cubicBezTo>
                            <a:pt x="-11158" y="367030"/>
                            <a:pt x="340632" y="491490"/>
                            <a:pt x="343172" y="601980"/>
                          </a:cubicBezTo>
                          <a:cubicBezTo>
                            <a:pt x="345712" y="712470"/>
                            <a:pt x="6622" y="833120"/>
                            <a:pt x="15512" y="929640"/>
                          </a:cubicBezTo>
                          <a:cubicBezTo>
                            <a:pt x="24402" y="1026160"/>
                            <a:pt x="377462" y="1074420"/>
                            <a:pt x="396512" y="1181100"/>
                          </a:cubicBezTo>
                          <a:cubicBezTo>
                            <a:pt x="415562" y="1287780"/>
                            <a:pt x="272687" y="1428750"/>
                            <a:pt x="129812" y="1569720"/>
                          </a:cubicBezTo>
                        </a:path>
                      </a:pathLst>
                    </a:custGeom>
                    <a:grpFill/>
                    <a:ln w="38100">
                      <a:solidFill>
                        <a:srgbClr val="003300"/>
                      </a:solidFill>
                      <a:prstDash val="soli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>
                        <a:ln>
                          <a:solidFill>
                            <a:srgbClr val="002060"/>
                          </a:solidFill>
                        </a:ln>
                      </a:endParaRPr>
                    </a:p>
                  </p:txBody>
                </p:sp>
                <p:grpSp>
                  <p:nvGrpSpPr>
                    <p:cNvPr id="208" name="207 Grupo"/>
                    <p:cNvGrpSpPr/>
                    <p:nvPr/>
                  </p:nvGrpSpPr>
                  <p:grpSpPr>
                    <a:xfrm rot="6551618">
                      <a:off x="6402283" y="2030337"/>
                      <a:ext cx="133334" cy="137870"/>
                      <a:chOff x="5071293" y="2940735"/>
                      <a:chExt cx="1062961" cy="825145"/>
                    </a:xfrm>
                    <a:grpFill/>
                    <a:effectLst>
                      <a:outerShdw blurRad="50800" dist="38100" dir="13500000" algn="br" rotWithShape="0">
                        <a:prstClr val="black">
                          <a:alpha val="40000"/>
                        </a:prstClr>
                      </a:outerShdw>
                    </a:effectLst>
                  </p:grpSpPr>
                  <p:sp>
                    <p:nvSpPr>
                      <p:cNvPr id="209" name="208 Hexágono"/>
                      <p:cNvSpPr/>
                      <p:nvPr/>
                    </p:nvSpPr>
                    <p:spPr>
                      <a:xfrm>
                        <a:off x="5071293" y="2940735"/>
                        <a:ext cx="648072" cy="606012"/>
                      </a:xfrm>
                      <a:prstGeom prst="hexagon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10" name="209 Pentágono regular"/>
                      <p:cNvSpPr/>
                      <p:nvPr/>
                    </p:nvSpPr>
                    <p:spPr>
                      <a:xfrm rot="20029115">
                        <a:off x="5576345" y="3221786"/>
                        <a:ext cx="557909" cy="544094"/>
                      </a:xfrm>
                      <a:prstGeom prst="pentagon">
                        <a:avLst/>
                      </a:prstGeom>
                      <a:solidFill>
                        <a:srgbClr val="002060"/>
                      </a:solidFill>
                      <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sp>
                  <p:nvSpPr>
                    <p:cNvPr id="211" name="210 Elipse"/>
                    <p:cNvSpPr/>
                    <p:nvPr/>
                  </p:nvSpPr>
                  <p:spPr>
                    <a:xfrm>
                      <a:off x="6409292" y="2434681"/>
                      <a:ext cx="119319" cy="87229"/>
                    </a:xfrm>
                    <a:prstGeom prst="ellipse">
                      <a:avLst/>
                    </a:prstGeom>
                    <a:solidFill>
                      <a:srgbClr val="C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214" name="213 Disco magnético"/>
                  <p:cNvSpPr/>
                  <p:nvPr/>
                </p:nvSpPr>
                <p:spPr>
                  <a:xfrm>
                    <a:off x="6362634" y="2806455"/>
                    <a:ext cx="648072" cy="1279672"/>
                  </a:xfrm>
                  <a:prstGeom prst="flowChartMagneticDisk">
                    <a:avLst/>
                  </a:prstGeom>
                  <a:solidFill>
                    <a:schemeClr val="bg1"/>
                  </a:solidFill>
                  <a:ln>
                    <a:solidFill>
                      <a:schemeClr val="tx2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6" name="215 Elipse"/>
                  <p:cNvSpPr/>
                  <p:nvPr/>
                </p:nvSpPr>
                <p:spPr>
                  <a:xfrm>
                    <a:off x="6434621" y="3565383"/>
                    <a:ext cx="504097" cy="476182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7" name="216 Elipse"/>
                  <p:cNvSpPr/>
                  <p:nvPr/>
                </p:nvSpPr>
                <p:spPr>
                  <a:xfrm>
                    <a:off x="6737079" y="3717883"/>
                    <a:ext cx="100819" cy="85591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8" name="217 Forma libre"/>
                  <p:cNvSpPr/>
                  <p:nvPr/>
                </p:nvSpPr>
                <p:spPr>
                  <a:xfrm flipH="1">
                    <a:off x="6620073" y="3762045"/>
                    <a:ext cx="43593" cy="174203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solidFill>
                    <a:schemeClr val="accent2">
                      <a:lumMod val="20000"/>
                      <a:lumOff val="80000"/>
                    </a:schemeClr>
                  </a:solidFill>
                  <a:ln w="38100">
                    <a:solidFill>
                      <a:srgbClr val="FF00FF"/>
                    </a:solidFill>
                    <a:prstDash val="solid"/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grpSp>
                <p:nvGrpSpPr>
                  <p:cNvPr id="219" name="218 Grupo"/>
                  <p:cNvGrpSpPr/>
                  <p:nvPr/>
                </p:nvGrpSpPr>
                <p:grpSpPr>
                  <a:xfrm rot="6551618">
                    <a:off x="6593712" y="3611123"/>
                    <a:ext cx="97397" cy="96517"/>
                    <a:chOff x="5071293" y="2940735"/>
                    <a:chExt cx="1062961" cy="825145"/>
                  </a:xfrm>
                  <a:solidFill>
                    <a:srgbClr val="FF00FF"/>
                  </a:solidFill>
                  <a:effectLst>
                    <a:outerShdw blurRad="50800" dist="38100" dir="13500000" algn="br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21" name="220 Hexágono"/>
                    <p:cNvSpPr/>
                    <p:nvPr/>
                  </p:nvSpPr>
                  <p:spPr>
                    <a:xfrm>
                      <a:off x="5071293" y="2940735"/>
                      <a:ext cx="648072" cy="606012"/>
                    </a:xfrm>
                    <a:prstGeom prst="hex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2" name="221 Pentágono regular"/>
                    <p:cNvSpPr/>
                    <p:nvPr/>
                  </p:nvSpPr>
                  <p:spPr>
                    <a:xfrm rot="20029115">
                      <a:off x="5576345" y="3221786"/>
                      <a:ext cx="557909" cy="544094"/>
                    </a:xfrm>
                    <a:prstGeom prst="pentagon">
                      <a:avLst/>
                    </a:prstGeom>
                    <a:grpFill/>
                    <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220" name="219 Elipse"/>
                  <p:cNvSpPr/>
                  <p:nvPr/>
                </p:nvSpPr>
                <p:spPr>
                  <a:xfrm>
                    <a:off x="6600647" y="3904389"/>
                    <a:ext cx="83530" cy="63719"/>
                  </a:xfrm>
                  <a:prstGeom prst="ellipse">
                    <a:avLst/>
                  </a:prstGeom>
                  <a:solidFill>
                    <a:srgbClr val="C00000"/>
                  </a:solidFill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3" name="222 CuadroTexto"/>
                  <p:cNvSpPr txBox="1"/>
                  <p:nvPr/>
                </p:nvSpPr>
                <p:spPr>
                  <a:xfrm>
                    <a:off x="7236296" y="2197477"/>
                    <a:ext cx="14478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dirty="0" err="1" smtClean="0"/>
                      <a:t>Anexin</a:t>
                    </a:r>
                    <a:r>
                      <a:rPr lang="en-GB" dirty="0" smtClean="0"/>
                      <a:t> +/PI-</a:t>
                    </a:r>
                    <a:endParaRPr lang="en-GB" dirty="0"/>
                  </a:p>
                </p:txBody>
              </p:sp>
              <p:sp>
                <p:nvSpPr>
                  <p:cNvPr id="224" name="223 CuadroTexto"/>
                  <p:cNvSpPr txBox="1"/>
                  <p:nvPr/>
                </p:nvSpPr>
                <p:spPr>
                  <a:xfrm>
                    <a:off x="7236296" y="3389344"/>
                    <a:ext cx="138371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dirty="0" err="1" smtClean="0"/>
                      <a:t>Anexin</a:t>
                    </a:r>
                    <a:r>
                      <a:rPr lang="en-GB" dirty="0"/>
                      <a:t>-</a:t>
                    </a:r>
                    <a:r>
                      <a:rPr lang="en-GB" dirty="0" smtClean="0"/>
                      <a:t>/PI+</a:t>
                    </a:r>
                    <a:endParaRPr lang="en-GB" dirty="0"/>
                  </a:p>
                </p:txBody>
              </p:sp>
              <p:grpSp>
                <p:nvGrpSpPr>
                  <p:cNvPr id="309" name="308 Grupo"/>
                  <p:cNvGrpSpPr/>
                  <p:nvPr/>
                </p:nvGrpSpPr>
                <p:grpSpPr>
                  <a:xfrm>
                    <a:off x="-87624" y="102775"/>
                    <a:ext cx="2671052" cy="1534622"/>
                    <a:chOff x="-1252457" y="3906320"/>
                    <a:chExt cx="5107228" cy="2335185"/>
                  </a:xfrm>
                </p:grpSpPr>
                <p:grpSp>
                  <p:nvGrpSpPr>
                    <p:cNvPr id="151" name="150 Grupo"/>
                    <p:cNvGrpSpPr/>
                    <p:nvPr/>
                  </p:nvGrpSpPr>
                  <p:grpSpPr>
                    <a:xfrm>
                      <a:off x="165857" y="3952346"/>
                      <a:ext cx="599227" cy="1748301"/>
                      <a:chOff x="5848195" y="4817600"/>
                      <a:chExt cx="386558" cy="1323221"/>
                    </a:xfrm>
                  </p:grpSpPr>
                  <p:sp>
                    <p:nvSpPr>
                      <p:cNvPr id="152" name="151 Forma libre"/>
                      <p:cNvSpPr>
                        <a:spLocks noChangeAspect="1"/>
                      </p:cNvSpPr>
                      <p:nvPr/>
                    </p:nvSpPr>
                    <p:spPr>
                      <a:xfrm flipH="1">
                        <a:off x="6102964" y="5353974"/>
                        <a:ext cx="131789" cy="786847"/>
                      </a:xfrm>
                      <a:custGeom>
                        <a:avLst/>
                        <a:gdLst>
                          <a:gd name="connsiteX0" fmla="*/ 411752 w 411752"/>
                          <a:gd name="connsiteY0" fmla="*/ 0 h 1569720"/>
                          <a:gd name="connsiteX1" fmla="*/ 272 w 411752"/>
                          <a:gd name="connsiteY1" fmla="*/ 266700 h 1569720"/>
                          <a:gd name="connsiteX2" fmla="*/ 343172 w 411752"/>
                          <a:gd name="connsiteY2" fmla="*/ 601980 h 1569720"/>
                          <a:gd name="connsiteX3" fmla="*/ 15512 w 411752"/>
                          <a:gd name="connsiteY3" fmla="*/ 929640 h 1569720"/>
                          <a:gd name="connsiteX4" fmla="*/ 396512 w 411752"/>
                          <a:gd name="connsiteY4" fmla="*/ 1181100 h 1569720"/>
                          <a:gd name="connsiteX5" fmla="*/ 129812 w 411752"/>
                          <a:gd name="connsiteY5" fmla="*/ 1569720 h 15697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11752" h="1569720">
                            <a:moveTo>
                              <a:pt x="411752" y="0"/>
                            </a:moveTo>
                            <a:cubicBezTo>
                              <a:pt x="211727" y="83185"/>
                              <a:pt x="11702" y="166370"/>
                              <a:pt x="272" y="266700"/>
                            </a:cubicBezTo>
                            <a:cubicBezTo>
                              <a:pt x="-11158" y="367030"/>
                              <a:pt x="340632" y="491490"/>
                              <a:pt x="343172" y="601980"/>
                            </a:cubicBezTo>
                            <a:cubicBezTo>
                              <a:pt x="345712" y="712470"/>
                              <a:pt x="6622" y="833120"/>
                              <a:pt x="15512" y="929640"/>
                            </a:cubicBezTo>
                            <a:cubicBezTo>
                              <a:pt x="24402" y="1026160"/>
                              <a:pt x="377462" y="1074420"/>
                              <a:pt x="396512" y="1181100"/>
                            </a:cubicBezTo>
                            <a:cubicBezTo>
                              <a:pt x="415562" y="1287780"/>
                              <a:pt x="272687" y="1428750"/>
                              <a:pt x="129812" y="1569720"/>
                            </a:cubicBezTo>
                          </a:path>
                        </a:pathLst>
                      </a:custGeom>
                      <a:noFill/>
                      <a:ln w="38100">
                        <a:solidFill>
                          <a:srgbClr val="FF9933"/>
                        </a:solidFill>
                        <a:prstDash val="solid"/>
                      </a:ln>
                      <a:effectLst>
                        <a:outerShdw blurRad="50800" dist="38100" dir="18900000" algn="b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200">
                          <a:ln>
                            <a:solidFill>
                              <a:srgbClr val="002060"/>
                            </a:solidFill>
                          </a:ln>
                        </a:endParaRPr>
                      </a:p>
                    </p:txBody>
                  </p:sp>
                  <p:cxnSp>
                    <p:nvCxnSpPr>
                      <p:cNvPr id="153" name="152 Conector angular"/>
                      <p:cNvCxnSpPr>
                        <a:cxnSpLocks noChangeAspect="1"/>
                        <a:stCxn id="152" idx="0"/>
                        <a:endCxn id="156" idx="5"/>
                      </p:cNvCxnSpPr>
                      <p:nvPr/>
                    </p:nvCxnSpPr>
                    <p:spPr>
                      <a:xfrm rot="10800000">
                        <a:off x="5951811" y="5229169"/>
                        <a:ext cx="151154" cy="124806"/>
                      </a:xfrm>
                      <a:prstGeom prst="bentConnector2">
                        <a:avLst/>
                      </a:prstGeom>
                      <a:ln w="38100">
                        <a:solidFill>
                          <a:srgbClr val="003300"/>
                        </a:solidFill>
                      </a:ln>
                      <a:effectLst>
                        <a:glow rad="139700">
                          <a:schemeClr val="accent1">
                            <a:lumMod val="50000"/>
                            <a:alpha val="40000"/>
                          </a:schemeClr>
                        </a:glow>
                      </a:effectLst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54" name="153 Grupo"/>
                      <p:cNvGrpSpPr>
                        <a:grpSpLocks noChangeAspect="1"/>
                      </p:cNvGrpSpPr>
                      <p:nvPr/>
                    </p:nvGrpSpPr>
                    <p:grpSpPr>
                      <a:xfrm rot="6551618">
                        <a:off x="5774125" y="4891670"/>
                        <a:ext cx="439925" cy="291786"/>
                        <a:chOff x="5071293" y="2940735"/>
                        <a:chExt cx="1062961" cy="825145"/>
                      </a:xfrm>
                      <a:solidFill>
                        <a:schemeClr val="accent2">
                          <a:lumMod val="50000"/>
                        </a:schemeClr>
                      </a:solidFill>
                      <a:effectLst>
                        <a:outerShdw blurRad="50800" dist="38100" dir="13500000" algn="br" rotWithShape="0">
                          <a:prstClr val="black">
                            <a:alpha val="40000"/>
                          </a:prstClr>
                        </a:outerShdw>
                      </a:effectLst>
                    </p:grpSpPr>
                    <p:sp>
                      <p:nvSpPr>
                        <p:cNvPr id="155" name="154 Hexágono"/>
                        <p:cNvSpPr/>
                        <p:nvPr/>
                      </p:nvSpPr>
                      <p:spPr>
                        <a:xfrm>
                          <a:off x="5071293" y="2940735"/>
                          <a:ext cx="648072" cy="606012"/>
                        </a:xfrm>
                        <a:prstGeom prst="hexagon">
                          <a:avLst/>
                        </a:prstGeom>
                        <a:grpFill/>
                        <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200"/>
                        </a:p>
                      </p:txBody>
                    </p:sp>
                    <p:sp>
                      <p:nvSpPr>
                        <p:cNvPr id="156" name="155 Pentágono regular"/>
                        <p:cNvSpPr/>
                        <p:nvPr/>
                      </p:nvSpPr>
                      <p:spPr>
                        <a:xfrm rot="20029115">
                          <a:off x="5576345" y="3221786"/>
                          <a:ext cx="557909" cy="544094"/>
                        </a:xfrm>
                        <a:prstGeom prst="pentagon">
                          <a:avLst/>
                        </a:prstGeom>
                        <a:grpFill/>
                        <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200"/>
                        </a:p>
                      </p:txBody>
                    </p:sp>
                  </p:grpSp>
                </p:grpSp>
                <p:sp>
                  <p:nvSpPr>
                    <p:cNvPr id="157" name="156 CuadroTexto"/>
                    <p:cNvSpPr txBox="1"/>
                    <p:nvPr/>
                  </p:nvSpPr>
                  <p:spPr>
                    <a:xfrm>
                      <a:off x="1116223" y="4810309"/>
                      <a:ext cx="1624035" cy="3431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GB" sz="1200" dirty="0" smtClean="0"/>
                        <a:t>Encoding tag</a:t>
                      </a:r>
                      <a:endParaRPr lang="en-GB" sz="1200" dirty="0"/>
                    </a:p>
                  </p:txBody>
                </p:sp>
                <p:sp>
                  <p:nvSpPr>
                    <p:cNvPr id="158" name="157 CuadroTexto"/>
                    <p:cNvSpPr txBox="1"/>
                    <p:nvPr/>
                  </p:nvSpPr>
                  <p:spPr>
                    <a:xfrm>
                      <a:off x="-1252457" y="4762178"/>
                      <a:ext cx="2296476" cy="7025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200" dirty="0" smtClean="0"/>
                        <a:t>Cleavable linker</a:t>
                      </a:r>
                      <a:endParaRPr lang="en-GB" sz="1200" dirty="0"/>
                    </a:p>
                  </p:txBody>
                </p:sp>
                <p:sp>
                  <p:nvSpPr>
                    <p:cNvPr id="159" name="158 CuadroTexto"/>
                    <p:cNvSpPr txBox="1"/>
                    <p:nvPr/>
                  </p:nvSpPr>
                  <p:spPr>
                    <a:xfrm>
                      <a:off x="552463" y="3906320"/>
                      <a:ext cx="3302308" cy="7025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200" dirty="0" smtClean="0"/>
                        <a:t>Encoded small-molecule</a:t>
                      </a:r>
                      <a:endParaRPr lang="en-GB" sz="1200" dirty="0"/>
                    </a:p>
                  </p:txBody>
                </p:sp>
                <p:cxnSp>
                  <p:nvCxnSpPr>
                    <p:cNvPr id="160" name="159 Conector recto de flecha"/>
                    <p:cNvCxnSpPr/>
                    <p:nvPr/>
                  </p:nvCxnSpPr>
                  <p:spPr>
                    <a:xfrm flipV="1">
                      <a:off x="-58099" y="4661030"/>
                      <a:ext cx="352445" cy="149279"/>
                    </a:xfrm>
                    <a:prstGeom prst="straightConnector1">
                      <a:avLst/>
                    </a:prstGeom>
                    <a:ln w="28575">
                      <a:solidFill>
                        <a:srgbClr val="003300"/>
                      </a:solidFill>
                      <a:tailEnd type="arrow"/>
                    </a:ln>
                    <a:effectLst>
                      <a:glow rad="101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160 Conector recto de flecha"/>
                    <p:cNvCxnSpPr/>
                    <p:nvPr/>
                  </p:nvCxnSpPr>
                  <p:spPr>
                    <a:xfrm flipH="1">
                      <a:off x="788588" y="4188787"/>
                      <a:ext cx="283435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161 Conector recto de flecha"/>
                    <p:cNvCxnSpPr>
                      <a:stCxn id="157" idx="1"/>
                    </p:cNvCxnSpPr>
                    <p:nvPr/>
                  </p:nvCxnSpPr>
                  <p:spPr>
                    <a:xfrm flipH="1">
                      <a:off x="701147" y="4981893"/>
                      <a:ext cx="415075" cy="9880"/>
                    </a:xfrm>
                    <a:prstGeom prst="straightConnector1">
                      <a:avLst/>
                    </a:prstGeom>
                    <a:ln w="38100">
                      <a:solidFill>
                        <a:srgbClr val="FF9933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5" name="224 Elipse"/>
                    <p:cNvSpPr/>
                    <p:nvPr/>
                  </p:nvSpPr>
                  <p:spPr>
                    <a:xfrm>
                      <a:off x="623819" y="5645926"/>
                      <a:ext cx="284865" cy="309376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  <a:reflection blurRad="6350" stA="52000" endA="300" endPos="35000" dir="5400000" sy="-100000" algn="bl" rotWithShape="0"/>
                    </a:effectLst>
                  </p:spPr>
                  <p:style>
                    <a:lnRef idx="0">
                      <a:schemeClr val="accent1"/>
                    </a:lnRef>
                    <a:fillRef idx="3">
                      <a:schemeClr val="accent1"/>
                    </a:fillRef>
                    <a:effectRef idx="3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200"/>
                    </a:p>
                  </p:txBody>
                </p:sp>
                <p:sp>
                  <p:nvSpPr>
                    <p:cNvPr id="226" name="225 CuadroTexto"/>
                    <p:cNvSpPr txBox="1"/>
                    <p:nvPr/>
                  </p:nvSpPr>
                  <p:spPr>
                    <a:xfrm>
                      <a:off x="990997" y="5539004"/>
                      <a:ext cx="2265984" cy="7025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200" dirty="0" smtClean="0"/>
                        <a:t>Fluorescent microsphere</a:t>
                      </a:r>
                      <a:endParaRPr lang="en-GB" sz="1200" dirty="0"/>
                    </a:p>
                  </p:txBody>
                </p:sp>
              </p:grpSp>
              <p:cxnSp>
                <p:nvCxnSpPr>
                  <p:cNvPr id="228" name="227 Conector angular"/>
                  <p:cNvCxnSpPr/>
                  <p:nvPr/>
                </p:nvCxnSpPr>
                <p:spPr>
                  <a:xfrm rot="5400000">
                    <a:off x="5989023" y="3610193"/>
                    <a:ext cx="122716" cy="1334749"/>
                  </a:xfrm>
                  <a:prstGeom prst="bentConnector2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9" name="AutoShape 66" descr="Dark upward diagonal"/>
                  <p:cNvSpPr>
                    <a:spLocks noChangeArrowheads="1"/>
                  </p:cNvSpPr>
                  <p:nvPr/>
                </p:nvSpPr>
                <p:spPr bwMode="auto">
                  <a:xfrm>
                    <a:off x="3357336" y="3871576"/>
                    <a:ext cx="2316162" cy="727075"/>
                  </a:xfrm>
                  <a:prstGeom prst="cube">
                    <a:avLst>
                      <a:gd name="adj" fmla="val 92014"/>
                    </a:avLst>
                  </a:prstGeom>
                  <a:pattFill prst="dkUpDiag">
                    <a:fgClr>
                      <a:srgbClr val="C0C0C0"/>
                    </a:fgClr>
                    <a:bgClr>
                      <a:srgbClr val="FFFFFF"/>
                    </a:bgClr>
                  </a:pattFill>
                  <a:ln w="6350">
                    <a:solidFill>
                      <a:srgbClr val="80808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230" name="229 Forma libre"/>
                  <p:cNvSpPr/>
                  <p:nvPr/>
                </p:nvSpPr>
                <p:spPr>
                  <a:xfrm>
                    <a:off x="3707098" y="412162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1" name="230 Forma libre"/>
                  <p:cNvSpPr/>
                  <p:nvPr/>
                </p:nvSpPr>
                <p:spPr>
                  <a:xfrm>
                    <a:off x="3782985" y="410337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2" name="231 Forma libre"/>
                  <p:cNvSpPr/>
                  <p:nvPr/>
                </p:nvSpPr>
                <p:spPr>
                  <a:xfrm>
                    <a:off x="3746985" y="4175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3" name="232 Forma libre"/>
                  <p:cNvSpPr/>
                  <p:nvPr/>
                </p:nvSpPr>
                <p:spPr>
                  <a:xfrm>
                    <a:off x="3921030" y="3920843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4" name="233 Forma libre"/>
                  <p:cNvSpPr/>
                  <p:nvPr/>
                </p:nvSpPr>
                <p:spPr>
                  <a:xfrm>
                    <a:off x="3996917" y="3902592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5" name="234 Forma libre"/>
                  <p:cNvSpPr/>
                  <p:nvPr/>
                </p:nvSpPr>
                <p:spPr>
                  <a:xfrm>
                    <a:off x="4175154" y="3689579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6" name="235 Forma libre"/>
                  <p:cNvSpPr/>
                  <p:nvPr/>
                </p:nvSpPr>
                <p:spPr>
                  <a:xfrm>
                    <a:off x="4251041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7" name="236 Forma libre"/>
                  <p:cNvSpPr/>
                  <p:nvPr/>
                </p:nvSpPr>
                <p:spPr>
                  <a:xfrm>
                    <a:off x="3963009" y="395936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8" name="237 Forma libre"/>
                  <p:cNvSpPr/>
                  <p:nvPr/>
                </p:nvSpPr>
                <p:spPr>
                  <a:xfrm>
                    <a:off x="4125693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39" name="238 Forma libre"/>
                  <p:cNvSpPr/>
                  <p:nvPr/>
                </p:nvSpPr>
                <p:spPr>
                  <a:xfrm>
                    <a:off x="4675782" y="3689579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0" name="239 Forma libre"/>
                  <p:cNvSpPr/>
                  <p:nvPr/>
                </p:nvSpPr>
                <p:spPr>
                  <a:xfrm>
                    <a:off x="4751669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1" name="240 Forma libre"/>
                  <p:cNvSpPr/>
                  <p:nvPr/>
                </p:nvSpPr>
                <p:spPr>
                  <a:xfrm>
                    <a:off x="4626321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2" name="241 Forma libre"/>
                  <p:cNvSpPr/>
                  <p:nvPr/>
                </p:nvSpPr>
                <p:spPr>
                  <a:xfrm>
                    <a:off x="4495758" y="3905603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3" name="242 Forma libre"/>
                  <p:cNvSpPr/>
                  <p:nvPr/>
                </p:nvSpPr>
                <p:spPr>
                  <a:xfrm>
                    <a:off x="4571645" y="3887352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4" name="243 Forma libre"/>
                  <p:cNvSpPr/>
                  <p:nvPr/>
                </p:nvSpPr>
                <p:spPr>
                  <a:xfrm>
                    <a:off x="4446297" y="3887352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5" name="244 Forma libre"/>
                  <p:cNvSpPr/>
                  <p:nvPr/>
                </p:nvSpPr>
                <p:spPr>
                  <a:xfrm>
                    <a:off x="4264494" y="410340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6" name="245 Forma libre"/>
                  <p:cNvSpPr/>
                  <p:nvPr/>
                </p:nvSpPr>
                <p:spPr>
                  <a:xfrm>
                    <a:off x="4340381" y="408515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7" name="246 Forma libre"/>
                  <p:cNvSpPr/>
                  <p:nvPr/>
                </p:nvSpPr>
                <p:spPr>
                  <a:xfrm>
                    <a:off x="4215033" y="408515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8" name="247 Forma libre"/>
                  <p:cNvSpPr/>
                  <p:nvPr/>
                </p:nvSpPr>
                <p:spPr>
                  <a:xfrm>
                    <a:off x="4751218" y="412162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49" name="248 Forma libre"/>
                  <p:cNvSpPr/>
                  <p:nvPr/>
                </p:nvSpPr>
                <p:spPr>
                  <a:xfrm>
                    <a:off x="4827105" y="410337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0" name="249 Forma libre"/>
                  <p:cNvSpPr/>
                  <p:nvPr/>
                </p:nvSpPr>
                <p:spPr>
                  <a:xfrm>
                    <a:off x="4701757" y="410337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1" name="250 Forma libre"/>
                  <p:cNvSpPr/>
                  <p:nvPr/>
                </p:nvSpPr>
                <p:spPr>
                  <a:xfrm>
                    <a:off x="4982482" y="3905603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2" name="251 Forma libre"/>
                  <p:cNvSpPr/>
                  <p:nvPr/>
                </p:nvSpPr>
                <p:spPr>
                  <a:xfrm>
                    <a:off x="5058369" y="3887352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3" name="252 Forma libre"/>
                  <p:cNvSpPr/>
                  <p:nvPr/>
                </p:nvSpPr>
                <p:spPr>
                  <a:xfrm>
                    <a:off x="4933021" y="3887352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4" name="253 Forma libre"/>
                  <p:cNvSpPr/>
                  <p:nvPr/>
                </p:nvSpPr>
                <p:spPr>
                  <a:xfrm>
                    <a:off x="5240034" y="3689579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5" name="254 Forma libre"/>
                  <p:cNvSpPr/>
                  <p:nvPr/>
                </p:nvSpPr>
                <p:spPr>
                  <a:xfrm>
                    <a:off x="5315921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6" name="255 Forma libre"/>
                  <p:cNvSpPr/>
                  <p:nvPr/>
                </p:nvSpPr>
                <p:spPr>
                  <a:xfrm>
                    <a:off x="5190573" y="36713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57" name="256 CuadroTexto"/>
                  <p:cNvSpPr txBox="1"/>
                  <p:nvPr/>
                </p:nvSpPr>
                <p:spPr>
                  <a:xfrm>
                    <a:off x="3492333" y="4686504"/>
                    <a:ext cx="144917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1400" dirty="0" smtClean="0"/>
                      <a:t>DNA microarray</a:t>
                    </a:r>
                    <a:endParaRPr lang="en-GB" sz="1400" dirty="0"/>
                  </a:p>
                </p:txBody>
              </p:sp>
              <p:sp>
                <p:nvSpPr>
                  <p:cNvPr id="272" name="271 Forma libre"/>
                  <p:cNvSpPr/>
                  <p:nvPr/>
                </p:nvSpPr>
                <p:spPr>
                  <a:xfrm flipH="1">
                    <a:off x="4560189" y="3875074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73" name="272 Elipse"/>
                  <p:cNvSpPr/>
                  <p:nvPr/>
                </p:nvSpPr>
                <p:spPr>
                  <a:xfrm>
                    <a:off x="4495758" y="3731059"/>
                    <a:ext cx="117302" cy="140518"/>
                  </a:xfrm>
                  <a:prstGeom prst="ellipse">
                    <a:avLst/>
                  </a:prstGeom>
                  <a:solidFill>
                    <a:srgbClr val="C00000"/>
                  </a:solidFill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75" name="AutoShape 66" descr="Dark upward diagonal"/>
                  <p:cNvSpPr>
                    <a:spLocks noChangeArrowheads="1"/>
                  </p:cNvSpPr>
                  <p:nvPr/>
                </p:nvSpPr>
                <p:spPr bwMode="auto">
                  <a:xfrm>
                    <a:off x="6789981" y="404664"/>
                    <a:ext cx="2316162" cy="727075"/>
                  </a:xfrm>
                  <a:prstGeom prst="cube">
                    <a:avLst>
                      <a:gd name="adj" fmla="val 92014"/>
                    </a:avLst>
                  </a:prstGeom>
                  <a:pattFill prst="dkUpDiag">
                    <a:fgClr>
                      <a:srgbClr val="C0C0C0"/>
                    </a:fgClr>
                    <a:bgClr>
                      <a:srgbClr val="FFFFFF"/>
                    </a:bgClr>
                  </a:pattFill>
                  <a:ln w="6350">
                    <a:solidFill>
                      <a:srgbClr val="80808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276" name="275 Forma libre"/>
                  <p:cNvSpPr/>
                  <p:nvPr/>
                </p:nvSpPr>
                <p:spPr>
                  <a:xfrm>
                    <a:off x="7139743" y="654715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77" name="276 Forma libre"/>
                  <p:cNvSpPr/>
                  <p:nvPr/>
                </p:nvSpPr>
                <p:spPr>
                  <a:xfrm>
                    <a:off x="7215630" y="636464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78" name="277 Forma libre"/>
                  <p:cNvSpPr/>
                  <p:nvPr/>
                </p:nvSpPr>
                <p:spPr>
                  <a:xfrm>
                    <a:off x="7179630" y="708504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79" name="278 Forma libre"/>
                  <p:cNvSpPr/>
                  <p:nvPr/>
                </p:nvSpPr>
                <p:spPr>
                  <a:xfrm>
                    <a:off x="7353675" y="453931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0" name="279 Forma libre"/>
                  <p:cNvSpPr/>
                  <p:nvPr/>
                </p:nvSpPr>
                <p:spPr>
                  <a:xfrm>
                    <a:off x="7429562" y="43568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1" name="280 Forma libre"/>
                  <p:cNvSpPr/>
                  <p:nvPr/>
                </p:nvSpPr>
                <p:spPr>
                  <a:xfrm>
                    <a:off x="7607799" y="22266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2" name="281 Forma libre"/>
                  <p:cNvSpPr/>
                  <p:nvPr/>
                </p:nvSpPr>
                <p:spPr>
                  <a:xfrm>
                    <a:off x="7683686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3" name="282 Forma libre"/>
                  <p:cNvSpPr/>
                  <p:nvPr/>
                </p:nvSpPr>
                <p:spPr>
                  <a:xfrm>
                    <a:off x="7395654" y="49244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33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4" name="283 Forma libre"/>
                  <p:cNvSpPr/>
                  <p:nvPr/>
                </p:nvSpPr>
                <p:spPr>
                  <a:xfrm>
                    <a:off x="7558338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800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5" name="284 Forma libre"/>
                  <p:cNvSpPr/>
                  <p:nvPr/>
                </p:nvSpPr>
                <p:spPr>
                  <a:xfrm>
                    <a:off x="8108427" y="22266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6" name="285 Forma libre"/>
                  <p:cNvSpPr/>
                  <p:nvPr/>
                </p:nvSpPr>
                <p:spPr>
                  <a:xfrm>
                    <a:off x="8184314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7" name="286 Forma libre"/>
                  <p:cNvSpPr/>
                  <p:nvPr/>
                </p:nvSpPr>
                <p:spPr>
                  <a:xfrm>
                    <a:off x="8058966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660066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8" name="287 Forma libre"/>
                  <p:cNvSpPr/>
                  <p:nvPr/>
                </p:nvSpPr>
                <p:spPr>
                  <a:xfrm>
                    <a:off x="7928403" y="438691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89" name="288 Forma libre"/>
                  <p:cNvSpPr/>
                  <p:nvPr/>
                </p:nvSpPr>
                <p:spPr>
                  <a:xfrm>
                    <a:off x="8004290" y="42044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0" name="289 Forma libre"/>
                  <p:cNvSpPr/>
                  <p:nvPr/>
                </p:nvSpPr>
                <p:spPr>
                  <a:xfrm>
                    <a:off x="7878942" y="42044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00FF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1" name="290 Forma libre"/>
                  <p:cNvSpPr/>
                  <p:nvPr/>
                </p:nvSpPr>
                <p:spPr>
                  <a:xfrm>
                    <a:off x="7697139" y="63649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2" name="291 Forma libre"/>
                  <p:cNvSpPr/>
                  <p:nvPr/>
                </p:nvSpPr>
                <p:spPr>
                  <a:xfrm>
                    <a:off x="7773026" y="618245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3" name="292 Forma libre"/>
                  <p:cNvSpPr/>
                  <p:nvPr/>
                </p:nvSpPr>
                <p:spPr>
                  <a:xfrm>
                    <a:off x="7647678" y="618245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CC66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4" name="293 Forma libre"/>
                  <p:cNvSpPr/>
                  <p:nvPr/>
                </p:nvSpPr>
                <p:spPr>
                  <a:xfrm>
                    <a:off x="8183863" y="654715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5" name="294 Forma libre"/>
                  <p:cNvSpPr/>
                  <p:nvPr/>
                </p:nvSpPr>
                <p:spPr>
                  <a:xfrm>
                    <a:off x="8259750" y="636464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6" name="295 Forma libre"/>
                  <p:cNvSpPr/>
                  <p:nvPr/>
                </p:nvSpPr>
                <p:spPr>
                  <a:xfrm>
                    <a:off x="8134402" y="636464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800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7" name="296 Forma libre"/>
                  <p:cNvSpPr/>
                  <p:nvPr/>
                </p:nvSpPr>
                <p:spPr>
                  <a:xfrm>
                    <a:off x="8415127" y="438691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8" name="297 Forma libre"/>
                  <p:cNvSpPr/>
                  <p:nvPr/>
                </p:nvSpPr>
                <p:spPr>
                  <a:xfrm>
                    <a:off x="8491014" y="42044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299" name="298 Forma libre"/>
                  <p:cNvSpPr/>
                  <p:nvPr/>
                </p:nvSpPr>
                <p:spPr>
                  <a:xfrm>
                    <a:off x="8365666" y="420440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66CC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300" name="299 Forma libre"/>
                  <p:cNvSpPr/>
                  <p:nvPr/>
                </p:nvSpPr>
                <p:spPr>
                  <a:xfrm>
                    <a:off x="8672679" y="222667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301" name="300 Forma libre"/>
                  <p:cNvSpPr/>
                  <p:nvPr/>
                </p:nvSpPr>
                <p:spPr>
                  <a:xfrm>
                    <a:off x="8748566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302" name="301 Forma libre"/>
                  <p:cNvSpPr/>
                  <p:nvPr/>
                </p:nvSpPr>
                <p:spPr>
                  <a:xfrm>
                    <a:off x="8623218" y="204416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9933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sp>
                <p:nvSpPr>
                  <p:cNvPr id="303" name="302 CuadroTexto"/>
                  <p:cNvSpPr txBox="1"/>
                  <p:nvPr/>
                </p:nvSpPr>
                <p:spPr>
                  <a:xfrm>
                    <a:off x="6924978" y="1219592"/>
                    <a:ext cx="144917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GB" sz="1400" dirty="0" smtClean="0"/>
                      <a:t>DNA microarray</a:t>
                    </a:r>
                    <a:endParaRPr lang="en-GB" sz="1400" dirty="0"/>
                  </a:p>
                </p:txBody>
              </p:sp>
              <p:sp>
                <p:nvSpPr>
                  <p:cNvPr id="305" name="304 Elipse"/>
                  <p:cNvSpPr/>
                  <p:nvPr/>
                </p:nvSpPr>
                <p:spPr>
                  <a:xfrm>
                    <a:off x="7134328" y="515317"/>
                    <a:ext cx="117302" cy="140518"/>
                  </a:xfrm>
                  <a:prstGeom prst="ellipse">
                    <a:avLst/>
                  </a:prstGeom>
                  <a:solidFill>
                    <a:srgbClr val="C00000"/>
                  </a:solidFill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06" name="305 Forma libre"/>
                  <p:cNvSpPr/>
                  <p:nvPr/>
                </p:nvSpPr>
                <p:spPr>
                  <a:xfrm>
                    <a:off x="7164288" y="692728"/>
                    <a:ext cx="36000" cy="288000"/>
                  </a:xfrm>
                  <a:custGeom>
                    <a:avLst/>
                    <a:gdLst>
                      <a:gd name="connsiteX0" fmla="*/ 411752 w 411752"/>
                      <a:gd name="connsiteY0" fmla="*/ 0 h 1569720"/>
                      <a:gd name="connsiteX1" fmla="*/ 272 w 411752"/>
                      <a:gd name="connsiteY1" fmla="*/ 266700 h 1569720"/>
                      <a:gd name="connsiteX2" fmla="*/ 343172 w 411752"/>
                      <a:gd name="connsiteY2" fmla="*/ 601980 h 1569720"/>
                      <a:gd name="connsiteX3" fmla="*/ 15512 w 411752"/>
                      <a:gd name="connsiteY3" fmla="*/ 929640 h 1569720"/>
                      <a:gd name="connsiteX4" fmla="*/ 396512 w 411752"/>
                      <a:gd name="connsiteY4" fmla="*/ 1181100 h 1569720"/>
                      <a:gd name="connsiteX5" fmla="*/ 129812 w 411752"/>
                      <a:gd name="connsiteY5" fmla="*/ 1569720 h 1569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11752" h="1569720">
                        <a:moveTo>
                          <a:pt x="411752" y="0"/>
                        </a:moveTo>
                        <a:cubicBezTo>
                          <a:pt x="211727" y="83185"/>
                          <a:pt x="11702" y="166370"/>
                          <a:pt x="272" y="266700"/>
                        </a:cubicBezTo>
                        <a:cubicBezTo>
                          <a:pt x="-11158" y="367030"/>
                          <a:pt x="340632" y="491490"/>
                          <a:pt x="343172" y="601980"/>
                        </a:cubicBezTo>
                        <a:cubicBezTo>
                          <a:pt x="345712" y="712470"/>
                          <a:pt x="6622" y="833120"/>
                          <a:pt x="15512" y="929640"/>
                        </a:cubicBezTo>
                        <a:cubicBezTo>
                          <a:pt x="24402" y="1026160"/>
                          <a:pt x="377462" y="1074420"/>
                          <a:pt x="396512" y="1181100"/>
                        </a:cubicBezTo>
                        <a:cubicBezTo>
                          <a:pt x="415562" y="1287780"/>
                          <a:pt x="272687" y="1428750"/>
                          <a:pt x="129812" y="1569720"/>
                        </a:cubicBezTo>
                      </a:path>
                    </a:pathLst>
                  </a:custGeom>
                  <a:noFill/>
                  <a:ln w="38100">
                    <a:solidFill>
                      <a:srgbClr val="002060"/>
                    </a:solidFill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>
                      <a:ln>
                        <a:solidFill>
                          <a:srgbClr val="002060"/>
                        </a:solidFill>
                      </a:ln>
                    </a:endParaRPr>
                  </a:p>
                </p:txBody>
              </p:sp>
              <p:cxnSp>
                <p:nvCxnSpPr>
                  <p:cNvPr id="308" name="307 Conector angular"/>
                  <p:cNvCxnSpPr>
                    <a:stCxn id="204" idx="1"/>
                    <a:endCxn id="275" idx="2"/>
                  </p:cNvCxnSpPr>
                  <p:nvPr/>
                </p:nvCxnSpPr>
                <p:spPr>
                  <a:xfrm rot="5400000" flipH="1" flipV="1">
                    <a:off x="6583590" y="1221280"/>
                    <a:ext cx="324964" cy="87818"/>
                  </a:xfrm>
                  <a:prstGeom prst="bentConnector2">
                    <a:avLst/>
                  </a:prstGeom>
                  <a:ln w="28575"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0" name="309 Rectángulo redondeado"/>
                  <p:cNvSpPr/>
                  <p:nvPr/>
                </p:nvSpPr>
                <p:spPr>
                  <a:xfrm>
                    <a:off x="35496" y="0"/>
                    <a:ext cx="2261553" cy="163739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312" name="311 CuadroTexto"/>
                <p:cNvSpPr txBox="1"/>
                <p:nvPr/>
              </p:nvSpPr>
              <p:spPr>
                <a:xfrm>
                  <a:off x="5410977" y="4359136"/>
                  <a:ext cx="132859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200" dirty="0" err="1" smtClean="0"/>
                    <a:t>Lysis</a:t>
                  </a:r>
                  <a:r>
                    <a:rPr lang="en-GB" sz="1200" dirty="0" smtClean="0"/>
                    <a:t> &amp; hybridization</a:t>
                  </a:r>
                  <a:endParaRPr lang="en-GB" sz="1200" dirty="0"/>
                </a:p>
              </p:txBody>
            </p:sp>
          </p:grpSp>
          <p:sp>
            <p:nvSpPr>
              <p:cNvPr id="198" name="197 CuadroTexto"/>
              <p:cNvSpPr txBox="1"/>
              <p:nvPr/>
            </p:nvSpPr>
            <p:spPr>
              <a:xfrm>
                <a:off x="4969021" y="1102707"/>
                <a:ext cx="13285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 err="1" smtClean="0"/>
                  <a:t>Lysis</a:t>
                </a:r>
                <a:r>
                  <a:rPr lang="en-GB" sz="1200" dirty="0" smtClean="0"/>
                  <a:t> &amp; hybridization</a:t>
                </a:r>
                <a:endParaRPr lang="en-GB" sz="1200" dirty="0"/>
              </a:p>
            </p:txBody>
          </p:sp>
          <p:sp>
            <p:nvSpPr>
              <p:cNvPr id="2" name="1 Flecha izquierda"/>
              <p:cNvSpPr/>
              <p:nvPr/>
            </p:nvSpPr>
            <p:spPr>
              <a:xfrm>
                <a:off x="2645067" y="4215684"/>
                <a:ext cx="687690" cy="177043"/>
              </a:xfrm>
              <a:prstGeom prst="lef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2 Elipse"/>
              <p:cNvSpPr/>
              <p:nvPr/>
            </p:nvSpPr>
            <p:spPr>
              <a:xfrm>
                <a:off x="4383133" y="4085625"/>
                <a:ext cx="258694" cy="125749"/>
              </a:xfrm>
              <a:prstGeom prst="ellipse">
                <a:avLst/>
              </a:prstGeom>
              <a:gradFill flip="none" rotWithShape="1">
                <a:gsLst>
                  <a:gs pos="0">
                    <a:srgbClr val="50D22C">
                      <a:shade val="30000"/>
                      <a:satMod val="115000"/>
                    </a:srgbClr>
                  </a:gs>
                  <a:gs pos="50000">
                    <a:srgbClr val="50D22C">
                      <a:shade val="67500"/>
                      <a:satMod val="115000"/>
                    </a:srgbClr>
                  </a:gs>
                  <a:gs pos="100000">
                    <a:srgbClr val="50D22C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9" name="198 Elipse"/>
              <p:cNvSpPr/>
              <p:nvPr/>
            </p:nvSpPr>
            <p:spPr>
              <a:xfrm>
                <a:off x="7070941" y="879840"/>
                <a:ext cx="258694" cy="125749"/>
              </a:xfrm>
              <a:prstGeom prst="ellipse">
                <a:avLst/>
              </a:prstGeom>
              <a:gradFill flip="none" rotWithShape="1">
                <a:gsLst>
                  <a:gs pos="0">
                    <a:srgbClr val="50D22C">
                      <a:shade val="30000"/>
                      <a:satMod val="115000"/>
                    </a:srgbClr>
                  </a:gs>
                  <a:gs pos="50000">
                    <a:srgbClr val="50D22C">
                      <a:shade val="67500"/>
                      <a:satMod val="115000"/>
                    </a:srgbClr>
                  </a:gs>
                  <a:gs pos="100000">
                    <a:srgbClr val="50D22C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1" name="200 CuadroTexto"/>
              <p:cNvSpPr txBox="1"/>
              <p:nvPr/>
            </p:nvSpPr>
            <p:spPr>
              <a:xfrm>
                <a:off x="179512" y="4025846"/>
                <a:ext cx="2376530" cy="52322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20000"/>
                      <a:lumOff val="80000"/>
                      <a:shade val="30000"/>
                      <a:satMod val="115000"/>
                    </a:schemeClr>
                  </a:gs>
                  <a:gs pos="50000">
                    <a:schemeClr val="accent2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2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Scanning &amp; Identification of necrotic compounds</a:t>
                </a:r>
                <a:endParaRPr lang="en-GB" sz="1400" dirty="0"/>
              </a:p>
            </p:txBody>
          </p:sp>
          <p:sp>
            <p:nvSpPr>
              <p:cNvPr id="203" name="202 CuadroTexto"/>
              <p:cNvSpPr txBox="1"/>
              <p:nvPr/>
            </p:nvSpPr>
            <p:spPr>
              <a:xfrm>
                <a:off x="3614666" y="441935"/>
                <a:ext cx="2434715" cy="52322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20000"/>
                      <a:lumOff val="80000"/>
                      <a:shade val="30000"/>
                      <a:satMod val="115000"/>
                    </a:schemeClr>
                  </a:gs>
                  <a:gs pos="50000">
                    <a:schemeClr val="accent2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2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Scanning &amp; Identification of apoptotic compounds</a:t>
                </a:r>
                <a:endParaRPr lang="en-GB" sz="1400" dirty="0"/>
              </a:p>
            </p:txBody>
          </p:sp>
          <p:sp>
            <p:nvSpPr>
              <p:cNvPr id="213" name="212 Flecha izquierda"/>
              <p:cNvSpPr/>
              <p:nvPr/>
            </p:nvSpPr>
            <p:spPr>
              <a:xfrm>
                <a:off x="6150208" y="659685"/>
                <a:ext cx="687690" cy="177043"/>
              </a:xfrm>
              <a:prstGeom prst="left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" name="4 CuadroTexto"/>
            <p:cNvSpPr txBox="1"/>
            <p:nvPr/>
          </p:nvSpPr>
          <p:spPr>
            <a:xfrm>
              <a:off x="-108520" y="3255367"/>
              <a:ext cx="13250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One-bead</a:t>
              </a:r>
              <a:b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one-compound</a:t>
              </a:r>
              <a:endParaRPr lang="en-GB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" name="214 CuadroTexto"/>
            <p:cNvSpPr txBox="1"/>
            <p:nvPr/>
          </p:nvSpPr>
          <p:spPr>
            <a:xfrm>
              <a:off x="4499992" y="3717032"/>
              <a:ext cx="13250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One-cell</a:t>
              </a:r>
              <a:b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n-GB" sz="1200" b="1" i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one-bead</a:t>
              </a:r>
              <a:endParaRPr lang="en-GB" sz="1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4" name="13 Grupo"/>
          <p:cNvGrpSpPr/>
          <p:nvPr/>
        </p:nvGrpSpPr>
        <p:grpSpPr>
          <a:xfrm>
            <a:off x="7164288" y="2025628"/>
            <a:ext cx="2841714" cy="3645069"/>
            <a:chOff x="7164288" y="2025628"/>
            <a:chExt cx="2841714" cy="3645069"/>
          </a:xfrm>
        </p:grpSpPr>
        <p:grpSp>
          <p:nvGrpSpPr>
            <p:cNvPr id="13" name="12 Grupo"/>
            <p:cNvGrpSpPr/>
            <p:nvPr/>
          </p:nvGrpSpPr>
          <p:grpSpPr>
            <a:xfrm>
              <a:off x="7164288" y="2025628"/>
              <a:ext cx="2841714" cy="3645069"/>
              <a:chOff x="6482814" y="2249935"/>
              <a:chExt cx="2299011" cy="3186425"/>
            </a:xfrm>
          </p:grpSpPr>
          <p:pic>
            <p:nvPicPr>
              <p:cNvPr id="8" name="7 Imagen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8069"/>
              <a:stretch/>
            </p:blipFill>
            <p:spPr>
              <a:xfrm>
                <a:off x="6482814" y="2274613"/>
                <a:ext cx="2299011" cy="3161747"/>
              </a:xfrm>
              <a:prstGeom prst="rect">
                <a:avLst/>
              </a:prstGeom>
            </p:spPr>
          </p:pic>
          <p:sp>
            <p:nvSpPr>
              <p:cNvPr id="11" name="10 Flecha derecha"/>
              <p:cNvSpPr/>
              <p:nvPr/>
            </p:nvSpPr>
            <p:spPr>
              <a:xfrm>
                <a:off x="6482814" y="2249935"/>
                <a:ext cx="97709" cy="171923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27" name="226 Elipse"/>
            <p:cNvSpPr/>
            <p:nvPr/>
          </p:nvSpPr>
          <p:spPr>
            <a:xfrm>
              <a:off x="8100392" y="2447682"/>
              <a:ext cx="58651" cy="75833"/>
            </a:xfrm>
            <a:prstGeom prst="ellipse">
              <a:avLst/>
            </a:prstGeom>
            <a:solidFill>
              <a:srgbClr val="C00000"/>
            </a:solidFill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257 Elipse"/>
            <p:cNvSpPr/>
            <p:nvPr/>
          </p:nvSpPr>
          <p:spPr>
            <a:xfrm>
              <a:off x="8905837" y="2777103"/>
              <a:ext cx="58651" cy="75833"/>
            </a:xfrm>
            <a:prstGeom prst="ellipse">
              <a:avLst/>
            </a:prstGeom>
            <a:solidFill>
              <a:srgbClr val="C00000"/>
            </a:solidFill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" name="258 Elipse"/>
            <p:cNvSpPr/>
            <p:nvPr/>
          </p:nvSpPr>
          <p:spPr>
            <a:xfrm>
              <a:off x="9521884" y="3501008"/>
              <a:ext cx="58651" cy="75833"/>
            </a:xfrm>
            <a:prstGeom prst="ellipse">
              <a:avLst/>
            </a:prstGeom>
            <a:solidFill>
              <a:srgbClr val="C00000"/>
            </a:solidFill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" name="259 Elipse"/>
            <p:cNvSpPr/>
            <p:nvPr/>
          </p:nvSpPr>
          <p:spPr>
            <a:xfrm>
              <a:off x="9612560" y="4107155"/>
              <a:ext cx="58651" cy="75833"/>
            </a:xfrm>
            <a:prstGeom prst="ellipse">
              <a:avLst/>
            </a:prstGeom>
            <a:solidFill>
              <a:srgbClr val="C00000"/>
            </a:solidFill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2000" endA="300" endPos="35000" dir="5400000" sy="-100000" algn="bl" rotWithShape="0"/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11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253 Grupo"/>
          <p:cNvGrpSpPr/>
          <p:nvPr/>
        </p:nvGrpSpPr>
        <p:grpSpPr>
          <a:xfrm>
            <a:off x="-3096" y="2166736"/>
            <a:ext cx="9669141" cy="4019544"/>
            <a:chOff x="-3096" y="2166736"/>
            <a:chExt cx="9669141" cy="4019544"/>
          </a:xfrm>
        </p:grpSpPr>
        <p:grpSp>
          <p:nvGrpSpPr>
            <p:cNvPr id="3" name="2 Grupo"/>
            <p:cNvGrpSpPr/>
            <p:nvPr/>
          </p:nvGrpSpPr>
          <p:grpSpPr>
            <a:xfrm>
              <a:off x="776497" y="4635601"/>
              <a:ext cx="1815492" cy="1385324"/>
              <a:chOff x="1402287" y="836711"/>
              <a:chExt cx="1815492" cy="1922530"/>
            </a:xfr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Text Box 123"/>
              <p:cNvSpPr txBox="1">
                <a:spLocks noChangeArrowheads="1"/>
              </p:cNvSpPr>
              <p:nvPr/>
            </p:nvSpPr>
            <p:spPr bwMode="auto">
              <a:xfrm>
                <a:off x="1435100" y="2146300"/>
                <a:ext cx="1265238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/>
                  <a:t>DNA microarray</a:t>
                </a:r>
                <a:endParaRPr lang="en-GB" sz="1200"/>
              </a:p>
            </p:txBody>
          </p:sp>
          <p:sp>
            <p:nvSpPr>
              <p:cNvPr id="40" name="Text Box 128"/>
              <p:cNvSpPr txBox="1">
                <a:spLocks noChangeArrowheads="1"/>
              </p:cNvSpPr>
              <p:nvPr/>
            </p:nvSpPr>
            <p:spPr bwMode="auto">
              <a:xfrm>
                <a:off x="2335213" y="1557338"/>
                <a:ext cx="268287" cy="27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sz="1200" i="1"/>
                  <a:t>b</a:t>
                </a:r>
                <a:endParaRPr lang="en-GB" sz="1200" i="1"/>
              </a:p>
            </p:txBody>
          </p:sp>
          <p:sp>
            <p:nvSpPr>
              <p:cNvPr id="41" name="Oval 36"/>
              <p:cNvSpPr>
                <a:spLocks noChangeAspect="1" noChangeArrowheads="1"/>
              </p:cNvSpPr>
              <p:nvPr/>
            </p:nvSpPr>
            <p:spPr bwMode="auto">
              <a:xfrm>
                <a:off x="1402287" y="836711"/>
                <a:ext cx="1815492" cy="1922530"/>
              </a:xfrm>
              <a:prstGeom prst="ellipse">
                <a:avLst/>
              </a:prstGeom>
              <a:solidFill>
                <a:srgbClr val="99CCFF"/>
              </a:solidFill>
              <a:ln/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0000" dist="23000" dir="5400000" rotWithShape="0">
                  <a:srgbClr val="000000">
                    <a:alpha val="35000"/>
                  </a:srgbClr>
                </a:outerShdw>
                <a:reflection blurRad="6350" stA="50000" endA="300" endPos="55000" dir="5400000" sy="-100000" algn="bl" rotWithShape="0"/>
              </a:effectLst>
              <a:scene3d>
                <a:camera prst="orthographicFront"/>
                <a:lightRig rig="threePt" dir="t"/>
              </a:scene3d>
              <a:sp3d prstMaterial="powder">
                <a:bevelT prst="convex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41 Forma libre"/>
              <p:cNvSpPr/>
              <p:nvPr/>
            </p:nvSpPr>
            <p:spPr>
              <a:xfrm>
                <a:off x="1474442" y="925713"/>
                <a:ext cx="1672618" cy="1111885"/>
              </a:xfrm>
              <a:custGeom>
                <a:avLst/>
                <a:gdLst>
                  <a:gd name="connsiteX0" fmla="*/ 64798 w 1672618"/>
                  <a:gd name="connsiteY0" fmla="*/ 666867 h 1111885"/>
                  <a:gd name="connsiteX1" fmla="*/ 377218 w 1672618"/>
                  <a:gd name="connsiteY1" fmla="*/ 781167 h 1111885"/>
                  <a:gd name="connsiteX2" fmla="*/ 506758 w 1672618"/>
                  <a:gd name="connsiteY2" fmla="*/ 461127 h 1111885"/>
                  <a:gd name="connsiteX3" fmla="*/ 872518 w 1672618"/>
                  <a:gd name="connsiteY3" fmla="*/ 560187 h 1111885"/>
                  <a:gd name="connsiteX4" fmla="*/ 918238 w 1672618"/>
                  <a:gd name="connsiteY4" fmla="*/ 270627 h 1111885"/>
                  <a:gd name="connsiteX5" fmla="*/ 499138 w 1672618"/>
                  <a:gd name="connsiteY5" fmla="*/ 301107 h 1111885"/>
                  <a:gd name="connsiteX6" fmla="*/ 628678 w 1672618"/>
                  <a:gd name="connsiteY6" fmla="*/ 842127 h 1111885"/>
                  <a:gd name="connsiteX7" fmla="*/ 1276378 w 1672618"/>
                  <a:gd name="connsiteY7" fmla="*/ 537327 h 1111885"/>
                  <a:gd name="connsiteX8" fmla="*/ 1093498 w 1672618"/>
                  <a:gd name="connsiteY8" fmla="*/ 285867 h 1111885"/>
                  <a:gd name="connsiteX9" fmla="*/ 773458 w 1672618"/>
                  <a:gd name="connsiteY9" fmla="*/ 964047 h 1111885"/>
                  <a:gd name="connsiteX10" fmla="*/ 262918 w 1672618"/>
                  <a:gd name="connsiteY10" fmla="*/ 1032627 h 1111885"/>
                  <a:gd name="connsiteX11" fmla="*/ 377218 w 1672618"/>
                  <a:gd name="connsiteY11" fmla="*/ 354447 h 1111885"/>
                  <a:gd name="connsiteX12" fmla="*/ 1154458 w 1672618"/>
                  <a:gd name="connsiteY12" fmla="*/ 125847 h 1111885"/>
                  <a:gd name="connsiteX13" fmla="*/ 1040158 w 1672618"/>
                  <a:gd name="connsiteY13" fmla="*/ 994527 h 1111885"/>
                  <a:gd name="connsiteX14" fmla="*/ 1573558 w 1672618"/>
                  <a:gd name="connsiteY14" fmla="*/ 941187 h 1111885"/>
                  <a:gd name="connsiteX15" fmla="*/ 1398298 w 1672618"/>
                  <a:gd name="connsiteY15" fmla="*/ 346827 h 1111885"/>
                  <a:gd name="connsiteX16" fmla="*/ 102898 w 1672618"/>
                  <a:gd name="connsiteY16" fmla="*/ 1070727 h 1111885"/>
                  <a:gd name="connsiteX17" fmla="*/ 133378 w 1672618"/>
                  <a:gd name="connsiteY17" fmla="*/ 453507 h 1111885"/>
                  <a:gd name="connsiteX18" fmla="*/ 552478 w 1672618"/>
                  <a:gd name="connsiteY18" fmla="*/ 64887 h 1111885"/>
                  <a:gd name="connsiteX19" fmla="*/ 781078 w 1672618"/>
                  <a:gd name="connsiteY19" fmla="*/ 499227 h 1111885"/>
                  <a:gd name="connsiteX20" fmla="*/ 1002058 w 1672618"/>
                  <a:gd name="connsiteY20" fmla="*/ 1108827 h 1111885"/>
                  <a:gd name="connsiteX21" fmla="*/ 1383058 w 1672618"/>
                  <a:gd name="connsiteY21" fmla="*/ 712587 h 1111885"/>
                  <a:gd name="connsiteX22" fmla="*/ 1337338 w 1672618"/>
                  <a:gd name="connsiteY22" fmla="*/ 217287 h 1111885"/>
                  <a:gd name="connsiteX23" fmla="*/ 826798 w 1672618"/>
                  <a:gd name="connsiteY23" fmla="*/ 11547 h 1111885"/>
                  <a:gd name="connsiteX24" fmla="*/ 636298 w 1672618"/>
                  <a:gd name="connsiteY24" fmla="*/ 537327 h 1111885"/>
                  <a:gd name="connsiteX25" fmla="*/ 1436398 w 1672618"/>
                  <a:gd name="connsiteY25" fmla="*/ 956427 h 1111885"/>
                  <a:gd name="connsiteX26" fmla="*/ 1672618 w 1672618"/>
                  <a:gd name="connsiteY26" fmla="*/ 804027 h 111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672618" h="1111885">
                    <a:moveTo>
                      <a:pt x="64798" y="666867"/>
                    </a:moveTo>
                    <a:cubicBezTo>
                      <a:pt x="184178" y="741162"/>
                      <a:pt x="303558" y="815457"/>
                      <a:pt x="377218" y="781167"/>
                    </a:cubicBezTo>
                    <a:cubicBezTo>
                      <a:pt x="450878" y="746877"/>
                      <a:pt x="424208" y="497957"/>
                      <a:pt x="506758" y="461127"/>
                    </a:cubicBezTo>
                    <a:cubicBezTo>
                      <a:pt x="589308" y="424297"/>
                      <a:pt x="803938" y="591937"/>
                      <a:pt x="872518" y="560187"/>
                    </a:cubicBezTo>
                    <a:cubicBezTo>
                      <a:pt x="941098" y="528437"/>
                      <a:pt x="980468" y="313807"/>
                      <a:pt x="918238" y="270627"/>
                    </a:cubicBezTo>
                    <a:cubicBezTo>
                      <a:pt x="856008" y="227447"/>
                      <a:pt x="547398" y="205857"/>
                      <a:pt x="499138" y="301107"/>
                    </a:cubicBezTo>
                    <a:cubicBezTo>
                      <a:pt x="450878" y="396357"/>
                      <a:pt x="499138" y="802757"/>
                      <a:pt x="628678" y="842127"/>
                    </a:cubicBezTo>
                    <a:cubicBezTo>
                      <a:pt x="758218" y="881497"/>
                      <a:pt x="1198908" y="630037"/>
                      <a:pt x="1276378" y="537327"/>
                    </a:cubicBezTo>
                    <a:cubicBezTo>
                      <a:pt x="1353848" y="444617"/>
                      <a:pt x="1177318" y="214747"/>
                      <a:pt x="1093498" y="285867"/>
                    </a:cubicBezTo>
                    <a:cubicBezTo>
                      <a:pt x="1009678" y="356987"/>
                      <a:pt x="911888" y="839587"/>
                      <a:pt x="773458" y="964047"/>
                    </a:cubicBezTo>
                    <a:cubicBezTo>
                      <a:pt x="635028" y="1088507"/>
                      <a:pt x="328958" y="1134227"/>
                      <a:pt x="262918" y="1032627"/>
                    </a:cubicBezTo>
                    <a:cubicBezTo>
                      <a:pt x="196878" y="931027"/>
                      <a:pt x="228628" y="505577"/>
                      <a:pt x="377218" y="354447"/>
                    </a:cubicBezTo>
                    <a:cubicBezTo>
                      <a:pt x="525808" y="203317"/>
                      <a:pt x="1043968" y="19167"/>
                      <a:pt x="1154458" y="125847"/>
                    </a:cubicBezTo>
                    <a:cubicBezTo>
                      <a:pt x="1264948" y="232527"/>
                      <a:pt x="970308" y="858637"/>
                      <a:pt x="1040158" y="994527"/>
                    </a:cubicBezTo>
                    <a:cubicBezTo>
                      <a:pt x="1110008" y="1130417"/>
                      <a:pt x="1513868" y="1049137"/>
                      <a:pt x="1573558" y="941187"/>
                    </a:cubicBezTo>
                    <a:cubicBezTo>
                      <a:pt x="1633248" y="833237"/>
                      <a:pt x="1643408" y="325237"/>
                      <a:pt x="1398298" y="346827"/>
                    </a:cubicBezTo>
                    <a:cubicBezTo>
                      <a:pt x="1153188" y="368417"/>
                      <a:pt x="313718" y="1052947"/>
                      <a:pt x="102898" y="1070727"/>
                    </a:cubicBezTo>
                    <a:cubicBezTo>
                      <a:pt x="-107922" y="1088507"/>
                      <a:pt x="58448" y="621147"/>
                      <a:pt x="133378" y="453507"/>
                    </a:cubicBezTo>
                    <a:cubicBezTo>
                      <a:pt x="208308" y="285867"/>
                      <a:pt x="444528" y="57267"/>
                      <a:pt x="552478" y="64887"/>
                    </a:cubicBezTo>
                    <a:cubicBezTo>
                      <a:pt x="660428" y="72507"/>
                      <a:pt x="706148" y="325237"/>
                      <a:pt x="781078" y="499227"/>
                    </a:cubicBezTo>
                    <a:cubicBezTo>
                      <a:pt x="856008" y="673217"/>
                      <a:pt x="901728" y="1073267"/>
                      <a:pt x="1002058" y="1108827"/>
                    </a:cubicBezTo>
                    <a:cubicBezTo>
                      <a:pt x="1102388" y="1144387"/>
                      <a:pt x="1327178" y="861177"/>
                      <a:pt x="1383058" y="712587"/>
                    </a:cubicBezTo>
                    <a:cubicBezTo>
                      <a:pt x="1438938" y="563997"/>
                      <a:pt x="1430048" y="334127"/>
                      <a:pt x="1337338" y="217287"/>
                    </a:cubicBezTo>
                    <a:cubicBezTo>
                      <a:pt x="1244628" y="100447"/>
                      <a:pt x="943638" y="-41793"/>
                      <a:pt x="826798" y="11547"/>
                    </a:cubicBezTo>
                    <a:cubicBezTo>
                      <a:pt x="709958" y="64887"/>
                      <a:pt x="534698" y="379847"/>
                      <a:pt x="636298" y="537327"/>
                    </a:cubicBezTo>
                    <a:cubicBezTo>
                      <a:pt x="737898" y="694807"/>
                      <a:pt x="1263678" y="911977"/>
                      <a:pt x="1436398" y="956427"/>
                    </a:cubicBezTo>
                    <a:cubicBezTo>
                      <a:pt x="1609118" y="1000877"/>
                      <a:pt x="1640868" y="902452"/>
                      <a:pt x="1672618" y="804027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42 Elipse"/>
              <p:cNvSpPr>
                <a:spLocks noChangeAspect="1"/>
              </p:cNvSpPr>
              <p:nvPr/>
            </p:nvSpPr>
            <p:spPr>
              <a:xfrm>
                <a:off x="2516189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43 Elipse"/>
              <p:cNvSpPr>
                <a:spLocks noChangeAspect="1"/>
              </p:cNvSpPr>
              <p:nvPr/>
            </p:nvSpPr>
            <p:spPr>
              <a:xfrm>
                <a:off x="2668589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44 Elipse"/>
              <p:cNvSpPr>
                <a:spLocks noChangeAspect="1"/>
              </p:cNvSpPr>
              <p:nvPr/>
            </p:nvSpPr>
            <p:spPr>
              <a:xfrm>
                <a:off x="2123730" y="16455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45 Elipse"/>
              <p:cNvSpPr>
                <a:spLocks noChangeAspect="1"/>
              </p:cNvSpPr>
              <p:nvPr/>
            </p:nvSpPr>
            <p:spPr>
              <a:xfrm>
                <a:off x="2276130" y="13407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46 Elipse"/>
              <p:cNvSpPr>
                <a:spLocks noChangeAspect="1"/>
              </p:cNvSpPr>
              <p:nvPr/>
            </p:nvSpPr>
            <p:spPr>
              <a:xfrm>
                <a:off x="1763690" y="1493169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47 Elipse"/>
              <p:cNvSpPr>
                <a:spLocks noChangeAspect="1"/>
              </p:cNvSpPr>
              <p:nvPr/>
            </p:nvSpPr>
            <p:spPr>
              <a:xfrm>
                <a:off x="1907706" y="178524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48 Elipse"/>
              <p:cNvSpPr>
                <a:spLocks noChangeAspect="1"/>
              </p:cNvSpPr>
              <p:nvPr/>
            </p:nvSpPr>
            <p:spPr>
              <a:xfrm>
                <a:off x="1501947" y="191683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49 Elipse"/>
              <p:cNvSpPr>
                <a:spLocks noChangeAspect="1"/>
              </p:cNvSpPr>
              <p:nvPr/>
            </p:nvSpPr>
            <p:spPr>
              <a:xfrm>
                <a:off x="1717971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50 Elipse"/>
              <p:cNvSpPr>
                <a:spLocks noChangeAspect="1"/>
              </p:cNvSpPr>
              <p:nvPr/>
            </p:nvSpPr>
            <p:spPr>
              <a:xfrm>
                <a:off x="2206787" y="1196753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51 Elipse"/>
              <p:cNvSpPr>
                <a:spLocks noChangeAspect="1"/>
              </p:cNvSpPr>
              <p:nvPr/>
            </p:nvSpPr>
            <p:spPr>
              <a:xfrm>
                <a:off x="2350803" y="15692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52 Elipse"/>
              <p:cNvSpPr>
                <a:spLocks noChangeAspect="1"/>
              </p:cNvSpPr>
              <p:nvPr/>
            </p:nvSpPr>
            <p:spPr>
              <a:xfrm>
                <a:off x="2726083" y="1721621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53 Elipse"/>
              <p:cNvSpPr>
                <a:spLocks noChangeAspect="1"/>
              </p:cNvSpPr>
              <p:nvPr/>
            </p:nvSpPr>
            <p:spPr>
              <a:xfrm>
                <a:off x="3014115" y="1844825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54 Elipse"/>
              <p:cNvSpPr>
                <a:spLocks noChangeAspect="1"/>
              </p:cNvSpPr>
              <p:nvPr/>
            </p:nvSpPr>
            <p:spPr>
              <a:xfrm>
                <a:off x="2359187" y="9163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55 Elipse"/>
              <p:cNvSpPr>
                <a:spLocks noChangeAspect="1"/>
              </p:cNvSpPr>
              <p:nvPr/>
            </p:nvSpPr>
            <p:spPr>
              <a:xfrm>
                <a:off x="2663130" y="106874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56 Elipse"/>
              <p:cNvSpPr>
                <a:spLocks noChangeAspect="1"/>
              </p:cNvSpPr>
              <p:nvPr/>
            </p:nvSpPr>
            <p:spPr>
              <a:xfrm>
                <a:off x="2815530" y="1292990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57 Elipse"/>
              <p:cNvSpPr>
                <a:spLocks noChangeAspect="1"/>
              </p:cNvSpPr>
              <p:nvPr/>
            </p:nvSpPr>
            <p:spPr>
              <a:xfrm>
                <a:off x="2375098" y="1797046"/>
                <a:ext cx="36662" cy="47778"/>
              </a:xfrm>
              <a:prstGeom prst="ellipse">
                <a:avLst/>
              </a:prstGeom>
              <a:solidFill>
                <a:schemeClr val="accent1">
                  <a:lumMod val="25000"/>
                </a:schemeClr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7" name="126 Grupo"/>
            <p:cNvGrpSpPr/>
            <p:nvPr/>
          </p:nvGrpSpPr>
          <p:grpSpPr>
            <a:xfrm>
              <a:off x="-3096" y="2934475"/>
              <a:ext cx="2316162" cy="728662"/>
              <a:chOff x="488156" y="2539901"/>
              <a:chExt cx="2316162" cy="728662"/>
            </a:xfrm>
          </p:grpSpPr>
          <p:sp>
            <p:nvSpPr>
              <p:cNvPr id="128" name="AutoShape 66" descr="Dark upward diagonal"/>
              <p:cNvSpPr>
                <a:spLocks noChangeArrowheads="1"/>
              </p:cNvSpPr>
              <p:nvPr/>
            </p:nvSpPr>
            <p:spPr bwMode="auto">
              <a:xfrm>
                <a:off x="488156" y="2541488"/>
                <a:ext cx="2316162" cy="727075"/>
              </a:xfrm>
              <a:prstGeom prst="cube">
                <a:avLst>
                  <a:gd name="adj" fmla="val 92014"/>
                </a:avLst>
              </a:prstGeom>
              <a:pattFill prst="dkUpDiag">
                <a:fgClr>
                  <a:srgbClr val="C0C0C0"/>
                </a:fgClr>
                <a:bgClr>
                  <a:srgbClr val="FFFFFF"/>
                </a:bgClr>
              </a:pattFill>
              <a:ln w="6350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129" name="Group 75"/>
              <p:cNvGrpSpPr>
                <a:grpSpLocks/>
              </p:cNvGrpSpPr>
              <p:nvPr/>
            </p:nvGrpSpPr>
            <p:grpSpPr bwMode="auto">
              <a:xfrm>
                <a:off x="759618" y="2549426"/>
                <a:ext cx="709612" cy="682625"/>
                <a:chOff x="5786" y="3472"/>
                <a:chExt cx="991" cy="1015"/>
              </a:xfrm>
            </p:grpSpPr>
            <p:grpSp>
              <p:nvGrpSpPr>
                <p:cNvPr id="150" name="Group 76"/>
                <p:cNvGrpSpPr>
                  <a:grpSpLocks/>
                </p:cNvGrpSpPr>
                <p:nvPr/>
              </p:nvGrpSpPr>
              <p:grpSpPr bwMode="auto">
                <a:xfrm>
                  <a:off x="5786" y="4127"/>
                  <a:ext cx="360" cy="360"/>
                  <a:chOff x="1443" y="5577"/>
                  <a:chExt cx="1080" cy="900"/>
                </a:xfrm>
              </p:grpSpPr>
              <p:sp>
                <p:nvSpPr>
                  <p:cNvPr id="157" name="Oval 77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58" name="AutoShape 78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51" name="Group 79"/>
                <p:cNvGrpSpPr>
                  <a:grpSpLocks/>
                </p:cNvGrpSpPr>
                <p:nvPr/>
              </p:nvGrpSpPr>
              <p:grpSpPr bwMode="auto">
                <a:xfrm>
                  <a:off x="6120" y="3793"/>
                  <a:ext cx="360" cy="360"/>
                  <a:chOff x="1443" y="5577"/>
                  <a:chExt cx="1080" cy="900"/>
                </a:xfrm>
              </p:grpSpPr>
              <p:sp>
                <p:nvSpPr>
                  <p:cNvPr id="155" name="Oval 80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56" name="AutoShape 81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52" name="Group 82"/>
                <p:cNvGrpSpPr>
                  <a:grpSpLocks/>
                </p:cNvGrpSpPr>
                <p:nvPr/>
              </p:nvGrpSpPr>
              <p:grpSpPr bwMode="auto">
                <a:xfrm>
                  <a:off x="6417" y="3472"/>
                  <a:ext cx="360" cy="360"/>
                  <a:chOff x="1443" y="5577"/>
                  <a:chExt cx="1080" cy="900"/>
                </a:xfrm>
              </p:grpSpPr>
              <p:sp>
                <p:nvSpPr>
                  <p:cNvPr id="153" name="Oval 83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54" name="AutoShape 84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</p:grpSp>
          <p:grpSp>
            <p:nvGrpSpPr>
              <p:cNvPr id="130" name="Group 126"/>
              <p:cNvGrpSpPr>
                <a:grpSpLocks/>
              </p:cNvGrpSpPr>
              <p:nvPr/>
            </p:nvGrpSpPr>
            <p:grpSpPr bwMode="auto">
              <a:xfrm>
                <a:off x="1796256" y="2555776"/>
                <a:ext cx="709612" cy="682625"/>
                <a:chOff x="5786" y="3472"/>
                <a:chExt cx="991" cy="1015"/>
              </a:xfrm>
            </p:grpSpPr>
            <p:grpSp>
              <p:nvGrpSpPr>
                <p:cNvPr id="141" name="Group 127"/>
                <p:cNvGrpSpPr>
                  <a:grpSpLocks/>
                </p:cNvGrpSpPr>
                <p:nvPr/>
              </p:nvGrpSpPr>
              <p:grpSpPr bwMode="auto">
                <a:xfrm>
                  <a:off x="5786" y="4127"/>
                  <a:ext cx="360" cy="360"/>
                  <a:chOff x="1443" y="5577"/>
                  <a:chExt cx="1080" cy="900"/>
                </a:xfrm>
              </p:grpSpPr>
              <p:sp>
                <p:nvSpPr>
                  <p:cNvPr id="148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49" name="AutoShape 129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42" name="Group 130"/>
                <p:cNvGrpSpPr>
                  <a:grpSpLocks/>
                </p:cNvGrpSpPr>
                <p:nvPr/>
              </p:nvGrpSpPr>
              <p:grpSpPr bwMode="auto">
                <a:xfrm>
                  <a:off x="6120" y="3793"/>
                  <a:ext cx="360" cy="360"/>
                  <a:chOff x="1443" y="5577"/>
                  <a:chExt cx="1080" cy="900"/>
                </a:xfrm>
              </p:grpSpPr>
              <p:sp>
                <p:nvSpPr>
                  <p:cNvPr id="146" name="Oval 131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47" name="AutoShape 132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43" name="Group 133"/>
                <p:cNvGrpSpPr>
                  <a:grpSpLocks/>
                </p:cNvGrpSpPr>
                <p:nvPr/>
              </p:nvGrpSpPr>
              <p:grpSpPr bwMode="auto">
                <a:xfrm>
                  <a:off x="6417" y="3472"/>
                  <a:ext cx="360" cy="360"/>
                  <a:chOff x="1443" y="5577"/>
                  <a:chExt cx="1080" cy="900"/>
                </a:xfrm>
              </p:grpSpPr>
              <p:sp>
                <p:nvSpPr>
                  <p:cNvPr id="144" name="Oval 134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45" name="AutoShape 135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</p:grpSp>
          <p:grpSp>
            <p:nvGrpSpPr>
              <p:cNvPr id="131" name="Group 116"/>
              <p:cNvGrpSpPr>
                <a:grpSpLocks/>
              </p:cNvGrpSpPr>
              <p:nvPr/>
            </p:nvGrpSpPr>
            <p:grpSpPr bwMode="auto">
              <a:xfrm>
                <a:off x="1278731" y="2539901"/>
                <a:ext cx="709612" cy="682625"/>
                <a:chOff x="5786" y="3472"/>
                <a:chExt cx="991" cy="1015"/>
              </a:xfrm>
            </p:grpSpPr>
            <p:grpSp>
              <p:nvGrpSpPr>
                <p:cNvPr id="132" name="Group 117"/>
                <p:cNvGrpSpPr>
                  <a:grpSpLocks/>
                </p:cNvGrpSpPr>
                <p:nvPr/>
              </p:nvGrpSpPr>
              <p:grpSpPr bwMode="auto">
                <a:xfrm>
                  <a:off x="5786" y="4127"/>
                  <a:ext cx="360" cy="360"/>
                  <a:chOff x="1443" y="5577"/>
                  <a:chExt cx="1080" cy="900"/>
                </a:xfrm>
              </p:grpSpPr>
              <p:sp>
                <p:nvSpPr>
                  <p:cNvPr id="139" name="Oval 118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40" name="AutoShape 119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33" name="Group 120"/>
                <p:cNvGrpSpPr>
                  <a:grpSpLocks/>
                </p:cNvGrpSpPr>
                <p:nvPr/>
              </p:nvGrpSpPr>
              <p:grpSpPr bwMode="auto">
                <a:xfrm>
                  <a:off x="6120" y="3793"/>
                  <a:ext cx="360" cy="360"/>
                  <a:chOff x="1443" y="5577"/>
                  <a:chExt cx="1080" cy="900"/>
                </a:xfrm>
              </p:grpSpPr>
              <p:sp>
                <p:nvSpPr>
                  <p:cNvPr id="137" name="Oval 121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38" name="AutoShape 122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bg2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  <p:grpSp>
              <p:nvGrpSpPr>
                <p:cNvPr id="134" name="Group 123"/>
                <p:cNvGrpSpPr>
                  <a:grpSpLocks/>
                </p:cNvGrpSpPr>
                <p:nvPr/>
              </p:nvGrpSpPr>
              <p:grpSpPr bwMode="auto">
                <a:xfrm>
                  <a:off x="6417" y="3472"/>
                  <a:ext cx="360" cy="360"/>
                  <a:chOff x="1443" y="5577"/>
                  <a:chExt cx="1080" cy="900"/>
                </a:xfrm>
              </p:grpSpPr>
              <p:sp>
                <p:nvSpPr>
                  <p:cNvPr id="135" name="Oval 124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812"/>
                    <a:ext cx="1080" cy="36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36" name="AutoShape 125"/>
                  <p:cNvSpPr>
                    <a:spLocks noChangeArrowheads="1"/>
                  </p:cNvSpPr>
                  <p:nvPr/>
                </p:nvSpPr>
                <p:spPr bwMode="auto">
                  <a:xfrm>
                    <a:off x="1443" y="5577"/>
                    <a:ext cx="1080" cy="900"/>
                  </a:xfrm>
                  <a:custGeom>
                    <a:avLst/>
                    <a:gdLst>
                      <a:gd name="G0" fmla="+- 120 0 0"/>
                      <a:gd name="G1" fmla="+- 11796480 0 0"/>
                      <a:gd name="G2" fmla="+- 0 0 11796480"/>
                      <a:gd name="T0" fmla="*/ 0 256 1"/>
                      <a:gd name="T1" fmla="*/ 180 256 1"/>
                      <a:gd name="G3" fmla="+- 11796480 T0 T1"/>
                      <a:gd name="T2" fmla="*/ 0 256 1"/>
                      <a:gd name="T3" fmla="*/ 90 256 1"/>
                      <a:gd name="G4" fmla="+- 11796480 T2 T3"/>
                      <a:gd name="G5" fmla="*/ G4 2 1"/>
                      <a:gd name="T4" fmla="*/ 90 256 1"/>
                      <a:gd name="T5" fmla="*/ 0 256 1"/>
                      <a:gd name="G6" fmla="+- 11796480 T4 T5"/>
                      <a:gd name="G7" fmla="*/ G6 2 1"/>
                      <a:gd name="G8" fmla="abs 11796480"/>
                      <a:gd name="T6" fmla="*/ 0 256 1"/>
                      <a:gd name="T7" fmla="*/ 90 256 1"/>
                      <a:gd name="G9" fmla="+- G8 T6 T7"/>
                      <a:gd name="G10" fmla="?: G9 G7 G5"/>
                      <a:gd name="T8" fmla="*/ 0 256 1"/>
                      <a:gd name="T9" fmla="*/ 360 256 1"/>
                      <a:gd name="G11" fmla="+- G10 T8 T9"/>
                      <a:gd name="G12" fmla="?: G10 G11 G10"/>
                      <a:gd name="T10" fmla="*/ 0 256 1"/>
                      <a:gd name="T11" fmla="*/ 360 256 1"/>
                      <a:gd name="G13" fmla="+- G12 T10 T11"/>
                      <a:gd name="G14" fmla="?: G12 G13 G12"/>
                      <a:gd name="G15" fmla="+- 0 0 G14"/>
                      <a:gd name="G16" fmla="+- 10800 0 0"/>
                      <a:gd name="G17" fmla="+- 10800 0 120"/>
                      <a:gd name="G18" fmla="*/ 120 1 2"/>
                      <a:gd name="G19" fmla="+- G18 5400 0"/>
                      <a:gd name="G20" fmla="cos G19 11796480"/>
                      <a:gd name="G21" fmla="sin G19 11796480"/>
                      <a:gd name="G22" fmla="+- G20 10800 0"/>
                      <a:gd name="G23" fmla="+- G21 10800 0"/>
                      <a:gd name="G24" fmla="+- 10800 0 G20"/>
                      <a:gd name="G25" fmla="+- 120 10800 0"/>
                      <a:gd name="G26" fmla="?: G9 G17 G25"/>
                      <a:gd name="G27" fmla="?: G9 0 21600"/>
                      <a:gd name="G28" fmla="cos 10800 11796480"/>
                      <a:gd name="G29" fmla="sin 10800 11796480"/>
                      <a:gd name="G30" fmla="sin 120 11796480"/>
                      <a:gd name="G31" fmla="+- G28 10800 0"/>
                      <a:gd name="G32" fmla="+- G29 10800 0"/>
                      <a:gd name="G33" fmla="+- G30 10800 0"/>
                      <a:gd name="G34" fmla="?: G4 0 G31"/>
                      <a:gd name="G35" fmla="?: 11796480 G34 0"/>
                      <a:gd name="G36" fmla="?: G6 G35 G31"/>
                      <a:gd name="G37" fmla="+- 21600 0 G36"/>
                      <a:gd name="G38" fmla="?: G4 0 G33"/>
                      <a:gd name="G39" fmla="?: 11796480 G38 G32"/>
                      <a:gd name="G40" fmla="?: G6 G39 0"/>
                      <a:gd name="G41" fmla="?: G4 G32 21600"/>
                      <a:gd name="G42" fmla="?: G6 G41 G33"/>
                      <a:gd name="T12" fmla="*/ 10800 w 21600"/>
                      <a:gd name="T13" fmla="*/ 0 h 21600"/>
                      <a:gd name="T14" fmla="*/ 5340 w 21600"/>
                      <a:gd name="T15" fmla="*/ 10800 h 21600"/>
                      <a:gd name="T16" fmla="*/ 10800 w 21600"/>
                      <a:gd name="T17" fmla="*/ 10680 h 21600"/>
                      <a:gd name="T18" fmla="*/ 16260 w 21600"/>
                      <a:gd name="T19" fmla="*/ 10800 h 21600"/>
                      <a:gd name="T20" fmla="*/ G36 w 21600"/>
                      <a:gd name="T21" fmla="*/ G40 h 21600"/>
                      <a:gd name="T22" fmla="*/ G37 w 21600"/>
                      <a:gd name="T23" fmla="*/ G42 h 21600"/>
                    </a:gdLst>
                    <a:ahLst/>
                    <a:cxnLst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T20" t="T21" r="T22" b="T23"/>
                    <a:pathLst>
                      <a:path w="21600" h="21600">
                        <a:moveTo>
                          <a:pt x="10680" y="10800"/>
                        </a:moveTo>
                        <a:cubicBezTo>
                          <a:pt x="10680" y="10733"/>
                          <a:pt x="10733" y="10680"/>
                          <a:pt x="10800" y="10680"/>
                        </a:cubicBezTo>
                        <a:cubicBezTo>
                          <a:pt x="10866" y="10679"/>
                          <a:pt x="10919" y="10733"/>
                          <a:pt x="10920" y="10799"/>
                        </a:cubicBezTo>
                        <a:lnTo>
                          <a:pt x="21600" y="10800"/>
                        </a:lnTo>
                        <a:cubicBezTo>
                          <a:pt x="21600" y="4835"/>
                          <a:pt x="16764" y="0"/>
                          <a:pt x="10800" y="0"/>
                        </a:cubicBezTo>
                        <a:cubicBezTo>
                          <a:pt x="4835" y="0"/>
                          <a:pt x="0" y="4835"/>
                          <a:pt x="0" y="1080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chemeClr val="tx1"/>
                      </a:gs>
                      <a:gs pos="100000">
                        <a:srgbClr val="00CCFF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>
                      <a:solidFill>
                        <a:srgbClr val="C0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159" name="Rectangle 38" descr="Dark upward diagonal"/>
            <p:cNvSpPr>
              <a:spLocks noChangeArrowheads="1"/>
            </p:cNvSpPr>
            <p:nvPr/>
          </p:nvSpPr>
          <p:spPr bwMode="auto">
            <a:xfrm>
              <a:off x="211359" y="5541551"/>
              <a:ext cx="2956658" cy="64472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60" name="159 Conector recto"/>
            <p:cNvCxnSpPr/>
            <p:nvPr/>
          </p:nvCxnSpPr>
          <p:spPr>
            <a:xfrm flipH="1">
              <a:off x="832552" y="3432255"/>
              <a:ext cx="494404" cy="1602268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160 Conector recto"/>
            <p:cNvCxnSpPr/>
            <p:nvPr/>
          </p:nvCxnSpPr>
          <p:spPr>
            <a:xfrm>
              <a:off x="1537469" y="3432255"/>
              <a:ext cx="983801" cy="1607104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164 Conector recto"/>
            <p:cNvCxnSpPr>
              <a:endCxn id="41" idx="7"/>
            </p:cNvCxnSpPr>
            <p:nvPr/>
          </p:nvCxnSpPr>
          <p:spPr>
            <a:xfrm flipH="1">
              <a:off x="2326116" y="3648180"/>
              <a:ext cx="1537761" cy="119029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7" name="166 Objeto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1241298"/>
                </p:ext>
              </p:extLst>
            </p:nvPr>
          </p:nvGraphicFramePr>
          <p:xfrm>
            <a:off x="3901327" y="3572381"/>
            <a:ext cx="2784103" cy="1992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CS ChemDraw Drawing" r:id="rId3" imgW="3431676" imgH="2456351" progId="ChemDraw.Document.6.0">
                    <p:embed/>
                  </p:oleObj>
                </mc:Choice>
                <mc:Fallback>
                  <p:oleObj name="CS ChemDraw Drawing" r:id="rId3" imgW="3431676" imgH="2456351" progId="ChemDraw.Document.6.0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01327" y="3572381"/>
                          <a:ext cx="2784103" cy="1992141"/>
                        </a:xfrm>
                        <a:prstGeom prst="rect">
                          <a:avLst/>
                        </a:prstGeom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3" name="AutoShape 66" descr="Dark upward diagonal"/>
            <p:cNvSpPr>
              <a:spLocks noChangeArrowheads="1"/>
            </p:cNvSpPr>
            <p:nvPr/>
          </p:nvSpPr>
          <p:spPr bwMode="auto">
            <a:xfrm>
              <a:off x="3202738" y="2168323"/>
              <a:ext cx="2316162" cy="727075"/>
            </a:xfrm>
            <a:prstGeom prst="cube">
              <a:avLst>
                <a:gd name="adj" fmla="val 92014"/>
              </a:avLst>
            </a:prstGeom>
            <a:pattFill prst="dkUpDiag">
              <a:fgClr>
                <a:srgbClr val="C0C0C0"/>
              </a:fgClr>
              <a:bgClr>
                <a:srgbClr val="FFFFFF"/>
              </a:bgClr>
            </a:pattFill>
            <a:ln w="635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C00000"/>
                </a:solidFill>
              </a:endParaRPr>
            </a:p>
          </p:txBody>
        </p:sp>
        <p:grpSp>
          <p:nvGrpSpPr>
            <p:cNvPr id="195" name="Group 76"/>
            <p:cNvGrpSpPr>
              <a:grpSpLocks/>
            </p:cNvGrpSpPr>
            <p:nvPr/>
          </p:nvGrpSpPr>
          <p:grpSpPr bwMode="auto">
            <a:xfrm>
              <a:off x="3474200" y="2616773"/>
              <a:ext cx="257780" cy="242113"/>
              <a:chOff x="1443" y="5577"/>
              <a:chExt cx="1080" cy="900"/>
            </a:xfrm>
          </p:grpSpPr>
          <p:sp>
            <p:nvSpPr>
              <p:cNvPr id="202" name="Oval 77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03" name="AutoShape 78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96" name="Group 79"/>
            <p:cNvGrpSpPr>
              <a:grpSpLocks/>
            </p:cNvGrpSpPr>
            <p:nvPr/>
          </p:nvGrpSpPr>
          <p:grpSpPr bwMode="auto">
            <a:xfrm>
              <a:off x="3713363" y="2392145"/>
              <a:ext cx="257780" cy="242113"/>
              <a:chOff x="1443" y="5577"/>
              <a:chExt cx="1080" cy="900"/>
            </a:xfrm>
            <a:solidFill>
              <a:srgbClr val="3939AD"/>
            </a:solidFill>
          </p:grpSpPr>
          <p:sp>
            <p:nvSpPr>
              <p:cNvPr id="200" name="Oval 80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01" name="AutoShape 81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97" name="Group 82"/>
            <p:cNvGrpSpPr>
              <a:grpSpLocks/>
            </p:cNvGrpSpPr>
            <p:nvPr/>
          </p:nvGrpSpPr>
          <p:grpSpPr bwMode="auto">
            <a:xfrm>
              <a:off x="3926032" y="2176261"/>
              <a:ext cx="257780" cy="242113"/>
              <a:chOff x="1443" y="5577"/>
              <a:chExt cx="1080" cy="900"/>
            </a:xfrm>
          </p:grpSpPr>
          <p:sp>
            <p:nvSpPr>
              <p:cNvPr id="198" name="Oval 83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199" name="AutoShape 84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86" name="Group 127"/>
            <p:cNvGrpSpPr>
              <a:grpSpLocks/>
            </p:cNvGrpSpPr>
            <p:nvPr/>
          </p:nvGrpSpPr>
          <p:grpSpPr bwMode="auto">
            <a:xfrm>
              <a:off x="4510838" y="2623123"/>
              <a:ext cx="257780" cy="242113"/>
              <a:chOff x="1443" y="5577"/>
              <a:chExt cx="1080" cy="900"/>
            </a:xfrm>
            <a:solidFill>
              <a:srgbClr val="3939AD"/>
            </a:solidFill>
          </p:grpSpPr>
          <p:sp>
            <p:nvSpPr>
              <p:cNvPr id="193" name="Oval 128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194" name="AutoShape 129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87" name="Group 130"/>
            <p:cNvGrpSpPr>
              <a:grpSpLocks/>
            </p:cNvGrpSpPr>
            <p:nvPr/>
          </p:nvGrpSpPr>
          <p:grpSpPr bwMode="auto">
            <a:xfrm>
              <a:off x="4750001" y="2398495"/>
              <a:ext cx="257780" cy="242113"/>
              <a:chOff x="1443" y="5577"/>
              <a:chExt cx="1080" cy="900"/>
            </a:xfrm>
          </p:grpSpPr>
          <p:sp>
            <p:nvSpPr>
              <p:cNvPr id="191" name="Oval 131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bg2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192" name="AutoShape 132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88" name="Group 133"/>
            <p:cNvGrpSpPr>
              <a:grpSpLocks/>
            </p:cNvGrpSpPr>
            <p:nvPr/>
          </p:nvGrpSpPr>
          <p:grpSpPr bwMode="auto">
            <a:xfrm>
              <a:off x="4962670" y="2182611"/>
              <a:ext cx="257780" cy="242113"/>
              <a:chOff x="1443" y="5577"/>
              <a:chExt cx="1080" cy="900"/>
            </a:xfrm>
          </p:grpSpPr>
          <p:sp>
            <p:nvSpPr>
              <p:cNvPr id="189" name="Oval 134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190" name="AutoShape 135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76" name="Group 116"/>
            <p:cNvGrpSpPr>
              <a:grpSpLocks/>
            </p:cNvGrpSpPr>
            <p:nvPr/>
          </p:nvGrpSpPr>
          <p:grpSpPr bwMode="auto">
            <a:xfrm>
              <a:off x="3993313" y="2166736"/>
              <a:ext cx="709612" cy="682625"/>
              <a:chOff x="5786" y="3472"/>
              <a:chExt cx="991" cy="1015"/>
            </a:xfrm>
          </p:grpSpPr>
          <p:grpSp>
            <p:nvGrpSpPr>
              <p:cNvPr id="177" name="Group 11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184" name="Oval 11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5" name="AutoShape 11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78" name="Group 12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182" name="Oval 12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3" name="AutoShape 12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179" name="Group 12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180" name="Oval 12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81" name="AutoShape 12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cxnSp>
          <p:nvCxnSpPr>
            <p:cNvPr id="206" name="205 Conector recto de flecha"/>
            <p:cNvCxnSpPr/>
            <p:nvPr/>
          </p:nvCxnSpPr>
          <p:spPr>
            <a:xfrm flipV="1">
              <a:off x="4444598" y="2895398"/>
              <a:ext cx="194584" cy="600754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210 Conector recto"/>
            <p:cNvCxnSpPr/>
            <p:nvPr/>
          </p:nvCxnSpPr>
          <p:spPr>
            <a:xfrm flipH="1">
              <a:off x="2539057" y="5541551"/>
              <a:ext cx="1369384" cy="351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212 Conector recto de flecha"/>
            <p:cNvCxnSpPr/>
            <p:nvPr/>
          </p:nvCxnSpPr>
          <p:spPr>
            <a:xfrm>
              <a:off x="5436096" y="2632469"/>
              <a:ext cx="638811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214 CuadroTexto"/>
            <p:cNvSpPr txBox="1"/>
            <p:nvPr/>
          </p:nvSpPr>
          <p:spPr>
            <a:xfrm>
              <a:off x="4951607" y="2991922"/>
              <a:ext cx="1432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Time-</a:t>
              </a:r>
              <a:r>
                <a:rPr lang="es-ES" dirty="0" err="1" smtClean="0"/>
                <a:t>lapses</a:t>
              </a:r>
              <a:endParaRPr lang="en-GB" dirty="0"/>
            </a:p>
          </p:txBody>
        </p:sp>
        <p:sp>
          <p:nvSpPr>
            <p:cNvPr id="216" name="AutoShape 66" descr="Dark upward diagonal"/>
            <p:cNvSpPr>
              <a:spLocks noChangeArrowheads="1"/>
            </p:cNvSpPr>
            <p:nvPr/>
          </p:nvSpPr>
          <p:spPr bwMode="auto">
            <a:xfrm>
              <a:off x="6228184" y="2215541"/>
              <a:ext cx="2316162" cy="727075"/>
            </a:xfrm>
            <a:prstGeom prst="cube">
              <a:avLst>
                <a:gd name="adj" fmla="val 92014"/>
              </a:avLst>
            </a:prstGeom>
            <a:pattFill prst="dkUpDiag">
              <a:fgClr>
                <a:srgbClr val="C0C0C0"/>
              </a:fgClr>
              <a:bgClr>
                <a:srgbClr val="FFFFFF"/>
              </a:bgClr>
            </a:pattFill>
            <a:ln w="6350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rgbClr val="C00000"/>
                </a:solidFill>
              </a:endParaRPr>
            </a:p>
          </p:txBody>
        </p:sp>
        <p:grpSp>
          <p:nvGrpSpPr>
            <p:cNvPr id="218" name="Group 76"/>
            <p:cNvGrpSpPr>
              <a:grpSpLocks/>
            </p:cNvGrpSpPr>
            <p:nvPr/>
          </p:nvGrpSpPr>
          <p:grpSpPr bwMode="auto">
            <a:xfrm>
              <a:off x="6513065" y="2663991"/>
              <a:ext cx="257780" cy="242113"/>
              <a:chOff x="1443" y="5577"/>
              <a:chExt cx="1080" cy="900"/>
            </a:xfrm>
          </p:grpSpPr>
          <p:sp>
            <p:nvSpPr>
              <p:cNvPr id="225" name="Oval 77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26" name="AutoShape 78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19" name="Group 79"/>
            <p:cNvGrpSpPr>
              <a:grpSpLocks/>
            </p:cNvGrpSpPr>
            <p:nvPr/>
          </p:nvGrpSpPr>
          <p:grpSpPr bwMode="auto">
            <a:xfrm>
              <a:off x="6752228" y="2439363"/>
              <a:ext cx="257780" cy="242113"/>
              <a:chOff x="1443" y="5577"/>
              <a:chExt cx="1080" cy="900"/>
            </a:xfrm>
            <a:solidFill>
              <a:srgbClr val="3939AD"/>
            </a:solidFill>
          </p:grpSpPr>
          <p:sp>
            <p:nvSpPr>
              <p:cNvPr id="223" name="Oval 80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24" name="AutoShape 81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20" name="Group 82"/>
            <p:cNvGrpSpPr>
              <a:grpSpLocks/>
            </p:cNvGrpSpPr>
            <p:nvPr/>
          </p:nvGrpSpPr>
          <p:grpSpPr bwMode="auto">
            <a:xfrm>
              <a:off x="6964897" y="2223479"/>
              <a:ext cx="257780" cy="242113"/>
              <a:chOff x="1443" y="5577"/>
              <a:chExt cx="1080" cy="900"/>
            </a:xfrm>
          </p:grpSpPr>
          <p:sp>
            <p:nvSpPr>
              <p:cNvPr id="221" name="Oval 83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22" name="AutoShape 84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30" name="Group 130"/>
            <p:cNvGrpSpPr>
              <a:grpSpLocks/>
            </p:cNvGrpSpPr>
            <p:nvPr/>
          </p:nvGrpSpPr>
          <p:grpSpPr bwMode="auto">
            <a:xfrm>
              <a:off x="7788866" y="2445713"/>
              <a:ext cx="257780" cy="242113"/>
              <a:chOff x="1443" y="5577"/>
              <a:chExt cx="1080" cy="900"/>
            </a:xfrm>
          </p:grpSpPr>
          <p:sp>
            <p:nvSpPr>
              <p:cNvPr id="231" name="Oval 131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bg2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32" name="AutoShape 132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33" name="Group 133"/>
            <p:cNvGrpSpPr>
              <a:grpSpLocks/>
            </p:cNvGrpSpPr>
            <p:nvPr/>
          </p:nvGrpSpPr>
          <p:grpSpPr bwMode="auto">
            <a:xfrm>
              <a:off x="8001535" y="2229829"/>
              <a:ext cx="257780" cy="242113"/>
              <a:chOff x="1443" y="5577"/>
              <a:chExt cx="1080" cy="900"/>
            </a:xfrm>
          </p:grpSpPr>
          <p:sp>
            <p:nvSpPr>
              <p:cNvPr id="234" name="Oval 134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35" name="AutoShape 135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36" name="Group 116"/>
            <p:cNvGrpSpPr>
              <a:grpSpLocks/>
            </p:cNvGrpSpPr>
            <p:nvPr/>
          </p:nvGrpSpPr>
          <p:grpSpPr bwMode="auto">
            <a:xfrm>
              <a:off x="7032178" y="2213954"/>
              <a:ext cx="709612" cy="682625"/>
              <a:chOff x="5786" y="3472"/>
              <a:chExt cx="991" cy="1015"/>
            </a:xfrm>
          </p:grpSpPr>
          <p:grpSp>
            <p:nvGrpSpPr>
              <p:cNvPr id="237" name="Group 117"/>
              <p:cNvGrpSpPr>
                <a:grpSpLocks/>
              </p:cNvGrpSpPr>
              <p:nvPr/>
            </p:nvGrpSpPr>
            <p:grpSpPr bwMode="auto">
              <a:xfrm>
                <a:off x="5786" y="4127"/>
                <a:ext cx="360" cy="360"/>
                <a:chOff x="1443" y="5577"/>
                <a:chExt cx="1080" cy="900"/>
              </a:xfrm>
            </p:grpSpPr>
            <p:sp>
              <p:nvSpPr>
                <p:cNvPr id="244" name="Oval 118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45" name="AutoShape 119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238" name="Group 120"/>
              <p:cNvGrpSpPr>
                <a:grpSpLocks/>
              </p:cNvGrpSpPr>
              <p:nvPr/>
            </p:nvGrpSpPr>
            <p:grpSpPr bwMode="auto">
              <a:xfrm>
                <a:off x="6120" y="3793"/>
                <a:ext cx="360" cy="360"/>
                <a:chOff x="1443" y="5577"/>
                <a:chExt cx="1080" cy="900"/>
              </a:xfrm>
            </p:grpSpPr>
            <p:sp>
              <p:nvSpPr>
                <p:cNvPr id="242" name="Oval 121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43" name="AutoShape 122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bg2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  <p:grpSp>
            <p:nvGrpSpPr>
              <p:cNvPr id="239" name="Group 123"/>
              <p:cNvGrpSpPr>
                <a:grpSpLocks/>
              </p:cNvGrpSpPr>
              <p:nvPr/>
            </p:nvGrpSpPr>
            <p:grpSpPr bwMode="auto">
              <a:xfrm>
                <a:off x="6417" y="3472"/>
                <a:ext cx="360" cy="360"/>
                <a:chOff x="1443" y="5577"/>
                <a:chExt cx="1080" cy="900"/>
              </a:xfrm>
            </p:grpSpPr>
            <p:sp>
              <p:nvSpPr>
                <p:cNvPr id="240" name="Oval 124"/>
                <p:cNvSpPr>
                  <a:spLocks noChangeArrowheads="1"/>
                </p:cNvSpPr>
                <p:nvPr/>
              </p:nvSpPr>
              <p:spPr bwMode="auto">
                <a:xfrm>
                  <a:off x="1443" y="5812"/>
                  <a:ext cx="1080" cy="3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41" name="AutoShape 125"/>
                <p:cNvSpPr>
                  <a:spLocks noChangeArrowheads="1"/>
                </p:cNvSpPr>
                <p:nvPr/>
              </p:nvSpPr>
              <p:spPr bwMode="auto">
                <a:xfrm>
                  <a:off x="1443" y="5577"/>
                  <a:ext cx="1080" cy="900"/>
                </a:xfrm>
                <a:custGeom>
                  <a:avLst/>
                  <a:gdLst>
                    <a:gd name="G0" fmla="+- 120 0 0"/>
                    <a:gd name="G1" fmla="+- 11796480 0 0"/>
                    <a:gd name="G2" fmla="+- 0 0 11796480"/>
                    <a:gd name="T0" fmla="*/ 0 256 1"/>
                    <a:gd name="T1" fmla="*/ 180 256 1"/>
                    <a:gd name="G3" fmla="+- 11796480 T0 T1"/>
                    <a:gd name="T2" fmla="*/ 0 256 1"/>
                    <a:gd name="T3" fmla="*/ 90 256 1"/>
                    <a:gd name="G4" fmla="+- 11796480 T2 T3"/>
                    <a:gd name="G5" fmla="*/ G4 2 1"/>
                    <a:gd name="T4" fmla="*/ 90 256 1"/>
                    <a:gd name="T5" fmla="*/ 0 256 1"/>
                    <a:gd name="G6" fmla="+- 11796480 T4 T5"/>
                    <a:gd name="G7" fmla="*/ G6 2 1"/>
                    <a:gd name="G8" fmla="abs 11796480"/>
                    <a:gd name="T6" fmla="*/ 0 256 1"/>
                    <a:gd name="T7" fmla="*/ 90 256 1"/>
                    <a:gd name="G9" fmla="+- G8 T6 T7"/>
                    <a:gd name="G10" fmla="?: G9 G7 G5"/>
                    <a:gd name="T8" fmla="*/ 0 256 1"/>
                    <a:gd name="T9" fmla="*/ 360 256 1"/>
                    <a:gd name="G11" fmla="+- G10 T8 T9"/>
                    <a:gd name="G12" fmla="?: G10 G11 G10"/>
                    <a:gd name="T10" fmla="*/ 0 256 1"/>
                    <a:gd name="T11" fmla="*/ 360 256 1"/>
                    <a:gd name="G13" fmla="+- G12 T10 T11"/>
                    <a:gd name="G14" fmla="?: G12 G13 G12"/>
                    <a:gd name="G15" fmla="+- 0 0 G14"/>
                    <a:gd name="G16" fmla="+- 10800 0 0"/>
                    <a:gd name="G17" fmla="+- 10800 0 120"/>
                    <a:gd name="G18" fmla="*/ 120 1 2"/>
                    <a:gd name="G19" fmla="+- G18 5400 0"/>
                    <a:gd name="G20" fmla="cos G19 11796480"/>
                    <a:gd name="G21" fmla="sin G19 11796480"/>
                    <a:gd name="G22" fmla="+- G20 10800 0"/>
                    <a:gd name="G23" fmla="+- G21 10800 0"/>
                    <a:gd name="G24" fmla="+- 10800 0 G20"/>
                    <a:gd name="G25" fmla="+- 120 10800 0"/>
                    <a:gd name="G26" fmla="?: G9 G17 G25"/>
                    <a:gd name="G27" fmla="?: G9 0 21600"/>
                    <a:gd name="G28" fmla="cos 10800 11796480"/>
                    <a:gd name="G29" fmla="sin 10800 11796480"/>
                    <a:gd name="G30" fmla="sin 120 11796480"/>
                    <a:gd name="G31" fmla="+- G28 10800 0"/>
                    <a:gd name="G32" fmla="+- G29 10800 0"/>
                    <a:gd name="G33" fmla="+- G30 10800 0"/>
                    <a:gd name="G34" fmla="?: G4 0 G31"/>
                    <a:gd name="G35" fmla="?: 11796480 G34 0"/>
                    <a:gd name="G36" fmla="?: G6 G35 G31"/>
                    <a:gd name="G37" fmla="+- 21600 0 G36"/>
                    <a:gd name="G38" fmla="?: G4 0 G33"/>
                    <a:gd name="G39" fmla="?: 11796480 G38 G32"/>
                    <a:gd name="G40" fmla="?: G6 G39 0"/>
                    <a:gd name="G41" fmla="?: G4 G32 21600"/>
                    <a:gd name="G42" fmla="?: G6 G41 G33"/>
                    <a:gd name="T12" fmla="*/ 10800 w 21600"/>
                    <a:gd name="T13" fmla="*/ 0 h 21600"/>
                    <a:gd name="T14" fmla="*/ 5340 w 21600"/>
                    <a:gd name="T15" fmla="*/ 10800 h 21600"/>
                    <a:gd name="T16" fmla="*/ 10800 w 21600"/>
                    <a:gd name="T17" fmla="*/ 10680 h 21600"/>
                    <a:gd name="T18" fmla="*/ 16260 w 21600"/>
                    <a:gd name="T19" fmla="*/ 10800 h 21600"/>
                    <a:gd name="T20" fmla="*/ G36 w 21600"/>
                    <a:gd name="T21" fmla="*/ G40 h 21600"/>
                    <a:gd name="T22" fmla="*/ G37 w 21600"/>
                    <a:gd name="T23" fmla="*/ G42 h 21600"/>
                  </a:gdLst>
                  <a:ahLst/>
                  <a:cxnLst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T20" t="T21" r="T22" b="T23"/>
                  <a:pathLst>
                    <a:path w="21600" h="21600">
                      <a:moveTo>
                        <a:pt x="10680" y="10800"/>
                      </a:moveTo>
                      <a:cubicBezTo>
                        <a:pt x="10680" y="10733"/>
                        <a:pt x="10733" y="10680"/>
                        <a:pt x="10800" y="10680"/>
                      </a:cubicBezTo>
                      <a:cubicBezTo>
                        <a:pt x="10866" y="10679"/>
                        <a:pt x="10919" y="10733"/>
                        <a:pt x="10920" y="10799"/>
                      </a:cubicBezTo>
                      <a:lnTo>
                        <a:pt x="21600" y="10800"/>
                      </a:ln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chemeClr val="tx1"/>
                    </a:gs>
                    <a:gs pos="100000">
                      <a:srgbClr val="00CCFF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>
                    <a:solidFill>
                      <a:srgbClr val="C00000"/>
                    </a:solidFill>
                  </a:endParaRPr>
                </a:p>
              </p:txBody>
            </p:sp>
          </p:grpSp>
        </p:grpSp>
        <p:grpSp>
          <p:nvGrpSpPr>
            <p:cNvPr id="246" name="Group 76"/>
            <p:cNvGrpSpPr>
              <a:grpSpLocks/>
            </p:cNvGrpSpPr>
            <p:nvPr/>
          </p:nvGrpSpPr>
          <p:grpSpPr bwMode="auto">
            <a:xfrm>
              <a:off x="7531086" y="2672930"/>
              <a:ext cx="257780" cy="242113"/>
              <a:chOff x="1443" y="5577"/>
              <a:chExt cx="1080" cy="900"/>
            </a:xfrm>
          </p:grpSpPr>
          <p:sp>
            <p:nvSpPr>
              <p:cNvPr id="247" name="Oval 77"/>
              <p:cNvSpPr>
                <a:spLocks noChangeArrowheads="1"/>
              </p:cNvSpPr>
              <p:nvPr/>
            </p:nvSpPr>
            <p:spPr bwMode="auto">
              <a:xfrm>
                <a:off x="1443" y="5812"/>
                <a:ext cx="1080" cy="36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  <p:sp>
            <p:nvSpPr>
              <p:cNvPr id="248" name="AutoShape 78"/>
              <p:cNvSpPr>
                <a:spLocks noChangeArrowheads="1"/>
              </p:cNvSpPr>
              <p:nvPr/>
            </p:nvSpPr>
            <p:spPr bwMode="auto">
              <a:xfrm>
                <a:off x="1443" y="5577"/>
                <a:ext cx="1080" cy="900"/>
              </a:xfrm>
              <a:custGeom>
                <a:avLst/>
                <a:gdLst>
                  <a:gd name="G0" fmla="+- 120 0 0"/>
                  <a:gd name="G1" fmla="+- 11796480 0 0"/>
                  <a:gd name="G2" fmla="+- 0 0 11796480"/>
                  <a:gd name="T0" fmla="*/ 0 256 1"/>
                  <a:gd name="T1" fmla="*/ 180 256 1"/>
                  <a:gd name="G3" fmla="+- 11796480 T0 T1"/>
                  <a:gd name="T2" fmla="*/ 0 256 1"/>
                  <a:gd name="T3" fmla="*/ 90 256 1"/>
                  <a:gd name="G4" fmla="+- 11796480 T2 T3"/>
                  <a:gd name="G5" fmla="*/ G4 2 1"/>
                  <a:gd name="T4" fmla="*/ 90 256 1"/>
                  <a:gd name="T5" fmla="*/ 0 256 1"/>
                  <a:gd name="G6" fmla="+- 11796480 T4 T5"/>
                  <a:gd name="G7" fmla="*/ G6 2 1"/>
                  <a:gd name="G8" fmla="abs 11796480"/>
                  <a:gd name="T6" fmla="*/ 0 256 1"/>
                  <a:gd name="T7" fmla="*/ 90 256 1"/>
                  <a:gd name="G9" fmla="+- G8 T6 T7"/>
                  <a:gd name="G10" fmla="?: G9 G7 G5"/>
                  <a:gd name="T8" fmla="*/ 0 256 1"/>
                  <a:gd name="T9" fmla="*/ 360 256 1"/>
                  <a:gd name="G11" fmla="+- G10 T8 T9"/>
                  <a:gd name="G12" fmla="?: G10 G11 G10"/>
                  <a:gd name="T10" fmla="*/ 0 256 1"/>
                  <a:gd name="T11" fmla="*/ 360 256 1"/>
                  <a:gd name="G13" fmla="+- G12 T10 T11"/>
                  <a:gd name="G14" fmla="?: G12 G13 G12"/>
                  <a:gd name="G15" fmla="+- 0 0 G14"/>
                  <a:gd name="G16" fmla="+- 10800 0 0"/>
                  <a:gd name="G17" fmla="+- 10800 0 120"/>
                  <a:gd name="G18" fmla="*/ 120 1 2"/>
                  <a:gd name="G19" fmla="+- G18 5400 0"/>
                  <a:gd name="G20" fmla="cos G19 11796480"/>
                  <a:gd name="G21" fmla="sin G19 11796480"/>
                  <a:gd name="G22" fmla="+- G20 10800 0"/>
                  <a:gd name="G23" fmla="+- G21 10800 0"/>
                  <a:gd name="G24" fmla="+- 10800 0 G20"/>
                  <a:gd name="G25" fmla="+- 120 10800 0"/>
                  <a:gd name="G26" fmla="?: G9 G17 G25"/>
                  <a:gd name="G27" fmla="?: G9 0 21600"/>
                  <a:gd name="G28" fmla="cos 10800 11796480"/>
                  <a:gd name="G29" fmla="sin 10800 11796480"/>
                  <a:gd name="G30" fmla="sin 120 11796480"/>
                  <a:gd name="G31" fmla="+- G28 10800 0"/>
                  <a:gd name="G32" fmla="+- G29 10800 0"/>
                  <a:gd name="G33" fmla="+- G30 10800 0"/>
                  <a:gd name="G34" fmla="?: G4 0 G31"/>
                  <a:gd name="G35" fmla="?: 11796480 G34 0"/>
                  <a:gd name="G36" fmla="?: G6 G35 G31"/>
                  <a:gd name="G37" fmla="+- 21600 0 G36"/>
                  <a:gd name="G38" fmla="?: G4 0 G33"/>
                  <a:gd name="G39" fmla="?: 11796480 G38 G32"/>
                  <a:gd name="G40" fmla="?: G6 G39 0"/>
                  <a:gd name="G41" fmla="?: G4 G32 21600"/>
                  <a:gd name="G42" fmla="?: G6 G41 G33"/>
                  <a:gd name="T12" fmla="*/ 10800 w 21600"/>
                  <a:gd name="T13" fmla="*/ 0 h 21600"/>
                  <a:gd name="T14" fmla="*/ 5340 w 21600"/>
                  <a:gd name="T15" fmla="*/ 10800 h 21600"/>
                  <a:gd name="T16" fmla="*/ 10800 w 21600"/>
                  <a:gd name="T17" fmla="*/ 10680 h 21600"/>
                  <a:gd name="T18" fmla="*/ 16260 w 21600"/>
                  <a:gd name="T19" fmla="*/ 10800 h 21600"/>
                  <a:gd name="T20" fmla="*/ G36 w 21600"/>
                  <a:gd name="T21" fmla="*/ G40 h 21600"/>
                  <a:gd name="T22" fmla="*/ G37 w 21600"/>
                  <a:gd name="T23" fmla="*/ G42 h 21600"/>
                </a:gdLst>
                <a:ahLst/>
                <a:cxnLst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T20" t="T21" r="T22" b="T23"/>
                <a:pathLst>
                  <a:path w="21600" h="21600">
                    <a:moveTo>
                      <a:pt x="10680" y="10800"/>
                    </a:moveTo>
                    <a:cubicBezTo>
                      <a:pt x="10680" y="10733"/>
                      <a:pt x="10733" y="10680"/>
                      <a:pt x="10800" y="10680"/>
                    </a:cubicBezTo>
                    <a:cubicBezTo>
                      <a:pt x="10866" y="10679"/>
                      <a:pt x="10919" y="10733"/>
                      <a:pt x="1092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249" name="248 CuadroTexto"/>
            <p:cNvSpPr txBox="1"/>
            <p:nvPr/>
          </p:nvSpPr>
          <p:spPr>
            <a:xfrm>
              <a:off x="3713362" y="3046115"/>
              <a:ext cx="511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t=0</a:t>
              </a:r>
              <a:endParaRPr lang="en-GB" dirty="0"/>
            </a:p>
          </p:txBody>
        </p:sp>
        <p:sp>
          <p:nvSpPr>
            <p:cNvPr id="250" name="249 CuadroTexto"/>
            <p:cNvSpPr txBox="1"/>
            <p:nvPr/>
          </p:nvSpPr>
          <p:spPr>
            <a:xfrm>
              <a:off x="6853507" y="306896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smtClean="0"/>
                <a:t>t=</a:t>
              </a:r>
              <a:r>
                <a:rPr lang="es-ES" dirty="0" err="1" smtClean="0"/>
                <a:t>xh</a:t>
              </a:r>
              <a:endParaRPr lang="en-GB" dirty="0"/>
            </a:p>
          </p:txBody>
        </p:sp>
        <p:cxnSp>
          <p:nvCxnSpPr>
            <p:cNvPr id="251" name="250 Conector recto de flecha"/>
            <p:cNvCxnSpPr/>
            <p:nvPr/>
          </p:nvCxnSpPr>
          <p:spPr>
            <a:xfrm>
              <a:off x="8388424" y="2663991"/>
              <a:ext cx="638811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251 Conector recto de flecha"/>
            <p:cNvCxnSpPr/>
            <p:nvPr/>
          </p:nvCxnSpPr>
          <p:spPr>
            <a:xfrm>
              <a:off x="8707829" y="2465592"/>
              <a:ext cx="638811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252 Conector recto de flecha"/>
            <p:cNvCxnSpPr/>
            <p:nvPr/>
          </p:nvCxnSpPr>
          <p:spPr>
            <a:xfrm>
              <a:off x="9027234" y="2253971"/>
              <a:ext cx="638811" cy="0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054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29 Grupo"/>
          <p:cNvGrpSpPr/>
          <p:nvPr/>
        </p:nvGrpSpPr>
        <p:grpSpPr>
          <a:xfrm>
            <a:off x="251520" y="489887"/>
            <a:ext cx="8064616" cy="2706878"/>
            <a:chOff x="251520" y="489887"/>
            <a:chExt cx="8064616" cy="2706878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976697" y="489887"/>
              <a:ext cx="2519362" cy="2700000"/>
              <a:chOff x="4155" y="1344"/>
              <a:chExt cx="1587" cy="1587"/>
            </a:xfrm>
          </p:grpSpPr>
          <p:pic>
            <p:nvPicPr>
              <p:cNvPr id="5" name="Picture 17"/>
              <p:cNvPicPr preferRelativeResize="0">
                <a:picLocks noChangeArrowheads="1"/>
              </p:cNvPicPr>
              <p:nvPr/>
            </p:nvPicPr>
            <p:blipFill>
              <a:blip r:embed="rId2">
                <a:lum bright="6000" contrast="2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8" t="-3000" r="22241" b="18961"/>
              <a:stretch>
                <a:fillRect/>
              </a:stretch>
            </p:blipFill>
            <p:spPr bwMode="auto">
              <a:xfrm>
                <a:off x="4155" y="1344"/>
                <a:ext cx="1587" cy="15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4173" y="2669"/>
                <a:ext cx="635" cy="252"/>
                <a:chOff x="249" y="3177"/>
                <a:chExt cx="635" cy="252"/>
              </a:xfrm>
            </p:grpSpPr>
            <p:grpSp>
              <p:nvGrpSpPr>
                <p:cNvPr id="7" name="Group 19"/>
                <p:cNvGrpSpPr>
                  <a:grpSpLocks/>
                </p:cNvGrpSpPr>
                <p:nvPr/>
              </p:nvGrpSpPr>
              <p:grpSpPr bwMode="auto">
                <a:xfrm>
                  <a:off x="340" y="3339"/>
                  <a:ext cx="454" cy="90"/>
                  <a:chOff x="2426" y="3612"/>
                  <a:chExt cx="1407" cy="95"/>
                </a:xfrm>
              </p:grpSpPr>
              <p:sp>
                <p:nvSpPr>
                  <p:cNvPr id="9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60"/>
                    <a:ext cx="140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1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3833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8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49" y="3177"/>
                  <a:ext cx="635" cy="1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gradFill rotWithShape="1">
                        <a:gsLst>
                          <a:gs pos="0">
                            <a:srgbClr val="FFFF66"/>
                          </a:gs>
                          <a:gs pos="100000">
                            <a:srgbClr val="FF0000"/>
                          </a:gs>
                        </a:gsLst>
                        <a:lin ang="0" scaled="1"/>
                      </a:gra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100 </a:t>
                  </a:r>
                  <a:r>
                    <a:rPr kumimoji="1" lang="en-US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µ</a:t>
                  </a: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m</a:t>
                  </a:r>
                  <a:endParaRPr kumimoji="1" lang="en-US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endParaRPr>
                </a:p>
              </p:txBody>
            </p:sp>
          </p:grpSp>
        </p:grp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51520" y="608365"/>
              <a:ext cx="2519362" cy="2588400"/>
              <a:chOff x="1247" y="2931"/>
              <a:chExt cx="1587" cy="1587"/>
            </a:xfrm>
          </p:grpSpPr>
          <p:pic>
            <p:nvPicPr>
              <p:cNvPr id="15" name="Picture 27"/>
              <p:cNvPicPr preferRelativeResize="0">
                <a:picLocks noChangeArrowheads="1"/>
              </p:cNvPicPr>
              <p:nvPr/>
            </p:nvPicPr>
            <p:blipFill>
              <a:blip r:embed="rId3">
                <a:lum bright="24000" contrast="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41" r="24437" b="18961"/>
              <a:stretch>
                <a:fillRect/>
              </a:stretch>
            </p:blipFill>
            <p:spPr bwMode="auto">
              <a:xfrm>
                <a:off x="1247" y="2931"/>
                <a:ext cx="1587" cy="15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" name="Group 28"/>
              <p:cNvGrpSpPr>
                <a:grpSpLocks/>
              </p:cNvGrpSpPr>
              <p:nvPr/>
            </p:nvGrpSpPr>
            <p:grpSpPr bwMode="auto">
              <a:xfrm>
                <a:off x="1247" y="4255"/>
                <a:ext cx="635" cy="252"/>
                <a:chOff x="249" y="3177"/>
                <a:chExt cx="635" cy="252"/>
              </a:xfrm>
            </p:grpSpPr>
            <p:grpSp>
              <p:nvGrpSpPr>
                <p:cNvPr id="17" name="Group 29"/>
                <p:cNvGrpSpPr>
                  <a:grpSpLocks/>
                </p:cNvGrpSpPr>
                <p:nvPr/>
              </p:nvGrpSpPr>
              <p:grpSpPr bwMode="auto">
                <a:xfrm>
                  <a:off x="340" y="3339"/>
                  <a:ext cx="454" cy="90"/>
                  <a:chOff x="2426" y="3612"/>
                  <a:chExt cx="1407" cy="95"/>
                </a:xfrm>
              </p:grpSpPr>
              <p:sp>
                <p:nvSpPr>
                  <p:cNvPr id="19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60"/>
                    <a:ext cx="140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1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833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18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49" y="3177"/>
                  <a:ext cx="635" cy="17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gradFill rotWithShape="1">
                        <a:gsLst>
                          <a:gs pos="0">
                            <a:srgbClr val="FFFF66"/>
                          </a:gs>
                          <a:gs pos="100000">
                            <a:srgbClr val="FF0000"/>
                          </a:gs>
                        </a:gsLst>
                        <a:lin ang="0" scaled="1"/>
                      </a:gra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100 </a:t>
                  </a:r>
                  <a:r>
                    <a:rPr kumimoji="1" lang="en-US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µ</a:t>
                  </a: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m</a:t>
                  </a:r>
                  <a:endParaRPr kumimoji="1" lang="en-US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endParaRPr>
                </a:p>
              </p:txBody>
            </p:sp>
          </p:grpSp>
        </p:grpSp>
        <p:grpSp>
          <p:nvGrpSpPr>
            <p:cNvPr id="22" name="Group 36"/>
            <p:cNvGrpSpPr>
              <a:grpSpLocks/>
            </p:cNvGrpSpPr>
            <p:nvPr/>
          </p:nvGrpSpPr>
          <p:grpSpPr bwMode="auto">
            <a:xfrm>
              <a:off x="5796136" y="608365"/>
              <a:ext cx="2520000" cy="2588400"/>
              <a:chOff x="2062" y="1253"/>
              <a:chExt cx="1589" cy="1587"/>
            </a:xfrm>
          </p:grpSpPr>
          <p:pic>
            <p:nvPicPr>
              <p:cNvPr id="23" name="Picture 37"/>
              <p:cNvPicPr preferRelativeResize="0">
                <a:picLocks noChangeArrowheads="1"/>
              </p:cNvPicPr>
              <p:nvPr/>
            </p:nvPicPr>
            <p:blipFill>
              <a:blip r:embed="rId4">
                <a:lum bright="12000" contrast="36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8" r="22241" b="18961"/>
              <a:stretch>
                <a:fillRect/>
              </a:stretch>
            </p:blipFill>
            <p:spPr bwMode="auto">
              <a:xfrm>
                <a:off x="2064" y="1253"/>
                <a:ext cx="1587" cy="15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4" name="Group 38"/>
              <p:cNvGrpSpPr>
                <a:grpSpLocks/>
              </p:cNvGrpSpPr>
              <p:nvPr/>
            </p:nvGrpSpPr>
            <p:grpSpPr bwMode="auto">
              <a:xfrm>
                <a:off x="2062" y="2577"/>
                <a:ext cx="635" cy="252"/>
                <a:chOff x="249" y="3177"/>
                <a:chExt cx="635" cy="252"/>
              </a:xfrm>
            </p:grpSpPr>
            <p:grpSp>
              <p:nvGrpSpPr>
                <p:cNvPr id="25" name="Group 39"/>
                <p:cNvGrpSpPr>
                  <a:grpSpLocks/>
                </p:cNvGrpSpPr>
                <p:nvPr/>
              </p:nvGrpSpPr>
              <p:grpSpPr bwMode="auto">
                <a:xfrm>
                  <a:off x="340" y="3339"/>
                  <a:ext cx="454" cy="90"/>
                  <a:chOff x="2426" y="3612"/>
                  <a:chExt cx="1407" cy="95"/>
                </a:xfrm>
              </p:grpSpPr>
              <p:sp>
                <p:nvSpPr>
                  <p:cNvPr id="27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60"/>
                    <a:ext cx="140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8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426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9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833" y="3612"/>
                    <a:ext cx="0" cy="95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26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49" y="3177"/>
                  <a:ext cx="635" cy="1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gradFill rotWithShape="1">
                        <a:gsLst>
                          <a:gs pos="0">
                            <a:srgbClr val="FFFF66"/>
                          </a:gs>
                          <a:gs pos="100000">
                            <a:srgbClr val="FF0000"/>
                          </a:gs>
                        </a:gsLst>
                        <a:lin ang="0" scaled="1"/>
                      </a:gra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100 </a:t>
                  </a:r>
                  <a:r>
                    <a:rPr kumimoji="1" lang="en-US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µ</a:t>
                  </a:r>
                  <a:r>
                    <a:rPr kumimoji="1" lang="en-GB" sz="1200">
                      <a:solidFill>
                        <a:schemeClr val="bg1"/>
                      </a:solidFill>
                      <a:latin typeface="Comic Sans MS" pitchFamily="66" charset="0"/>
                      <a:ea typeface="MS PGothic" pitchFamily="34" charset="-128"/>
                    </a:rPr>
                    <a:t>m</a:t>
                  </a:r>
                  <a:endParaRPr kumimoji="1" lang="en-US" sz="1200">
                    <a:solidFill>
                      <a:schemeClr val="bg1"/>
                    </a:solidFill>
                    <a:latin typeface="Comic Sans MS" pitchFamily="66" charset="0"/>
                    <a:ea typeface="MS PGothic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785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395288" y="954075"/>
            <a:ext cx="5066604" cy="5067313"/>
            <a:chOff x="395288" y="954075"/>
            <a:chExt cx="5066604" cy="5067313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95288" y="2492375"/>
              <a:ext cx="2401887" cy="823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endParaRPr lang="en-US" altLang="zh-CN" sz="1400" dirty="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  <a:p>
              <a:pPr algn="ctr" eaLnBrk="1" hangingPunct="1"/>
              <a:r>
                <a:rPr lang="en-US" altLang="zh-CN" sz="1400" dirty="0">
                  <a:latin typeface="Tahoma" pitchFamily="34" charset="0"/>
                  <a:ea typeface="MS Mincho" pitchFamily="49" charset="-128"/>
                  <a:cs typeface="Arial" pitchFamily="34" charset="0"/>
                </a:rPr>
                <a:t>Monomer 1 &amp;</a:t>
              </a:r>
            </a:p>
            <a:p>
              <a:pPr algn="ctr" eaLnBrk="1" hangingPunct="1"/>
              <a:r>
                <a:rPr lang="en-US" altLang="zh-CN" sz="1400" dirty="0">
                  <a:latin typeface="Tahoma" pitchFamily="34" charset="0"/>
                  <a:ea typeface="MS Mincho" pitchFamily="49" charset="-128"/>
                  <a:cs typeface="Arial" pitchFamily="34" charset="0"/>
                </a:rPr>
                <a:t>Monomer 2</a:t>
              </a:r>
              <a:endParaRPr lang="en-GB" sz="1400" dirty="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</p:txBody>
        </p:sp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1692275" y="1243013"/>
              <a:ext cx="19081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zh-CN" sz="900" b="0" dirty="0">
                  <a:latin typeface="Tahoma" pitchFamily="34" charset="0"/>
                  <a:ea typeface="MS Mincho" pitchFamily="49" charset="-128"/>
                  <a:cs typeface="Arial" pitchFamily="34" charset="0"/>
                </a:rPr>
                <a:t>Masked glass slide</a:t>
              </a:r>
              <a:endParaRPr lang="en-GB" sz="1800" b="0" dirty="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</p:txBody>
        </p:sp>
        <p:grpSp>
          <p:nvGrpSpPr>
            <p:cNvPr id="5" name="Group 110"/>
            <p:cNvGrpSpPr>
              <a:grpSpLocks/>
            </p:cNvGrpSpPr>
            <p:nvPr/>
          </p:nvGrpSpPr>
          <p:grpSpPr bwMode="auto">
            <a:xfrm>
              <a:off x="1712913" y="1504950"/>
              <a:ext cx="1919287" cy="822325"/>
              <a:chOff x="1079" y="1311"/>
              <a:chExt cx="1209" cy="518"/>
            </a:xfrm>
          </p:grpSpPr>
          <p:sp>
            <p:nvSpPr>
              <p:cNvPr id="47" name="AutoShape 8"/>
              <p:cNvSpPr>
                <a:spLocks noChangeArrowheads="1"/>
              </p:cNvSpPr>
              <p:nvPr/>
            </p:nvSpPr>
            <p:spPr bwMode="auto">
              <a:xfrm>
                <a:off x="1643" y="1311"/>
                <a:ext cx="82" cy="228"/>
              </a:xfrm>
              <a:prstGeom prst="downArrow">
                <a:avLst>
                  <a:gd name="adj1" fmla="val 50000"/>
                  <a:gd name="adj2" fmla="val 69512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anchor="ctr"/>
              <a:lstStyle/>
              <a:p>
                <a:endParaRPr lang="en-GB"/>
              </a:p>
            </p:txBody>
          </p:sp>
          <p:grpSp>
            <p:nvGrpSpPr>
              <p:cNvPr id="48" name="Group 9"/>
              <p:cNvGrpSpPr>
                <a:grpSpLocks/>
              </p:cNvGrpSpPr>
              <p:nvPr/>
            </p:nvGrpSpPr>
            <p:grpSpPr bwMode="auto">
              <a:xfrm>
                <a:off x="1079" y="1561"/>
                <a:ext cx="1209" cy="268"/>
                <a:chOff x="793" y="845"/>
                <a:chExt cx="1324" cy="318"/>
              </a:xfrm>
            </p:grpSpPr>
            <p:sp>
              <p:nvSpPr>
                <p:cNvPr id="49" name="Oval 10"/>
                <p:cNvSpPr>
                  <a:spLocks noChangeArrowheads="1"/>
                </p:cNvSpPr>
                <p:nvPr/>
              </p:nvSpPr>
              <p:spPr bwMode="auto">
                <a:xfrm>
                  <a:off x="1114" y="845"/>
                  <a:ext cx="648" cy="31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00FF"/>
                    </a:gs>
                    <a:gs pos="100000">
                      <a:srgbClr val="80808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50" name="Group 11"/>
                <p:cNvGrpSpPr>
                  <a:grpSpLocks/>
                </p:cNvGrpSpPr>
                <p:nvPr/>
              </p:nvGrpSpPr>
              <p:grpSpPr bwMode="auto">
                <a:xfrm>
                  <a:off x="793" y="1026"/>
                  <a:ext cx="1324" cy="137"/>
                  <a:chOff x="793" y="1344"/>
                  <a:chExt cx="1324" cy="137"/>
                </a:xfrm>
              </p:grpSpPr>
              <p:sp>
                <p:nvSpPr>
                  <p:cNvPr id="51" name="Rectangle 12" descr="Dark upward diagonal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374"/>
                    <a:ext cx="1324" cy="107"/>
                  </a:xfrm>
                  <a:prstGeom prst="rect">
                    <a:avLst/>
                  </a:prstGeom>
                  <a:blipFill dpi="0" rotWithShape="0">
                    <a:blip r:embed="rId2"/>
                    <a:srcRect/>
                    <a:tile tx="0" ty="0" sx="100000" sy="100000" flip="none" algn="tl"/>
                  </a:blip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2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794" y="1348"/>
                    <a:ext cx="441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GB"/>
                  </a:p>
                </p:txBody>
              </p:sp>
              <p:sp>
                <p:nvSpPr>
                  <p:cNvPr id="53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676" y="1348"/>
                    <a:ext cx="441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GB"/>
                  </a:p>
                </p:txBody>
              </p:sp>
              <p:sp>
                <p:nvSpPr>
                  <p:cNvPr id="54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1116" y="1344"/>
                    <a:ext cx="644" cy="26"/>
                  </a:xfrm>
                  <a:prstGeom prst="rect">
                    <a:avLst/>
                  </a:pr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1712913" y="1052513"/>
              <a:ext cx="1920875" cy="182562"/>
              <a:chOff x="839" y="769"/>
              <a:chExt cx="1324" cy="137"/>
            </a:xfrm>
          </p:grpSpPr>
          <p:sp>
            <p:nvSpPr>
              <p:cNvPr id="43" name="Rectangle 17" descr="Dark upward diagonal"/>
              <p:cNvSpPr>
                <a:spLocks noChangeArrowheads="1"/>
              </p:cNvSpPr>
              <p:nvPr/>
            </p:nvSpPr>
            <p:spPr bwMode="auto">
              <a:xfrm>
                <a:off x="839" y="799"/>
                <a:ext cx="1324" cy="107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9525">
                <a:solidFill>
                  <a:srgbClr val="969696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Rectangle 18"/>
              <p:cNvSpPr>
                <a:spLocks noChangeArrowheads="1"/>
              </p:cNvSpPr>
              <p:nvPr/>
            </p:nvSpPr>
            <p:spPr bwMode="auto">
              <a:xfrm>
                <a:off x="840" y="773"/>
                <a:ext cx="441" cy="26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GB"/>
              </a:p>
            </p:txBody>
          </p:sp>
          <p:sp>
            <p:nvSpPr>
              <p:cNvPr id="45" name="Rectangle 19"/>
              <p:cNvSpPr>
                <a:spLocks noChangeArrowheads="1"/>
              </p:cNvSpPr>
              <p:nvPr/>
            </p:nvSpPr>
            <p:spPr bwMode="auto">
              <a:xfrm>
                <a:off x="1722" y="773"/>
                <a:ext cx="441" cy="26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GB"/>
              </a:p>
            </p:txBody>
          </p:sp>
          <p:sp>
            <p:nvSpPr>
              <p:cNvPr id="46" name="Rectangle 20"/>
              <p:cNvSpPr>
                <a:spLocks noChangeArrowheads="1"/>
              </p:cNvSpPr>
              <p:nvPr/>
            </p:nvSpPr>
            <p:spPr bwMode="auto">
              <a:xfrm>
                <a:off x="1162" y="769"/>
                <a:ext cx="644" cy="26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GB"/>
              </a:p>
            </p:txBody>
          </p:sp>
        </p:grpSp>
        <p:grpSp>
          <p:nvGrpSpPr>
            <p:cNvPr id="7" name="Group 111"/>
            <p:cNvGrpSpPr>
              <a:grpSpLocks/>
            </p:cNvGrpSpPr>
            <p:nvPr/>
          </p:nvGrpSpPr>
          <p:grpSpPr bwMode="auto">
            <a:xfrm>
              <a:off x="1668463" y="2813050"/>
              <a:ext cx="2027237" cy="863600"/>
              <a:chOff x="1051" y="2135"/>
              <a:chExt cx="1277" cy="544"/>
            </a:xfrm>
          </p:grpSpPr>
          <p:sp>
            <p:nvSpPr>
              <p:cNvPr id="33" name="Oval 23"/>
              <p:cNvSpPr>
                <a:spLocks noChangeArrowheads="1"/>
              </p:cNvSpPr>
              <p:nvPr/>
            </p:nvSpPr>
            <p:spPr bwMode="auto">
              <a:xfrm>
                <a:off x="1378" y="2425"/>
                <a:ext cx="612" cy="254"/>
              </a:xfrm>
              <a:prstGeom prst="ellipse">
                <a:avLst/>
              </a:prstGeom>
              <a:gradFill rotWithShape="1">
                <a:gsLst>
                  <a:gs pos="0">
                    <a:srgbClr val="FF00FF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34" name="Group 25"/>
              <p:cNvGrpSpPr>
                <a:grpSpLocks/>
              </p:cNvGrpSpPr>
              <p:nvPr/>
            </p:nvGrpSpPr>
            <p:grpSpPr bwMode="auto">
              <a:xfrm flipH="1">
                <a:off x="1600" y="2135"/>
                <a:ext cx="168" cy="126"/>
                <a:chOff x="2340" y="11340"/>
                <a:chExt cx="360" cy="746"/>
              </a:xfrm>
            </p:grpSpPr>
            <p:sp>
              <p:nvSpPr>
                <p:cNvPr id="41" name="AutoShape 26"/>
                <p:cNvSpPr>
                  <a:spLocks noChangeArrowheads="1"/>
                </p:cNvSpPr>
                <p:nvPr/>
              </p:nvSpPr>
              <p:spPr bwMode="auto">
                <a:xfrm flipV="1">
                  <a:off x="2340" y="11340"/>
                  <a:ext cx="360" cy="720"/>
                </a:xfrm>
                <a:custGeom>
                  <a:avLst/>
                  <a:gdLst>
                    <a:gd name="T0" fmla="*/ 10860 w 21600"/>
                    <a:gd name="T1" fmla="*/ 2187 h 21600"/>
                    <a:gd name="T2" fmla="*/ 2928 w 21600"/>
                    <a:gd name="T3" fmla="*/ 10800 h 21600"/>
                    <a:gd name="T4" fmla="*/ 10860 w 21600"/>
                    <a:gd name="T5" fmla="*/ 21600 h 21600"/>
                    <a:gd name="T6" fmla="*/ 18672 w 21600"/>
                    <a:gd name="T7" fmla="*/ 10800 h 21600"/>
                    <a:gd name="T8" fmla="*/ 17694720 60000 65536"/>
                    <a:gd name="T9" fmla="*/ 11796480 60000 65536"/>
                    <a:gd name="T10" fmla="*/ 5898240 60000 65536"/>
                    <a:gd name="T11" fmla="*/ 0 60000 65536"/>
                    <a:gd name="T12" fmla="*/ 5037 w 21600"/>
                    <a:gd name="T13" fmla="*/ 2277 h 21600"/>
                    <a:gd name="T14" fmla="*/ 16557 w 21600"/>
                    <a:gd name="T15" fmla="*/ 13677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0860" y="2187"/>
                      </a:moveTo>
                      <a:cubicBezTo>
                        <a:pt x="10451" y="1746"/>
                        <a:pt x="9529" y="1018"/>
                        <a:pt x="9015" y="730"/>
                      </a:cubicBezTo>
                      <a:cubicBezTo>
                        <a:pt x="7865" y="152"/>
                        <a:pt x="6685" y="0"/>
                        <a:pt x="5415" y="0"/>
                      </a:cubicBezTo>
                      <a:cubicBezTo>
                        <a:pt x="4175" y="152"/>
                        <a:pt x="2995" y="575"/>
                        <a:pt x="1967" y="1305"/>
                      </a:cubicBezTo>
                      <a:cubicBezTo>
                        <a:pt x="1150" y="2187"/>
                        <a:pt x="575" y="3222"/>
                        <a:pt x="242" y="4220"/>
                      </a:cubicBezTo>
                      <a:cubicBezTo>
                        <a:pt x="0" y="5410"/>
                        <a:pt x="242" y="6560"/>
                        <a:pt x="575" y="7597"/>
                      </a:cubicBezTo>
                      <a:lnTo>
                        <a:pt x="10860" y="21600"/>
                      </a:lnTo>
                      <a:lnTo>
                        <a:pt x="20995" y="7597"/>
                      </a:lnTo>
                      <a:cubicBezTo>
                        <a:pt x="21480" y="6560"/>
                        <a:pt x="21600" y="5410"/>
                        <a:pt x="21480" y="4220"/>
                      </a:cubicBezTo>
                      <a:cubicBezTo>
                        <a:pt x="21115" y="3222"/>
                        <a:pt x="20420" y="2187"/>
                        <a:pt x="19632" y="1305"/>
                      </a:cubicBezTo>
                      <a:cubicBezTo>
                        <a:pt x="18575" y="575"/>
                        <a:pt x="17425" y="152"/>
                        <a:pt x="16275" y="0"/>
                      </a:cubicBezTo>
                      <a:cubicBezTo>
                        <a:pt x="15005" y="0"/>
                        <a:pt x="13735" y="152"/>
                        <a:pt x="12705" y="730"/>
                      </a:cubicBezTo>
                      <a:cubicBezTo>
                        <a:pt x="12176" y="1018"/>
                        <a:pt x="11254" y="1746"/>
                        <a:pt x="10860" y="218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F9900"/>
                    </a:gs>
                    <a:gs pos="100000">
                      <a:srgbClr val="FF9900">
                        <a:gamma/>
                        <a:shade val="79216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2" name="Oval 27"/>
                <p:cNvSpPr>
                  <a:spLocks noChangeArrowheads="1"/>
                </p:cNvSpPr>
                <p:nvPr/>
              </p:nvSpPr>
              <p:spPr bwMode="auto">
                <a:xfrm>
                  <a:off x="2340" y="11726"/>
                  <a:ext cx="360" cy="3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9900"/>
                    </a:gs>
                    <a:gs pos="100000">
                      <a:srgbClr val="FF9900">
                        <a:gamma/>
                        <a:shade val="89020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5" name="AutoShape 28"/>
              <p:cNvSpPr>
                <a:spLocks noChangeArrowheads="1"/>
              </p:cNvSpPr>
              <p:nvPr/>
            </p:nvSpPr>
            <p:spPr bwMode="auto">
              <a:xfrm flipH="1" flipV="1">
                <a:off x="1600" y="2296"/>
                <a:ext cx="167" cy="105"/>
              </a:xfrm>
              <a:prstGeom prst="flowChartConnector">
                <a:avLst/>
              </a:prstGeom>
              <a:gradFill rotWithShape="1">
                <a:gsLst>
                  <a:gs pos="0">
                    <a:srgbClr val="808080"/>
                  </a:gs>
                  <a:gs pos="100000">
                    <a:srgbClr val="FFFF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36" name="Group 30"/>
              <p:cNvGrpSpPr>
                <a:grpSpLocks/>
              </p:cNvGrpSpPr>
              <p:nvPr/>
            </p:nvGrpSpPr>
            <p:grpSpPr bwMode="auto">
              <a:xfrm>
                <a:off x="1051" y="2563"/>
                <a:ext cx="1277" cy="116"/>
                <a:chOff x="793" y="1344"/>
                <a:chExt cx="1324" cy="137"/>
              </a:xfrm>
            </p:grpSpPr>
            <p:sp>
              <p:nvSpPr>
                <p:cNvPr id="37" name="Rectangle 31" descr="Dark upward diagonal"/>
                <p:cNvSpPr>
                  <a:spLocks noChangeArrowheads="1"/>
                </p:cNvSpPr>
                <p:nvPr/>
              </p:nvSpPr>
              <p:spPr bwMode="auto">
                <a:xfrm>
                  <a:off x="793" y="1374"/>
                  <a:ext cx="1324" cy="107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8" name="Rectangle 32"/>
                <p:cNvSpPr>
                  <a:spLocks noChangeArrowheads="1"/>
                </p:cNvSpPr>
                <p:nvPr/>
              </p:nvSpPr>
              <p:spPr bwMode="auto">
                <a:xfrm>
                  <a:off x="794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39" name="Rectangle 33"/>
                <p:cNvSpPr>
                  <a:spLocks noChangeArrowheads="1"/>
                </p:cNvSpPr>
                <p:nvPr/>
              </p:nvSpPr>
              <p:spPr bwMode="auto">
                <a:xfrm>
                  <a:off x="1676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40" name="Rectangle 34"/>
                <p:cNvSpPr>
                  <a:spLocks noChangeArrowheads="1"/>
                </p:cNvSpPr>
                <p:nvPr/>
              </p:nvSpPr>
              <p:spPr bwMode="auto">
                <a:xfrm>
                  <a:off x="1116" y="1344"/>
                  <a:ext cx="644" cy="26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8" name="Group 113"/>
            <p:cNvGrpSpPr>
              <a:grpSpLocks/>
            </p:cNvGrpSpPr>
            <p:nvPr/>
          </p:nvGrpSpPr>
          <p:grpSpPr bwMode="auto">
            <a:xfrm>
              <a:off x="1658938" y="5529263"/>
              <a:ext cx="2028825" cy="492125"/>
              <a:chOff x="1045" y="3846"/>
              <a:chExt cx="1278" cy="310"/>
            </a:xfrm>
          </p:grpSpPr>
          <p:sp>
            <p:nvSpPr>
              <p:cNvPr id="27" name="Oval 36"/>
              <p:cNvSpPr>
                <a:spLocks noChangeArrowheads="1"/>
              </p:cNvSpPr>
              <p:nvPr/>
            </p:nvSpPr>
            <p:spPr bwMode="auto">
              <a:xfrm>
                <a:off x="1353" y="3846"/>
                <a:ext cx="620" cy="310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00CC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8" name="Group 37"/>
              <p:cNvGrpSpPr>
                <a:grpSpLocks/>
              </p:cNvGrpSpPr>
              <p:nvPr/>
            </p:nvGrpSpPr>
            <p:grpSpPr bwMode="auto">
              <a:xfrm>
                <a:off x="1045" y="4037"/>
                <a:ext cx="1278" cy="116"/>
                <a:chOff x="793" y="1344"/>
                <a:chExt cx="1324" cy="137"/>
              </a:xfrm>
            </p:grpSpPr>
            <p:sp>
              <p:nvSpPr>
                <p:cNvPr id="29" name="Rectangle 38" descr="Dark upward diagonal"/>
                <p:cNvSpPr>
                  <a:spLocks noChangeArrowheads="1"/>
                </p:cNvSpPr>
                <p:nvPr/>
              </p:nvSpPr>
              <p:spPr bwMode="auto">
                <a:xfrm>
                  <a:off x="793" y="1374"/>
                  <a:ext cx="1324" cy="107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" name="Rectangle 39"/>
                <p:cNvSpPr>
                  <a:spLocks noChangeArrowheads="1"/>
                </p:cNvSpPr>
                <p:nvPr/>
              </p:nvSpPr>
              <p:spPr bwMode="auto">
                <a:xfrm>
                  <a:off x="794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31" name="Rectangle 40"/>
                <p:cNvSpPr>
                  <a:spLocks noChangeArrowheads="1"/>
                </p:cNvSpPr>
                <p:nvPr/>
              </p:nvSpPr>
              <p:spPr bwMode="auto">
                <a:xfrm>
                  <a:off x="1676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32" name="Rectangle 41"/>
                <p:cNvSpPr>
                  <a:spLocks noChangeArrowheads="1"/>
                </p:cNvSpPr>
                <p:nvPr/>
              </p:nvSpPr>
              <p:spPr bwMode="auto">
                <a:xfrm>
                  <a:off x="1116" y="1344"/>
                  <a:ext cx="644" cy="26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9" name="Group 112"/>
            <p:cNvGrpSpPr>
              <a:grpSpLocks/>
            </p:cNvGrpSpPr>
            <p:nvPr/>
          </p:nvGrpSpPr>
          <p:grpSpPr bwMode="auto">
            <a:xfrm>
              <a:off x="1660525" y="4165600"/>
              <a:ext cx="2027238" cy="847725"/>
              <a:chOff x="1046" y="2987"/>
              <a:chExt cx="1277" cy="534"/>
            </a:xfrm>
          </p:grpSpPr>
          <p:sp>
            <p:nvSpPr>
              <p:cNvPr id="18" name="Oval 45"/>
              <p:cNvSpPr>
                <a:spLocks noChangeArrowheads="1"/>
              </p:cNvSpPr>
              <p:nvPr/>
            </p:nvSpPr>
            <p:spPr bwMode="auto">
              <a:xfrm>
                <a:off x="1378" y="3259"/>
                <a:ext cx="612" cy="254"/>
              </a:xfrm>
              <a:prstGeom prst="ellips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rgbClr val="FFCC99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9" name="Group 47"/>
              <p:cNvGrpSpPr>
                <a:grpSpLocks/>
              </p:cNvGrpSpPr>
              <p:nvPr/>
            </p:nvGrpSpPr>
            <p:grpSpPr bwMode="auto">
              <a:xfrm flipH="1">
                <a:off x="1624" y="2987"/>
                <a:ext cx="119" cy="209"/>
                <a:chOff x="2340" y="11340"/>
                <a:chExt cx="360" cy="746"/>
              </a:xfrm>
            </p:grpSpPr>
            <p:sp>
              <p:nvSpPr>
                <p:cNvPr id="25" name="AutoShape 48"/>
                <p:cNvSpPr>
                  <a:spLocks noChangeArrowheads="1"/>
                </p:cNvSpPr>
                <p:nvPr/>
              </p:nvSpPr>
              <p:spPr bwMode="auto">
                <a:xfrm flipV="1">
                  <a:off x="2340" y="11340"/>
                  <a:ext cx="360" cy="720"/>
                </a:xfrm>
                <a:custGeom>
                  <a:avLst/>
                  <a:gdLst>
                    <a:gd name="T0" fmla="*/ 10860 w 21600"/>
                    <a:gd name="T1" fmla="*/ 2187 h 21600"/>
                    <a:gd name="T2" fmla="*/ 2928 w 21600"/>
                    <a:gd name="T3" fmla="*/ 10800 h 21600"/>
                    <a:gd name="T4" fmla="*/ 10860 w 21600"/>
                    <a:gd name="T5" fmla="*/ 21600 h 21600"/>
                    <a:gd name="T6" fmla="*/ 18672 w 21600"/>
                    <a:gd name="T7" fmla="*/ 10800 h 21600"/>
                    <a:gd name="T8" fmla="*/ 17694720 60000 65536"/>
                    <a:gd name="T9" fmla="*/ 11796480 60000 65536"/>
                    <a:gd name="T10" fmla="*/ 5898240 60000 65536"/>
                    <a:gd name="T11" fmla="*/ 0 60000 65536"/>
                    <a:gd name="T12" fmla="*/ 5037 w 21600"/>
                    <a:gd name="T13" fmla="*/ 2277 h 21600"/>
                    <a:gd name="T14" fmla="*/ 16557 w 21600"/>
                    <a:gd name="T15" fmla="*/ 13677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10860" y="2187"/>
                      </a:moveTo>
                      <a:cubicBezTo>
                        <a:pt x="10451" y="1746"/>
                        <a:pt x="9529" y="1018"/>
                        <a:pt x="9015" y="730"/>
                      </a:cubicBezTo>
                      <a:cubicBezTo>
                        <a:pt x="7865" y="152"/>
                        <a:pt x="6685" y="0"/>
                        <a:pt x="5415" y="0"/>
                      </a:cubicBezTo>
                      <a:cubicBezTo>
                        <a:pt x="4175" y="152"/>
                        <a:pt x="2995" y="575"/>
                        <a:pt x="1967" y="1305"/>
                      </a:cubicBezTo>
                      <a:cubicBezTo>
                        <a:pt x="1150" y="2187"/>
                        <a:pt x="575" y="3222"/>
                        <a:pt x="242" y="4220"/>
                      </a:cubicBezTo>
                      <a:cubicBezTo>
                        <a:pt x="0" y="5410"/>
                        <a:pt x="242" y="6560"/>
                        <a:pt x="575" y="7597"/>
                      </a:cubicBezTo>
                      <a:lnTo>
                        <a:pt x="10860" y="21600"/>
                      </a:lnTo>
                      <a:lnTo>
                        <a:pt x="20995" y="7597"/>
                      </a:lnTo>
                      <a:cubicBezTo>
                        <a:pt x="21480" y="6560"/>
                        <a:pt x="21600" y="5410"/>
                        <a:pt x="21480" y="4220"/>
                      </a:cubicBezTo>
                      <a:cubicBezTo>
                        <a:pt x="21115" y="3222"/>
                        <a:pt x="20420" y="2187"/>
                        <a:pt x="19632" y="1305"/>
                      </a:cubicBezTo>
                      <a:cubicBezTo>
                        <a:pt x="18575" y="575"/>
                        <a:pt x="17425" y="152"/>
                        <a:pt x="16275" y="0"/>
                      </a:cubicBezTo>
                      <a:cubicBezTo>
                        <a:pt x="15005" y="0"/>
                        <a:pt x="13735" y="152"/>
                        <a:pt x="12705" y="730"/>
                      </a:cubicBezTo>
                      <a:cubicBezTo>
                        <a:pt x="12176" y="1018"/>
                        <a:pt x="11254" y="1746"/>
                        <a:pt x="10860" y="2187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00CCFF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t="100000" r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" name="Oval 49"/>
                <p:cNvSpPr>
                  <a:spLocks noChangeArrowheads="1"/>
                </p:cNvSpPr>
                <p:nvPr/>
              </p:nvSpPr>
              <p:spPr bwMode="auto">
                <a:xfrm>
                  <a:off x="2340" y="11726"/>
                  <a:ext cx="360" cy="3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CCFF"/>
                    </a:gs>
                    <a:gs pos="100000">
                      <a:srgbClr val="00CCFF">
                        <a:gamma/>
                        <a:shade val="46275"/>
                        <a:invGamma/>
                      </a:srgbClr>
                    </a:gs>
                  </a:gsLst>
                  <a:path path="rect">
                    <a:fillToRect t="100000" r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0" name="Group 52"/>
              <p:cNvGrpSpPr>
                <a:grpSpLocks/>
              </p:cNvGrpSpPr>
              <p:nvPr/>
            </p:nvGrpSpPr>
            <p:grpSpPr bwMode="auto">
              <a:xfrm>
                <a:off x="1046" y="3405"/>
                <a:ext cx="1277" cy="116"/>
                <a:chOff x="793" y="1344"/>
                <a:chExt cx="1324" cy="137"/>
              </a:xfrm>
            </p:grpSpPr>
            <p:sp>
              <p:nvSpPr>
                <p:cNvPr id="21" name="Rectangle 53" descr="Dark upward diagonal"/>
                <p:cNvSpPr>
                  <a:spLocks noChangeArrowheads="1"/>
                </p:cNvSpPr>
                <p:nvPr/>
              </p:nvSpPr>
              <p:spPr bwMode="auto">
                <a:xfrm>
                  <a:off x="793" y="1374"/>
                  <a:ext cx="1324" cy="107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" name="Rectangle 54"/>
                <p:cNvSpPr>
                  <a:spLocks noChangeArrowheads="1"/>
                </p:cNvSpPr>
                <p:nvPr/>
              </p:nvSpPr>
              <p:spPr bwMode="auto">
                <a:xfrm>
                  <a:off x="794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23" name="Rectangle 55"/>
                <p:cNvSpPr>
                  <a:spLocks noChangeArrowheads="1"/>
                </p:cNvSpPr>
                <p:nvPr/>
              </p:nvSpPr>
              <p:spPr bwMode="auto">
                <a:xfrm>
                  <a:off x="1676" y="1348"/>
                  <a:ext cx="441" cy="26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  <p:sp>
              <p:nvSpPr>
                <p:cNvPr id="24" name="Rectangle 56"/>
                <p:cNvSpPr>
                  <a:spLocks noChangeArrowheads="1"/>
                </p:cNvSpPr>
                <p:nvPr/>
              </p:nvSpPr>
              <p:spPr bwMode="auto">
                <a:xfrm>
                  <a:off x="1116" y="1344"/>
                  <a:ext cx="644" cy="26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" name="AutoShape 57"/>
            <p:cNvSpPr>
              <a:spLocks noChangeArrowheads="1"/>
            </p:cNvSpPr>
            <p:nvPr/>
          </p:nvSpPr>
          <p:spPr bwMode="auto">
            <a:xfrm rot="5400000">
              <a:off x="2491581" y="3834607"/>
              <a:ext cx="363537" cy="133350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GB"/>
            </a:p>
          </p:txBody>
        </p:sp>
        <p:sp>
          <p:nvSpPr>
            <p:cNvPr id="11" name="AutoShape 58"/>
            <p:cNvSpPr>
              <a:spLocks noChangeArrowheads="1"/>
            </p:cNvSpPr>
            <p:nvPr/>
          </p:nvSpPr>
          <p:spPr bwMode="auto">
            <a:xfrm>
              <a:off x="2608263" y="2395538"/>
              <a:ext cx="130175" cy="361950"/>
            </a:xfrm>
            <a:prstGeom prst="downArrow">
              <a:avLst>
                <a:gd name="adj1" fmla="val 50000"/>
                <a:gd name="adj2" fmla="val 6951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anchor="ctr"/>
            <a:lstStyle/>
            <a:p>
              <a:endParaRPr lang="en-GB"/>
            </a:p>
          </p:txBody>
        </p:sp>
        <p:sp>
          <p:nvSpPr>
            <p:cNvPr id="12" name="AutoShape 59"/>
            <p:cNvSpPr>
              <a:spLocks noChangeArrowheads="1"/>
            </p:cNvSpPr>
            <p:nvPr/>
          </p:nvSpPr>
          <p:spPr bwMode="auto">
            <a:xfrm>
              <a:off x="2581275" y="5073650"/>
              <a:ext cx="130175" cy="361950"/>
            </a:xfrm>
            <a:prstGeom prst="downArrow">
              <a:avLst>
                <a:gd name="adj1" fmla="val 50000"/>
                <a:gd name="adj2" fmla="val 6951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anchor="ctr"/>
            <a:lstStyle/>
            <a:p>
              <a:endParaRPr lang="en-GB"/>
            </a:p>
          </p:txBody>
        </p:sp>
        <p:sp>
          <p:nvSpPr>
            <p:cNvPr id="13" name="Text Box 60"/>
            <p:cNvSpPr txBox="1">
              <a:spLocks noChangeArrowheads="1"/>
            </p:cNvSpPr>
            <p:nvPr/>
          </p:nvSpPr>
          <p:spPr bwMode="auto">
            <a:xfrm>
              <a:off x="498475" y="1770063"/>
              <a:ext cx="1770063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zh-CN" sz="1400">
                  <a:latin typeface="Tahoma" pitchFamily="34" charset="0"/>
                  <a:ea typeface="MS Mincho" pitchFamily="49" charset="-128"/>
                  <a:cs typeface="Arial" pitchFamily="34" charset="0"/>
                </a:rPr>
                <a:t>Initiator (APS)</a:t>
              </a:r>
              <a:endParaRPr lang="en-GB" sz="140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/>
          </p:nvSpPr>
          <p:spPr bwMode="auto">
            <a:xfrm>
              <a:off x="465138" y="5118100"/>
              <a:ext cx="2147887" cy="582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zh-CN" sz="1400" b="0" i="1">
                  <a:latin typeface="Tahoma" pitchFamily="34" charset="0"/>
                  <a:ea typeface="MS Mincho" pitchFamily="49" charset="-128"/>
                  <a:cs typeface="Arial" pitchFamily="34" charset="0"/>
                </a:rPr>
                <a:t>in situ</a:t>
              </a:r>
              <a:r>
                <a:rPr lang="en-US" altLang="zh-CN" sz="1400" b="0">
                  <a:latin typeface="Tahoma" pitchFamily="34" charset="0"/>
                  <a:ea typeface="MS Mincho" pitchFamily="49" charset="-128"/>
                  <a:cs typeface="Arial" pitchFamily="34" charset="0"/>
                </a:rPr>
                <a:t> </a:t>
              </a:r>
            </a:p>
            <a:p>
              <a:pPr algn="ctr" eaLnBrk="1" hangingPunct="1"/>
              <a:r>
                <a:rPr lang="en-US" altLang="zh-CN" sz="1400" b="0">
                  <a:latin typeface="Tahoma" pitchFamily="34" charset="0"/>
                  <a:ea typeface="MS Mincho" pitchFamily="49" charset="-128"/>
                  <a:cs typeface="Arial" pitchFamily="34" charset="0"/>
                </a:rPr>
                <a:t>Polymerization</a:t>
              </a:r>
              <a:endParaRPr lang="en-GB" sz="1400" b="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</p:txBody>
        </p:sp>
        <p:sp>
          <p:nvSpPr>
            <p:cNvPr id="15" name="Text Box 62"/>
            <p:cNvSpPr txBox="1">
              <a:spLocks noChangeArrowheads="1"/>
            </p:cNvSpPr>
            <p:nvPr/>
          </p:nvSpPr>
          <p:spPr bwMode="auto">
            <a:xfrm>
              <a:off x="1397000" y="3765550"/>
              <a:ext cx="15033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US" altLang="zh-CN" sz="900" b="0">
                  <a:latin typeface="Tahoma" pitchFamily="34" charset="0"/>
                  <a:ea typeface="MS Mincho" pitchFamily="49" charset="-128"/>
                  <a:cs typeface="Arial" pitchFamily="34" charset="0"/>
                </a:rPr>
                <a:t>Mixing</a:t>
              </a:r>
              <a:endParaRPr lang="en-GB" sz="1800" b="0">
                <a:latin typeface="Tahoma" pitchFamily="34" charset="0"/>
                <a:ea typeface="MS Mincho" pitchFamily="49" charset="-128"/>
                <a:cs typeface="Arial" pitchFamily="34" charset="0"/>
              </a:endParaRPr>
            </a:p>
          </p:txBody>
        </p:sp>
        <p:pic>
          <p:nvPicPr>
            <p:cNvPr id="1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954075"/>
              <a:ext cx="1465956" cy="12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09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97" t="5602" r="14892"/>
            <a:stretch/>
          </p:blipFill>
          <p:spPr bwMode="auto">
            <a:xfrm rot="21407039">
              <a:off x="4191296" y="4185763"/>
              <a:ext cx="1253761" cy="175895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926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66 Grupo"/>
          <p:cNvGrpSpPr/>
          <p:nvPr/>
        </p:nvGrpSpPr>
        <p:grpSpPr>
          <a:xfrm>
            <a:off x="-36512" y="692696"/>
            <a:ext cx="9268908" cy="5038819"/>
            <a:chOff x="-36512" y="692696"/>
            <a:chExt cx="9268908" cy="5038819"/>
          </a:xfrm>
        </p:grpSpPr>
        <p:grpSp>
          <p:nvGrpSpPr>
            <p:cNvPr id="2" name="1 Grupo"/>
            <p:cNvGrpSpPr/>
            <p:nvPr/>
          </p:nvGrpSpPr>
          <p:grpSpPr>
            <a:xfrm>
              <a:off x="-36512" y="2009622"/>
              <a:ext cx="9268908" cy="3721893"/>
              <a:chOff x="-36512" y="2009622"/>
              <a:chExt cx="9268908" cy="3721893"/>
            </a:xfrm>
          </p:grpSpPr>
          <p:cxnSp>
            <p:nvCxnSpPr>
              <p:cNvPr id="32" name="31 Conector recto"/>
              <p:cNvCxnSpPr/>
              <p:nvPr/>
            </p:nvCxnSpPr>
            <p:spPr>
              <a:xfrm flipH="1">
                <a:off x="2771800" y="3212976"/>
                <a:ext cx="1224136" cy="0"/>
              </a:xfrm>
              <a:prstGeom prst="line">
                <a:avLst/>
              </a:prstGeom>
              <a:ln w="57150">
                <a:solidFill>
                  <a:srgbClr val="00B050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24 Conector angular"/>
              <p:cNvCxnSpPr/>
              <p:nvPr/>
            </p:nvCxnSpPr>
            <p:spPr>
              <a:xfrm rot="5400000" flipH="1" flipV="1">
                <a:off x="4855328" y="2076926"/>
                <a:ext cx="936104" cy="801496"/>
              </a:xfrm>
              <a:prstGeom prst="bentConnector3">
                <a:avLst>
                  <a:gd name="adj1" fmla="val 96621"/>
                </a:avLst>
              </a:prstGeom>
              <a:ln w="57150">
                <a:solidFill>
                  <a:srgbClr val="00B05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15 CuadroTexto"/>
              <p:cNvSpPr txBox="1"/>
              <p:nvPr/>
            </p:nvSpPr>
            <p:spPr>
              <a:xfrm>
                <a:off x="7000148" y="3032085"/>
                <a:ext cx="22322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smtClean="0"/>
                  <a:t>Assays against targeted enzymes</a:t>
                </a:r>
                <a:endParaRPr lang="en-GB" dirty="0"/>
              </a:p>
            </p:txBody>
          </p:sp>
          <p:sp>
            <p:nvSpPr>
              <p:cNvPr id="18" name="17 CuadroTexto"/>
              <p:cNvSpPr txBox="1"/>
              <p:nvPr/>
            </p:nvSpPr>
            <p:spPr>
              <a:xfrm>
                <a:off x="3203848" y="5085184"/>
                <a:ext cx="32403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smtClean="0"/>
                  <a:t>Validation assays against targeted enzymes</a:t>
                </a:r>
                <a:endParaRPr lang="en-GB" dirty="0"/>
              </a:p>
            </p:txBody>
          </p:sp>
          <p:sp>
            <p:nvSpPr>
              <p:cNvPr id="19" name="18 CuadroTexto"/>
              <p:cNvSpPr txBox="1"/>
              <p:nvPr/>
            </p:nvSpPr>
            <p:spPr>
              <a:xfrm>
                <a:off x="-36512" y="2710661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 smtClean="0"/>
                  <a:t>In vitro Cell-based phenotypic assays</a:t>
                </a:r>
                <a:endParaRPr lang="en-GB" b="1" dirty="0"/>
              </a:p>
            </p:txBody>
          </p:sp>
          <p:sp>
            <p:nvSpPr>
              <p:cNvPr id="21" name="20 CuadroTexto"/>
              <p:cNvSpPr txBox="1"/>
              <p:nvPr/>
            </p:nvSpPr>
            <p:spPr>
              <a:xfrm>
                <a:off x="3851920" y="2852936"/>
                <a:ext cx="2323072" cy="523220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GB" sz="28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ChemArrays</a:t>
                </a:r>
                <a:endParaRPr lang="en-GB" sz="2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6" name="65 Grupo"/>
            <p:cNvGrpSpPr/>
            <p:nvPr/>
          </p:nvGrpSpPr>
          <p:grpSpPr>
            <a:xfrm>
              <a:off x="1572344" y="692696"/>
              <a:ext cx="6851990" cy="4768304"/>
              <a:chOff x="1572344" y="692696"/>
              <a:chExt cx="6851990" cy="4768304"/>
            </a:xfrm>
          </p:grpSpPr>
          <p:cxnSp>
            <p:nvCxnSpPr>
              <p:cNvPr id="4" name="3 Conector angular"/>
              <p:cNvCxnSpPr/>
              <p:nvPr/>
            </p:nvCxnSpPr>
            <p:spPr>
              <a:xfrm rot="16200000" flipH="1">
                <a:off x="6926861" y="2043725"/>
                <a:ext cx="1016113" cy="960606"/>
              </a:xfrm>
              <a:prstGeom prst="bentConnector3">
                <a:avLst>
                  <a:gd name="adj1" fmla="val 4255"/>
                </a:avLst>
              </a:prstGeom>
              <a:ln w="57150">
                <a:solidFill>
                  <a:srgbClr val="FF0000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0" name="19 Diagrama"/>
              <p:cNvGraphicFramePr/>
              <p:nvPr>
                <p:extLst>
                  <p:ext uri="{D42A27DB-BD31-4B8C-83A1-F6EECF244321}">
                    <p14:modId xmlns:p14="http://schemas.microsoft.com/office/powerpoint/2010/main" val="2648237850"/>
                  </p:ext>
                </p:extLst>
              </p:nvPr>
            </p:nvGraphicFramePr>
            <p:xfrm>
              <a:off x="1572344" y="692696"/>
              <a:ext cx="6096000" cy="47683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cxnSp>
            <p:nvCxnSpPr>
              <p:cNvPr id="13" name="12 Conector recto"/>
              <p:cNvCxnSpPr/>
              <p:nvPr/>
            </p:nvCxnSpPr>
            <p:spPr>
              <a:xfrm flipH="1">
                <a:off x="7012652" y="3369106"/>
                <a:ext cx="28803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25 Grupo"/>
              <p:cNvGrpSpPr>
                <a:grpSpLocks noChangeAspect="1"/>
              </p:cNvGrpSpPr>
              <p:nvPr/>
            </p:nvGrpSpPr>
            <p:grpSpPr>
              <a:xfrm rot="6551618">
                <a:off x="5918816" y="1459311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7" name="26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A3A3E0">
                      <a:alpha val="902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27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A3A3E0">
                      <a:alpha val="902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9" name="28 Grupo"/>
              <p:cNvGrpSpPr>
                <a:grpSpLocks noChangeAspect="1"/>
              </p:cNvGrpSpPr>
              <p:nvPr/>
            </p:nvGrpSpPr>
            <p:grpSpPr>
              <a:xfrm rot="6551618">
                <a:off x="6493029" y="1800592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0" name="29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A3A3E0">
                      <a:alpha val="902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1" name="30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A3A3E0">
                      <a:alpha val="902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3" name="32 Grupo"/>
              <p:cNvGrpSpPr>
                <a:grpSpLocks noChangeAspect="1"/>
              </p:cNvGrpSpPr>
              <p:nvPr/>
            </p:nvGrpSpPr>
            <p:grpSpPr>
              <a:xfrm rot="6551618">
                <a:off x="6645970" y="2253807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4" name="33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FFC00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34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FFC00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6" name="35 Grupo"/>
              <p:cNvGrpSpPr>
                <a:grpSpLocks noChangeAspect="1"/>
              </p:cNvGrpSpPr>
              <p:nvPr/>
            </p:nvGrpSpPr>
            <p:grpSpPr>
              <a:xfrm rot="6551618">
                <a:off x="6818562" y="1772447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7" name="36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92D05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" name="37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92D05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" name="39 Grupo"/>
              <p:cNvGrpSpPr>
                <a:grpSpLocks noChangeAspect="1"/>
              </p:cNvGrpSpPr>
              <p:nvPr/>
            </p:nvGrpSpPr>
            <p:grpSpPr>
              <a:xfrm rot="6551618">
                <a:off x="6935837" y="1474293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1" name="40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92D05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41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92D05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3" name="42 Grupo"/>
              <p:cNvGrpSpPr>
                <a:grpSpLocks noChangeAspect="1"/>
              </p:cNvGrpSpPr>
              <p:nvPr/>
            </p:nvGrpSpPr>
            <p:grpSpPr>
              <a:xfrm rot="6551618">
                <a:off x="5980686" y="2178304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4" name="43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FF00FF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44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FF00FF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6" name="45 Grupo"/>
              <p:cNvGrpSpPr>
                <a:grpSpLocks noChangeAspect="1"/>
              </p:cNvGrpSpPr>
              <p:nvPr/>
            </p:nvGrpSpPr>
            <p:grpSpPr>
              <a:xfrm rot="6551618">
                <a:off x="6215236" y="1719309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7" name="46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3">
                      <a:lumMod val="65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8" name="47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3">
                      <a:lumMod val="65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9" name="48 Grupo"/>
              <p:cNvGrpSpPr>
                <a:grpSpLocks noChangeAspect="1"/>
              </p:cNvGrpSpPr>
              <p:nvPr/>
            </p:nvGrpSpPr>
            <p:grpSpPr>
              <a:xfrm rot="6551618">
                <a:off x="6205229" y="2058641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0" name="49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1">
                      <a:lumMod val="9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1" name="50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1">
                      <a:lumMod val="9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2" name="51 Grupo"/>
              <p:cNvGrpSpPr>
                <a:grpSpLocks noChangeAspect="1"/>
              </p:cNvGrpSpPr>
              <p:nvPr/>
            </p:nvGrpSpPr>
            <p:grpSpPr>
              <a:xfrm rot="6551618">
                <a:off x="7080775" y="2130041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3" name="52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6">
                      <a:lumMod val="20000"/>
                      <a:lumOff val="8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" name="53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6">
                      <a:lumMod val="20000"/>
                      <a:lumOff val="8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5" name="54 Grupo"/>
              <p:cNvGrpSpPr>
                <a:grpSpLocks noChangeAspect="1"/>
              </p:cNvGrpSpPr>
              <p:nvPr/>
            </p:nvGrpSpPr>
            <p:grpSpPr>
              <a:xfrm rot="6551618">
                <a:off x="6488476" y="1399255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6" name="55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chemeClr val="accent1">
                      <a:lumMod val="9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" name="56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chemeClr val="accent1">
                      <a:lumMod val="90000"/>
                      <a:alpha val="10196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8" name="57 Grupo"/>
              <p:cNvGrpSpPr>
                <a:grpSpLocks noChangeAspect="1"/>
              </p:cNvGrpSpPr>
              <p:nvPr/>
            </p:nvGrpSpPr>
            <p:grpSpPr>
              <a:xfrm rot="6551618">
                <a:off x="5980687" y="1851640"/>
                <a:ext cx="220507" cy="171594"/>
                <a:chOff x="5071293" y="2940735"/>
                <a:chExt cx="1062961" cy="825145"/>
              </a:xfrm>
              <a:solidFill>
                <a:srgbClr val="19194D">
                  <a:alpha val="20000"/>
                </a:srgb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9" name="58 Hexágono"/>
                <p:cNvSpPr/>
                <p:nvPr/>
              </p:nvSpPr>
              <p:spPr>
                <a:xfrm>
                  <a:off x="5071293" y="2940735"/>
                  <a:ext cx="648072" cy="606012"/>
                </a:xfrm>
                <a:prstGeom prst="hexagon">
                  <a:avLst/>
                </a:prstGeom>
                <a:grpFill/>
                <a:ln>
                  <a:solidFill>
                    <a:srgbClr val="FFFF0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0" name="59 Pentágono regular"/>
                <p:cNvSpPr/>
                <p:nvPr/>
              </p:nvSpPr>
              <p:spPr>
                <a:xfrm rot="20029115">
                  <a:off x="5576345" y="3221786"/>
                  <a:ext cx="557909" cy="544094"/>
                </a:xfrm>
                <a:prstGeom prst="pentagon">
                  <a:avLst/>
                </a:prstGeom>
                <a:grpFill/>
                <a:ln>
                  <a:solidFill>
                    <a:srgbClr val="FFFF00">
                      <a:alpha val="10196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2" name="21 CuadroTexto"/>
              <p:cNvSpPr txBox="1"/>
              <p:nvPr/>
            </p:nvSpPr>
            <p:spPr>
              <a:xfrm>
                <a:off x="7406107" y="1611139"/>
                <a:ext cx="1018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smtClean="0">
                    <a:solidFill>
                      <a:srgbClr val="C00000"/>
                    </a:solidFill>
                  </a:rPr>
                  <a:t>Current</a:t>
                </a:r>
                <a:endParaRPr lang="en-GB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4" name="63 CuadroTexto"/>
              <p:cNvSpPr txBox="1"/>
              <p:nvPr/>
            </p:nvSpPr>
            <p:spPr>
              <a:xfrm>
                <a:off x="4536402" y="1611139"/>
                <a:ext cx="9028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smtClean="0">
                    <a:solidFill>
                      <a:srgbClr val="00B050"/>
                    </a:solidFill>
                  </a:rPr>
                  <a:t>Future</a:t>
                </a:r>
                <a:endParaRPr lang="en-GB" b="1" dirty="0">
                  <a:solidFill>
                    <a:srgbClr val="00B05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828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224</Words>
  <Application>Microsoft Office PowerPoint</Application>
  <PresentationFormat>Presentación en pantalla (4:3)</PresentationFormat>
  <Paragraphs>113</Paragraphs>
  <Slides>9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Default Design</vt:lpstr>
      <vt:lpstr>CS ChemDraw Drawing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Rosario</dc:creator>
  <cp:lastModifiedBy>Rosario y Juanjo Diaz-Sanchez</cp:lastModifiedBy>
  <cp:revision>47</cp:revision>
  <dcterms:created xsi:type="dcterms:W3CDTF">2004-09-14T00:17:59Z</dcterms:created>
  <dcterms:modified xsi:type="dcterms:W3CDTF">2013-02-21T16:42:05Z</dcterms:modified>
</cp:coreProperties>
</file>